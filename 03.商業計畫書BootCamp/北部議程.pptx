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8E72472-EF20-49D0-8500-6E60E823B0BC}">
  <a:tblStyle styleId="{28E72472-EF20-49D0-8500-6E60E823B0BC}" styleName="Table_0"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c0bfafa859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c0bfafa859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259081" y="168729"/>
            <a:ext cx="1453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TW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Day 1 </a:t>
            </a:r>
            <a:r>
              <a:rPr b="1" lang="zh-TW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議程表</a:t>
            </a:r>
            <a:endParaRPr b="1"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55" name="Google Shape;55;p13"/>
          <p:cNvGraphicFramePr/>
          <p:nvPr/>
        </p:nvGraphicFramePr>
        <p:xfrm>
          <a:off x="480760" y="53802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{28E72472-EF20-49D0-8500-6E60E823B0BC}</a:tableStyleId>
              </a:tblPr>
              <a:tblGrid>
                <a:gridCol w="1056975"/>
                <a:gridCol w="1321200"/>
                <a:gridCol w="3082825"/>
                <a:gridCol w="382900"/>
                <a:gridCol w="2466200"/>
              </a:tblGrid>
              <a:tr h="2347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800" u="none" cap="none" strike="noStrike">
                          <a:solidFill>
                            <a:srgbClr val="FFFFFF"/>
                          </a:solidFill>
                        </a:rPr>
                        <a:t>時間</a:t>
                      </a:r>
                      <a:endParaRPr b="1" sz="800" u="none" cap="none" strike="noStrike">
                        <a:solidFill>
                          <a:srgbClr val="FFFFFF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T="45725" marB="45725" marR="91450" marL="91450"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800" u="none" cap="none" strike="noStrike">
                          <a:solidFill>
                            <a:srgbClr val="FFFFFF"/>
                          </a:solidFill>
                        </a:rPr>
                        <a:t>活動</a:t>
                      </a:r>
                      <a:endParaRPr b="1" sz="800" u="none" cap="none" strike="noStrike">
                        <a:solidFill>
                          <a:srgbClr val="FFFFFF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T="45725" marB="45725" marR="91450" marL="91450"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800" u="none" cap="none" strike="noStrike">
                          <a:solidFill>
                            <a:srgbClr val="FFFFFF"/>
                          </a:solidFill>
                        </a:rPr>
                        <a:t>內容</a:t>
                      </a:r>
                      <a:endParaRPr b="1" sz="800" u="none" cap="none" strike="noStrike">
                        <a:solidFill>
                          <a:srgbClr val="FFFFFF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T="45725" marB="45725" marR="91450" marL="91450" anchor="ctr">
                    <a:solidFill>
                      <a:srgbClr val="00B050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800" u="none" cap="none" strike="noStrike">
                          <a:solidFill>
                            <a:srgbClr val="FFFFFF"/>
                          </a:solidFill>
                        </a:rPr>
                        <a:t>講師</a:t>
                      </a:r>
                      <a:endParaRPr b="1" sz="800" u="none" cap="none" strike="noStrike">
                        <a:solidFill>
                          <a:srgbClr val="FFFFFF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T="45725" marB="45725" marR="91450" marL="91450" anchor="ctr">
                    <a:solidFill>
                      <a:srgbClr val="00B050"/>
                    </a:solidFill>
                  </a:tcPr>
                </a:tc>
                <a:tc hMerge="1"/>
              </a:tr>
              <a:tr h="234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000" u="none" cap="none" strike="noStrike"/>
                        <a:t>9:00-9:30</a:t>
                      </a:r>
                      <a:endParaRPr b="1" sz="100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T="45725" marB="45725" marR="91450" marL="91450" anchor="ctr"/>
                </a:tc>
                <a:tc gridSpan="4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000"/>
                        <a:t>活動報到</a:t>
                      </a:r>
                      <a:endParaRPr b="1" sz="100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T="45725" marB="45725" marR="91450" marL="91450" anchor="ctr"/>
                </a:tc>
                <a:tc hMerge="1"/>
                <a:tc hMerge="1"/>
                <a:tc hMerge="1"/>
              </a:tr>
              <a:tr h="234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000"/>
                        <a:t>9:30-9:35</a:t>
                      </a:r>
                      <a:endParaRPr b="1" sz="100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T="45725" marB="45725" marR="91450" marL="91450" anchor="ctr"/>
                </a:tc>
                <a:tc gridSpan="4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000"/>
                        <a:t>大合照</a:t>
                      </a:r>
                      <a:endParaRPr b="1" sz="100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T="45725" marB="45725" marR="91450" marL="91450" anchor="ctr"/>
                </a:tc>
                <a:tc hMerge="1"/>
                <a:tc hMerge="1"/>
                <a:tc hMerge="1"/>
              </a:tr>
              <a:tr h="383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000"/>
                        <a:t>9:35-9:40</a:t>
                      </a:r>
                      <a:endParaRPr b="1" sz="100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000"/>
                        <a:t>活動開場</a:t>
                      </a:r>
                      <a:endParaRPr b="1" sz="100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000"/>
                        <a:t>貴賓致詞</a:t>
                      </a:r>
                      <a:endParaRPr b="1" sz="100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T="45725" marB="45725" marR="91450" marL="91450" anchor="ctr"/>
                </a:tc>
                <a:tc grid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000"/>
                        <a:t>創投公會 邱德成 理事長</a:t>
                      </a:r>
                      <a:endParaRPr sz="10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000"/>
                        <a:t>國發會 劉鏡清 前主委</a:t>
                      </a:r>
                      <a:endParaRPr b="1" sz="100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T="45725" marB="45725" marR="91450" marL="91450" anchor="ctr"/>
                </a:tc>
                <a:tc hMerge="1"/>
              </a:tr>
              <a:tr h="234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000"/>
                        <a:t>9:40-10:50</a:t>
                      </a:r>
                      <a:endParaRPr b="1" sz="100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000"/>
                        <a:t>開場演講</a:t>
                      </a:r>
                      <a:endParaRPr b="1" sz="100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000"/>
                        <a:t>打造創新創業雨林生態系</a:t>
                      </a:r>
                      <a:endParaRPr b="1" sz="100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T="45725" marB="45725" marR="91450" marL="91450" anchor="ctr"/>
                </a:tc>
                <a:tc grid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000"/>
                        <a:t>國發會 劉鏡清 前主委</a:t>
                      </a:r>
                      <a:endParaRPr b="1" sz="100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T="45725" marB="45725" marR="91450" marL="91450" anchor="ctr"/>
                </a:tc>
                <a:tc hMerge="1"/>
              </a:tr>
              <a:tr h="383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000"/>
                        <a:t>10:50-11:00</a:t>
                      </a:r>
                      <a:endParaRPr b="1" sz="100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000"/>
                        <a:t>課程介紹</a:t>
                      </a:r>
                      <a:endParaRPr b="1" sz="100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000"/>
                        <a:t>課程介紹、加速器業師介紹</a:t>
                      </a:r>
                      <a:endParaRPr b="1" sz="100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T="45725" marB="45725" marR="91450" marL="91450" anchor="ctr"/>
                </a:tc>
                <a:tc grid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000"/>
                        <a:t>新軌道股份有限公司</a:t>
                      </a:r>
                      <a:endParaRPr b="1" sz="10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000"/>
                        <a:t>李雅妮 執行長</a:t>
                      </a:r>
                      <a:endParaRPr b="1" sz="100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T="45725" marB="45725" marR="91450" marL="91450" anchor="ctr"/>
                </a:tc>
                <a:tc hMerge="1"/>
              </a:tr>
              <a:tr h="2443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000"/>
                        <a:t>11:00-12:00</a:t>
                      </a:r>
                      <a:endParaRPr b="1" sz="100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000"/>
                        <a:t>大師演講</a:t>
                      </a:r>
                      <a:endParaRPr b="1" sz="100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000"/>
                        <a:t>創業到創投的人生啟航 </a:t>
                      </a:r>
                      <a:endParaRPr b="1" sz="100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T="45725" marB="45725" marR="91450" marL="91450" anchor="ctr"/>
                </a:tc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b="1" lang="zh-TW" sz="1000"/>
                        <a:t>GMobi 吳柏儀 創辦人暨執行長</a:t>
                      </a:r>
                      <a:endParaRPr b="1" sz="1000"/>
                    </a:p>
                  </a:txBody>
                  <a:tcPr marT="45725" marB="45725" marR="91450" marL="91450" anchor="ctr"/>
                </a:tc>
                <a:tc hMerge="1"/>
              </a:tr>
              <a:tr h="234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000"/>
                        <a:t>12:00-13:00</a:t>
                      </a:r>
                      <a:endParaRPr b="1" sz="100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T="45725" marB="45725" marR="91450" marL="91450" anchor="ctr"/>
                </a:tc>
                <a:tc gridSpan="4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000"/>
                        <a:t>Lunch &amp; Networking</a:t>
                      </a:r>
                      <a:endParaRPr b="1" sz="100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T="45725" marB="45725" marR="91450" marL="91450" anchor="ctr"/>
                </a:tc>
                <a:tc hMerge="1"/>
                <a:tc hMerge="1"/>
                <a:tc hMerge="1"/>
              </a:tr>
              <a:tr h="8427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000"/>
                        <a:t>13:00-17:00</a:t>
                      </a:r>
                      <a:endParaRPr b="1" sz="100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000"/>
                        <a:t>新創痛點：</a:t>
                      </a:r>
                      <a:endParaRPr b="1" sz="10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000"/>
                        <a:t>規模化</a:t>
                      </a:r>
                      <a:endParaRPr b="1" sz="100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T="45725" marB="45725" marR="91450" marL="91450" anchor="ctr"/>
                </a:tc>
                <a:tc grid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000"/>
                        <a:t>前瞻科技：POC設計/PMF、B2B營運</a:t>
                      </a:r>
                      <a:endParaRPr sz="10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000"/>
                        <a:t>生活消費：POC設計/PMF、組織擴張/</a:t>
                      </a:r>
                      <a:endParaRPr b="1" sz="10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000"/>
                        <a:t>成長駭客</a:t>
                      </a:r>
                      <a:endParaRPr b="1" sz="10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000"/>
                        <a:t>綠色永續：POC設計/PMF、</a:t>
                      </a:r>
                      <a:endParaRPr b="1" sz="10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000"/>
                        <a:t>SROI設計/系統</a:t>
                      </a:r>
                      <a:endParaRPr b="1" sz="100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00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</a:tr>
              <a:tr h="234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000"/>
                        <a:t>17:00-18:00</a:t>
                      </a:r>
                      <a:endParaRPr b="1" sz="100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T="45725" marB="45725" marR="91450" marL="91450" anchor="ctr"/>
                </a:tc>
                <a:tc gridSpan="4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000"/>
                        <a:t>Dinner &amp; Networking</a:t>
                      </a:r>
                      <a:endParaRPr b="1" sz="100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T="45725" marB="45725" marR="91450" marL="91450" anchor="ctr"/>
                </a:tc>
                <a:tc hMerge="1"/>
                <a:tc hMerge="1"/>
                <a:tc hMerge="1"/>
              </a:tr>
              <a:tr h="6895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000"/>
                        <a:t>18:00-19:30</a:t>
                      </a:r>
                      <a:endParaRPr b="1" sz="100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000"/>
                        <a:t>BP實戰</a:t>
                      </a:r>
                      <a:endParaRPr b="1" sz="100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000"/>
                        <a:t>商業計劃書(BP)重點說明及實作</a:t>
                      </a:r>
                      <a:endParaRPr b="1" sz="100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T="45725" marB="45725" marR="91450" marL="91450" anchor="ctr"/>
                </a:tc>
                <a:tc grid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000"/>
                        <a:t>博大智權代表</a:t>
                      </a:r>
                      <a:endParaRPr b="1" sz="10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000"/>
                        <a:t>南港生技育成中心代表</a:t>
                      </a:r>
                      <a:endParaRPr b="1" sz="10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000"/>
                        <a:t>聯合創新加速器代表</a:t>
                      </a:r>
                      <a:endParaRPr b="1" sz="10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000"/>
                        <a:t>交大創新創業中心代表等</a:t>
                      </a:r>
                      <a:endParaRPr b="1" sz="100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T="45725" marB="45725" marR="91450" marL="91450" anchor="ctr"/>
                </a:tc>
                <a:tc hMerge="1"/>
              </a:tr>
              <a:tr h="229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000"/>
                        <a:t>19:30-19:40</a:t>
                      </a:r>
                      <a:endParaRPr b="1" sz="100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00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000"/>
                        <a:t>說明 Day2 課程內容及注意事項</a:t>
                      </a:r>
                      <a:endParaRPr b="1" sz="100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T="45725" marB="45725" marR="91450" marL="91450" anchor="ctr"/>
                </a:tc>
                <a:tc grid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00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T="45725" marB="45725" marR="91450" marL="91450" anchor="ctr"/>
                </a:tc>
                <a:tc hMerge="1"/>
              </a:tr>
            </a:tbl>
          </a:graphicData>
        </a:graphic>
      </p:graphicFrame>
      <p:cxnSp>
        <p:nvCxnSpPr>
          <p:cNvPr id="56" name="Google Shape;56;p13"/>
          <p:cNvCxnSpPr/>
          <p:nvPr/>
        </p:nvCxnSpPr>
        <p:spPr>
          <a:xfrm>
            <a:off x="5946375" y="2800650"/>
            <a:ext cx="0" cy="8310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7" name="Google Shape;57;p13"/>
          <p:cNvSpPr txBox="1"/>
          <p:nvPr/>
        </p:nvSpPr>
        <p:spPr>
          <a:xfrm>
            <a:off x="6010525" y="2869800"/>
            <a:ext cx="29013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b="1" lang="zh-TW" sz="11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StarFab 劉晏蓉 執行長</a:t>
            </a:r>
            <a:endParaRPr sz="11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b="1" lang="zh-TW" sz="11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Bonhope Capital 鄭文婷 合夥人</a:t>
            </a:r>
            <a:endParaRPr sz="11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b="1" lang="zh-TW" sz="11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好食好事加速器 林薇真 執行長</a:t>
            </a:r>
            <a:endParaRPr sz="29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/>
        </p:nvSpPr>
        <p:spPr>
          <a:xfrm>
            <a:off x="299721" y="203200"/>
            <a:ext cx="1453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Day 2 議程表</a:t>
            </a:r>
            <a:endParaRPr b="1"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63" name="Google Shape;63;p14"/>
          <p:cNvGraphicFramePr/>
          <p:nvPr/>
        </p:nvGraphicFramePr>
        <p:xfrm>
          <a:off x="644845" y="73152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{28E72472-EF20-49D0-8500-6E60E823B0BC}</a:tableStyleId>
              </a:tblPr>
              <a:tblGrid>
                <a:gridCol w="1326200"/>
                <a:gridCol w="1312475"/>
                <a:gridCol w="2694525"/>
                <a:gridCol w="2752600"/>
              </a:tblGrid>
              <a:tr h="2655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FFFFFF"/>
                          </a:solidFill>
                        </a:rPr>
                        <a:t>時間</a:t>
                      </a:r>
                      <a:endParaRPr b="1" sz="1100">
                        <a:solidFill>
                          <a:srgbClr val="FFFFFF"/>
                        </a:solidFill>
                      </a:endParaRPr>
                    </a:p>
                  </a:txBody>
                  <a:tcPr marT="45725" marB="45725" marR="91450" marL="91450"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FFFFFF"/>
                          </a:solidFill>
                        </a:rPr>
                        <a:t>活動</a:t>
                      </a:r>
                      <a:endParaRPr b="1" sz="1100">
                        <a:solidFill>
                          <a:srgbClr val="FFFFFF"/>
                        </a:solidFill>
                      </a:endParaRPr>
                    </a:p>
                  </a:txBody>
                  <a:tcPr marT="45725" marB="45725" marR="91450" marL="91450"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FFFFFF"/>
                          </a:solidFill>
                        </a:rPr>
                        <a:t>內容</a:t>
                      </a:r>
                      <a:endParaRPr b="1" sz="1100">
                        <a:solidFill>
                          <a:srgbClr val="FFFFFF"/>
                        </a:solidFill>
                      </a:endParaRPr>
                    </a:p>
                  </a:txBody>
                  <a:tcPr marT="45725" marB="45725" marR="91450" marL="91450"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FFFFFF"/>
                          </a:solidFill>
                        </a:rPr>
                        <a:t>講師</a:t>
                      </a:r>
                      <a:endParaRPr b="1" sz="1100">
                        <a:solidFill>
                          <a:srgbClr val="FFFFFF"/>
                        </a:solidFill>
                      </a:endParaRPr>
                    </a:p>
                  </a:txBody>
                  <a:tcPr marT="45725" marB="45725" marR="91450" marL="91450" anchor="ctr">
                    <a:solidFill>
                      <a:srgbClr val="00B050"/>
                    </a:solidFill>
                  </a:tcPr>
                </a:tc>
              </a:tr>
              <a:tr h="2655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/>
                        <a:t>9:00-9:30</a:t>
                      </a:r>
                      <a:endParaRPr b="1" sz="1100"/>
                    </a:p>
                  </a:txBody>
                  <a:tcPr marT="45725" marB="45725" marR="91450" marL="91450" anchor="ctr"/>
                </a:tc>
                <a:tc gridSpan="3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/>
                        <a:t>活動報到</a:t>
                      </a:r>
                      <a:endParaRPr b="1" sz="1100"/>
                    </a:p>
                  </a:txBody>
                  <a:tcPr marT="45725" marB="45725" marR="91450" marL="91450" anchor="ctr"/>
                </a:tc>
                <a:tc hMerge="1"/>
                <a:tc hMerge="1"/>
              </a:tr>
              <a:tr h="2655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/>
                        <a:t>9:30-9:40</a:t>
                      </a:r>
                      <a:endParaRPr b="1" sz="1100"/>
                    </a:p>
                  </a:txBody>
                  <a:tcPr marT="45725" marB="45725" marR="91450" marL="91450" anchor="ctr"/>
                </a:tc>
                <a:tc gridSpan="3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/>
                        <a:t>Day2 課程布達</a:t>
                      </a:r>
                      <a:endParaRPr b="1" sz="1100"/>
                    </a:p>
                  </a:txBody>
                  <a:tcPr marT="45725" marB="45725" marR="91450" marL="91450" anchor="ctr"/>
                </a:tc>
                <a:tc hMerge="1"/>
                <a:tc hMerge="1"/>
              </a:tr>
              <a:tr h="4229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/>
                        <a:t>9:40-11:30</a:t>
                      </a:r>
                      <a:endParaRPr b="1" sz="1100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/>
                        <a:t>新創國際化成長</a:t>
                      </a:r>
                      <a:endParaRPr b="1" sz="11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/>
                        <a:t>痛點</a:t>
                      </a:r>
                      <a:endParaRPr b="1" sz="1100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/>
                        <a:t>國際市場與資源洞察、進入方式、合作機制</a:t>
                      </a:r>
                      <a:endParaRPr b="1" sz="1100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/>
                        <a:t>Startup Island Taiwan 烏仕明 總監</a:t>
                      </a:r>
                      <a:endParaRPr b="1" sz="1100"/>
                    </a:p>
                  </a:txBody>
                  <a:tcPr marT="45725" marB="45725" marR="91450" marL="91450" anchor="ctr"/>
                </a:tc>
              </a:tr>
              <a:tr h="2655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/>
                        <a:t>11:30-12:00</a:t>
                      </a:r>
                      <a:endParaRPr b="1" sz="1100"/>
                    </a:p>
                  </a:txBody>
                  <a:tcPr marT="45725" marB="45725" marR="91450" marL="91450" anchor="ctr"/>
                </a:tc>
                <a:tc gridSpan="3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/>
                        <a:t>Lunch &amp; Networking</a:t>
                      </a:r>
                      <a:endParaRPr b="1" sz="1100"/>
                    </a:p>
                  </a:txBody>
                  <a:tcPr marT="45725" marB="45725" marR="91450" marL="91450" anchor="ctr"/>
                </a:tc>
                <a:tc hMerge="1"/>
                <a:tc hMerge="1"/>
              </a:tr>
              <a:tr h="2655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/>
                        <a:t>12:00-13:00</a:t>
                      </a:r>
                      <a:endParaRPr b="1" sz="1100"/>
                    </a:p>
                  </a:txBody>
                  <a:tcPr marT="45725" marB="45725" marR="91450" marL="91450" anchor="ctr"/>
                </a:tc>
                <a:tc row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投資盡職調查</a:t>
                      </a:r>
                      <a:endParaRPr b="1" sz="110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/>
                        <a:t>投資盡職調查</a:t>
                      </a:r>
                      <a:endParaRPr b="1" sz="1100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/>
                        <a:t>比翼加速器 陳彥諭 執行合夥人</a:t>
                      </a:r>
                      <a:endParaRPr b="1" sz="1100"/>
                    </a:p>
                  </a:txBody>
                  <a:tcPr marT="45725" marB="45725" marR="91450" marL="91450" anchor="ctr"/>
                </a:tc>
              </a:tr>
              <a:tr h="2655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/>
                        <a:t>13:00-14:00</a:t>
                      </a:r>
                      <a:endParaRPr b="1" sz="1100"/>
                    </a:p>
                  </a:txBody>
                  <a:tcPr marT="45725" marB="45725" marR="91450" marL="91450" anchor="ctr"/>
                </a:tc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/>
                        <a:t>創投的投資視點</a:t>
                      </a:r>
                      <a:endParaRPr b="1" sz="1100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/>
                        <a:t>Appworks 程九如 合夥人</a:t>
                      </a:r>
                      <a:endParaRPr b="1" sz="1100"/>
                    </a:p>
                  </a:txBody>
                  <a:tcPr marT="45725" marB="45725" marR="91450" marL="91450" anchor="ctr"/>
                </a:tc>
              </a:tr>
              <a:tr h="755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/>
                        <a:t>14:00-1</a:t>
                      </a:r>
                      <a:r>
                        <a:rPr b="1" lang="zh-TW" sz="1100"/>
                        <a:t>4:5</a:t>
                      </a:r>
                      <a:r>
                        <a:rPr b="1" lang="zh-TW" sz="1100"/>
                        <a:t>0</a:t>
                      </a:r>
                      <a:endParaRPr b="1" sz="1100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/>
                        <a:t>新創國內外募資挑戰(募資&amp;投資人溝通)-BE</a:t>
                      </a:r>
                      <a:endParaRPr b="1" sz="1100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/>
                        <a:t>Panel：與投資人對談</a:t>
                      </a:r>
                      <a:endParaRPr b="1" sz="1100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/>
                        <a:t>比翼加速器 陳彥諭 執行合夥人</a:t>
                      </a:r>
                      <a:endParaRPr b="1" sz="11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/>
                        <a:t>Appworks 程九如 合夥人</a:t>
                      </a:r>
                      <a:endParaRPr b="1" sz="11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/>
                        <a:t>iDrip 葉建漢 創辦人</a:t>
                      </a:r>
                      <a:endParaRPr b="1" sz="11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/>
                        <a:t>心元資本 </a:t>
                      </a:r>
                      <a:r>
                        <a:rPr b="1" lang="zh-TW" sz="1000">
                          <a:latin typeface="Arial"/>
                          <a:ea typeface="Arial"/>
                          <a:cs typeface="Arial"/>
                          <a:sym typeface="Arial"/>
                        </a:rPr>
                        <a:t>成之璇</a:t>
                      </a:r>
                      <a:r>
                        <a:rPr b="1" lang="zh-TW" sz="1100"/>
                        <a:t> 執行合夥人</a:t>
                      </a:r>
                      <a:endParaRPr b="1" sz="1100"/>
                    </a:p>
                  </a:txBody>
                  <a:tcPr marT="45725" marB="45725" marR="91450" marL="91450" anchor="ctr"/>
                </a:tc>
              </a:tr>
              <a:tr h="2655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/>
                        <a:t>1</a:t>
                      </a:r>
                      <a:r>
                        <a:rPr b="1" lang="zh-TW" sz="1100"/>
                        <a:t>4</a:t>
                      </a:r>
                      <a:r>
                        <a:rPr b="1" lang="zh-TW" sz="1100"/>
                        <a:t>:</a:t>
                      </a:r>
                      <a:r>
                        <a:rPr b="1" lang="zh-TW" sz="1100"/>
                        <a:t>5</a:t>
                      </a:r>
                      <a:r>
                        <a:rPr b="1" lang="zh-TW" sz="1100"/>
                        <a:t>0-15:30</a:t>
                      </a:r>
                      <a:endParaRPr b="1" sz="1100"/>
                    </a:p>
                  </a:txBody>
                  <a:tcPr marT="45725" marB="45725" marR="91450" marL="91450" anchor="ctr"/>
                </a:tc>
                <a:tc gridSpan="3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/>
                        <a:t>Break</a:t>
                      </a:r>
                      <a:endParaRPr b="1" sz="1100"/>
                    </a:p>
                  </a:txBody>
                  <a:tcPr marT="45725" marB="45725" marR="91450" marL="91450" anchor="ctr"/>
                </a:tc>
                <a:tc hMerge="1"/>
                <a:tc hMerge="1"/>
              </a:tr>
              <a:tr h="755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/>
                        <a:t>15:30-16:30</a:t>
                      </a:r>
                      <a:endParaRPr b="1" sz="1100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/>
                        <a:t>BP Pitch及回饋</a:t>
                      </a:r>
                      <a:endParaRPr b="1" sz="1100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/>
                        <a:t>由投資人及產業業師給予商業計劃書內容回饋</a:t>
                      </a:r>
                      <a:endParaRPr b="1" sz="1100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/>
                        <a:t>比翼加速器 陳彥諭執行 合夥人</a:t>
                      </a:r>
                      <a:endParaRPr b="1" sz="11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/>
                        <a:t>Appworks 程九如 合夥人</a:t>
                      </a:r>
                      <a:endParaRPr b="1" sz="11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/>
                        <a:t>iDrip 葉建漢 創辦人</a:t>
                      </a:r>
                      <a:endParaRPr b="1" sz="11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/>
                        <a:t>心元資本 </a:t>
                      </a:r>
                      <a:r>
                        <a:rPr b="1" lang="zh-TW" sz="1000">
                          <a:latin typeface="Arial"/>
                          <a:ea typeface="Arial"/>
                          <a:cs typeface="Arial"/>
                          <a:sym typeface="Arial"/>
                        </a:rPr>
                        <a:t>成之璇</a:t>
                      </a:r>
                      <a:r>
                        <a:rPr b="1" lang="zh-TW" sz="1100"/>
                        <a:t> 執行合夥人</a:t>
                      </a:r>
                      <a:endParaRPr b="1" sz="1100"/>
                    </a:p>
                  </a:txBody>
                  <a:tcPr marT="45725" marB="45725" marR="91450" marL="91450" anchor="ctr"/>
                </a:tc>
              </a:tr>
              <a:tr h="2655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/>
                        <a:t>16:30-17:00</a:t>
                      </a:r>
                      <a:endParaRPr b="1" sz="1100"/>
                    </a:p>
                  </a:txBody>
                  <a:tcPr marT="45725" marB="45725" marR="91450" marL="91450" anchor="ctr"/>
                </a:tc>
                <a:tc gridSpan="3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/>
                        <a:t>團隊、業師、講師交流</a:t>
                      </a:r>
                      <a:endParaRPr b="1" sz="1100"/>
                    </a:p>
                  </a:txBody>
                  <a:tcPr marT="45725" marB="45725" marR="91450" marL="91450" anchor="ctr"/>
                </a:tc>
                <a:tc hMerge="1"/>
                <a:tc hMerge="1"/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