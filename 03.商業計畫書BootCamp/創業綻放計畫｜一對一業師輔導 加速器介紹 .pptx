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1" r:id="rId4"/>
    <p:sldId id="262" r:id="rId5"/>
    <p:sldId id="260" r:id="rId6"/>
    <p:sldId id="263" r:id="rId7"/>
    <p:sldId id="267" r:id="rId8"/>
    <p:sldId id="264" r:id="rId9"/>
    <p:sldId id="268" r:id="rId10"/>
    <p:sldId id="265" r:id="rId11"/>
    <p:sldId id="266" r:id="rId12"/>
    <p:sldId id="271" r:id="rId13"/>
    <p:sldId id="289" r:id="rId14"/>
    <p:sldId id="290" r:id="rId15"/>
    <p:sldId id="294" r:id="rId16"/>
    <p:sldId id="295" r:id="rId17"/>
    <p:sldId id="296" r:id="rId18"/>
    <p:sldId id="297" r:id="rId19"/>
    <p:sldId id="298" r:id="rId20"/>
    <p:sldId id="299" r:id="rId21"/>
    <p:sldId id="279" r:id="rId22"/>
    <p:sldId id="300" r:id="rId2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7"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2" autoAdjust="0"/>
    <p:restoredTop sz="94686"/>
  </p:normalViewPr>
  <p:slideViewPr>
    <p:cSldViewPr snapToGrid="0" showGuides="1">
      <p:cViewPr varScale="1">
        <p:scale>
          <a:sx n="72" d="100"/>
          <a:sy n="72" d="100"/>
        </p:scale>
        <p:origin x="1018" y="67"/>
      </p:cViewPr>
      <p:guideLst>
        <p:guide orient="horz" pos="2137"/>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A2AE18-7229-2864-7469-F91F7305903D}"/>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243C85E7-0ABC-AA36-DB90-31995CBDAB2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70C0C34C-2B32-7C90-D418-AA4F32A0BF06}"/>
              </a:ext>
            </a:extLst>
          </p:cNvPr>
          <p:cNvSpPr>
            <a:spLocks noGrp="1"/>
          </p:cNvSpPr>
          <p:nvPr>
            <p:ph type="dt" sz="half" idx="10"/>
          </p:nvPr>
        </p:nvSpPr>
        <p:spPr/>
        <p:txBody>
          <a:bodyPr/>
          <a:lstStyle/>
          <a:p>
            <a:fld id="{DE75F413-7690-475B-9248-70C059ECF287}" type="datetimeFigureOut">
              <a:rPr lang="zh-TW" altLang="en-US" smtClean="0"/>
              <a:t>2026/2/25</a:t>
            </a:fld>
            <a:endParaRPr lang="zh-TW" altLang="en-US"/>
          </a:p>
        </p:txBody>
      </p:sp>
      <p:sp>
        <p:nvSpPr>
          <p:cNvPr id="5" name="頁尾版面配置區 4">
            <a:extLst>
              <a:ext uri="{FF2B5EF4-FFF2-40B4-BE49-F238E27FC236}">
                <a16:creationId xmlns:a16="http://schemas.microsoft.com/office/drawing/2014/main" id="{641580EE-9512-2A26-2A64-FB2EB06DD9CF}"/>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8EE06F9-0335-9DD8-16BB-330D08CBB9C8}"/>
              </a:ext>
            </a:extLst>
          </p:cNvPr>
          <p:cNvSpPr>
            <a:spLocks noGrp="1"/>
          </p:cNvSpPr>
          <p:nvPr>
            <p:ph type="sldNum" sz="quarter" idx="12"/>
          </p:nvPr>
        </p:nvSpPr>
        <p:spPr/>
        <p:txBody>
          <a:bodyPr/>
          <a:lstStyle/>
          <a:p>
            <a:fld id="{875E4476-CC4B-4492-94F8-FC38F01363F2}" type="slidenum">
              <a:rPr lang="zh-TW" altLang="en-US" smtClean="0"/>
              <a:t>‹#›</a:t>
            </a:fld>
            <a:endParaRPr lang="zh-TW" altLang="en-US"/>
          </a:p>
        </p:txBody>
      </p:sp>
    </p:spTree>
    <p:extLst>
      <p:ext uri="{BB962C8B-B14F-4D97-AF65-F5344CB8AC3E}">
        <p14:creationId xmlns:p14="http://schemas.microsoft.com/office/powerpoint/2010/main" val="4269398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2C598B7-3909-F65E-693F-3A760DB7BDDD}"/>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56E5E4B-9122-4AD7-8AD0-E8C864065E90}"/>
              </a:ext>
            </a:extLst>
          </p:cNvPr>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65B248A-7821-D6D7-CC12-0949DD9BEB97}"/>
              </a:ext>
            </a:extLst>
          </p:cNvPr>
          <p:cNvSpPr>
            <a:spLocks noGrp="1"/>
          </p:cNvSpPr>
          <p:nvPr>
            <p:ph type="dt" sz="half" idx="10"/>
          </p:nvPr>
        </p:nvSpPr>
        <p:spPr/>
        <p:txBody>
          <a:bodyPr/>
          <a:lstStyle/>
          <a:p>
            <a:fld id="{DE75F413-7690-475B-9248-70C059ECF287}" type="datetimeFigureOut">
              <a:rPr lang="zh-TW" altLang="en-US" smtClean="0"/>
              <a:t>2026/2/25</a:t>
            </a:fld>
            <a:endParaRPr lang="zh-TW" altLang="en-US"/>
          </a:p>
        </p:txBody>
      </p:sp>
      <p:sp>
        <p:nvSpPr>
          <p:cNvPr id="5" name="頁尾版面配置區 4">
            <a:extLst>
              <a:ext uri="{FF2B5EF4-FFF2-40B4-BE49-F238E27FC236}">
                <a16:creationId xmlns:a16="http://schemas.microsoft.com/office/drawing/2014/main" id="{C7170A2C-8140-0C01-642B-FEC7BC73BEC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10C09E9-2E98-022A-9F81-E5D4753E3B68}"/>
              </a:ext>
            </a:extLst>
          </p:cNvPr>
          <p:cNvSpPr>
            <a:spLocks noGrp="1"/>
          </p:cNvSpPr>
          <p:nvPr>
            <p:ph type="sldNum" sz="quarter" idx="12"/>
          </p:nvPr>
        </p:nvSpPr>
        <p:spPr/>
        <p:txBody>
          <a:bodyPr/>
          <a:lstStyle/>
          <a:p>
            <a:fld id="{875E4476-CC4B-4492-94F8-FC38F01363F2}" type="slidenum">
              <a:rPr lang="zh-TW" altLang="en-US" smtClean="0"/>
              <a:t>‹#›</a:t>
            </a:fld>
            <a:endParaRPr lang="zh-TW" altLang="en-US"/>
          </a:p>
        </p:txBody>
      </p:sp>
    </p:spTree>
    <p:extLst>
      <p:ext uri="{BB962C8B-B14F-4D97-AF65-F5344CB8AC3E}">
        <p14:creationId xmlns:p14="http://schemas.microsoft.com/office/powerpoint/2010/main" val="19338975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E645FE3-6FC6-D39A-EFBA-59437F2AB4E9}"/>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5C5251CA-5FDB-2107-BE6C-401FD207A8A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a:extLst>
              <a:ext uri="{FF2B5EF4-FFF2-40B4-BE49-F238E27FC236}">
                <a16:creationId xmlns:a16="http://schemas.microsoft.com/office/drawing/2014/main" id="{96CE655C-A58B-CA9A-BA4A-817993194DEE}"/>
              </a:ext>
            </a:extLst>
          </p:cNvPr>
          <p:cNvSpPr>
            <a:spLocks noGrp="1"/>
          </p:cNvSpPr>
          <p:nvPr>
            <p:ph type="dt" sz="half" idx="10"/>
          </p:nvPr>
        </p:nvSpPr>
        <p:spPr/>
        <p:txBody>
          <a:bodyPr/>
          <a:lstStyle/>
          <a:p>
            <a:fld id="{DE75F413-7690-475B-9248-70C059ECF287}" type="datetimeFigureOut">
              <a:rPr lang="zh-TW" altLang="en-US" smtClean="0"/>
              <a:t>2026/2/25</a:t>
            </a:fld>
            <a:endParaRPr lang="zh-TW" altLang="en-US"/>
          </a:p>
        </p:txBody>
      </p:sp>
      <p:sp>
        <p:nvSpPr>
          <p:cNvPr id="5" name="頁尾版面配置區 4">
            <a:extLst>
              <a:ext uri="{FF2B5EF4-FFF2-40B4-BE49-F238E27FC236}">
                <a16:creationId xmlns:a16="http://schemas.microsoft.com/office/drawing/2014/main" id="{A8D58362-D67B-A557-B9C9-3361B4C92B0C}"/>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744D2E99-A865-2367-9849-E387DA03103F}"/>
              </a:ext>
            </a:extLst>
          </p:cNvPr>
          <p:cNvSpPr>
            <a:spLocks noGrp="1"/>
          </p:cNvSpPr>
          <p:nvPr>
            <p:ph type="sldNum" sz="quarter" idx="12"/>
          </p:nvPr>
        </p:nvSpPr>
        <p:spPr/>
        <p:txBody>
          <a:bodyPr/>
          <a:lstStyle/>
          <a:p>
            <a:fld id="{875E4476-CC4B-4492-94F8-FC38F01363F2}" type="slidenum">
              <a:rPr lang="zh-TW" altLang="en-US" smtClean="0"/>
              <a:t>‹#›</a:t>
            </a:fld>
            <a:endParaRPr lang="zh-TW" altLang="en-US"/>
          </a:p>
        </p:txBody>
      </p:sp>
    </p:spTree>
    <p:extLst>
      <p:ext uri="{BB962C8B-B14F-4D97-AF65-F5344CB8AC3E}">
        <p14:creationId xmlns:p14="http://schemas.microsoft.com/office/powerpoint/2010/main" val="864748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349328D7-96D1-B667-71C6-EC37CD89ECE5}"/>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8265544B-D887-B135-183E-F8432F2C3D20}"/>
              </a:ext>
            </a:extLst>
          </p:cNvPr>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F65723AC-C826-5FEE-E82C-B2E4DB2F3643}"/>
              </a:ext>
            </a:extLst>
          </p:cNvPr>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EB683368-4835-FE6D-8E24-FC290B19AC83}"/>
              </a:ext>
            </a:extLst>
          </p:cNvPr>
          <p:cNvSpPr>
            <a:spLocks noGrp="1"/>
          </p:cNvSpPr>
          <p:nvPr>
            <p:ph type="dt" sz="half" idx="10"/>
          </p:nvPr>
        </p:nvSpPr>
        <p:spPr/>
        <p:txBody>
          <a:bodyPr/>
          <a:lstStyle/>
          <a:p>
            <a:fld id="{DE75F413-7690-475B-9248-70C059ECF287}" type="datetimeFigureOut">
              <a:rPr lang="zh-TW" altLang="en-US" smtClean="0"/>
              <a:t>2026/2/25</a:t>
            </a:fld>
            <a:endParaRPr lang="zh-TW" altLang="en-US"/>
          </a:p>
        </p:txBody>
      </p:sp>
      <p:sp>
        <p:nvSpPr>
          <p:cNvPr id="6" name="頁尾版面配置區 5">
            <a:extLst>
              <a:ext uri="{FF2B5EF4-FFF2-40B4-BE49-F238E27FC236}">
                <a16:creationId xmlns:a16="http://schemas.microsoft.com/office/drawing/2014/main" id="{B91C5D21-A6B8-D841-89BF-DF4BC26868B2}"/>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E55BA85A-68AD-B413-00FF-EEB31B234C95}"/>
              </a:ext>
            </a:extLst>
          </p:cNvPr>
          <p:cNvSpPr>
            <a:spLocks noGrp="1"/>
          </p:cNvSpPr>
          <p:nvPr>
            <p:ph type="sldNum" sz="quarter" idx="12"/>
          </p:nvPr>
        </p:nvSpPr>
        <p:spPr/>
        <p:txBody>
          <a:bodyPr/>
          <a:lstStyle/>
          <a:p>
            <a:fld id="{875E4476-CC4B-4492-94F8-FC38F01363F2}" type="slidenum">
              <a:rPr lang="zh-TW" altLang="en-US" smtClean="0"/>
              <a:t>‹#›</a:t>
            </a:fld>
            <a:endParaRPr lang="zh-TW" altLang="en-US"/>
          </a:p>
        </p:txBody>
      </p:sp>
    </p:spTree>
    <p:extLst>
      <p:ext uri="{BB962C8B-B14F-4D97-AF65-F5344CB8AC3E}">
        <p14:creationId xmlns:p14="http://schemas.microsoft.com/office/powerpoint/2010/main" val="3604746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1DC00A3-584B-9D74-60E3-F723A4D92EDE}"/>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4ADD9721-5296-9E93-9D39-9F97B0D2AC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a:extLst>
              <a:ext uri="{FF2B5EF4-FFF2-40B4-BE49-F238E27FC236}">
                <a16:creationId xmlns:a16="http://schemas.microsoft.com/office/drawing/2014/main" id="{927AB36E-535D-E031-69B4-EE24B9F225F8}"/>
              </a:ext>
            </a:extLst>
          </p:cNvPr>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F76FC4F0-8AC2-385A-08F3-EE63D34A84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a:extLst>
              <a:ext uri="{FF2B5EF4-FFF2-40B4-BE49-F238E27FC236}">
                <a16:creationId xmlns:a16="http://schemas.microsoft.com/office/drawing/2014/main" id="{460CF2D0-D65F-BC64-6BE3-DF26ACBC5F7C}"/>
              </a:ext>
            </a:extLst>
          </p:cNvPr>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0AD2CCF8-717D-B5D1-C26B-D8B253D5D58C}"/>
              </a:ext>
            </a:extLst>
          </p:cNvPr>
          <p:cNvSpPr>
            <a:spLocks noGrp="1"/>
          </p:cNvSpPr>
          <p:nvPr>
            <p:ph type="dt" sz="half" idx="10"/>
          </p:nvPr>
        </p:nvSpPr>
        <p:spPr/>
        <p:txBody>
          <a:bodyPr/>
          <a:lstStyle/>
          <a:p>
            <a:fld id="{DE75F413-7690-475B-9248-70C059ECF287}" type="datetimeFigureOut">
              <a:rPr lang="zh-TW" altLang="en-US" smtClean="0"/>
              <a:t>2026/2/25</a:t>
            </a:fld>
            <a:endParaRPr lang="zh-TW" altLang="en-US"/>
          </a:p>
        </p:txBody>
      </p:sp>
      <p:sp>
        <p:nvSpPr>
          <p:cNvPr id="8" name="頁尾版面配置區 7">
            <a:extLst>
              <a:ext uri="{FF2B5EF4-FFF2-40B4-BE49-F238E27FC236}">
                <a16:creationId xmlns:a16="http://schemas.microsoft.com/office/drawing/2014/main" id="{D4D833AC-5BE1-AE87-799D-558D2DF0C257}"/>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8612E7DC-BB9A-392C-58A2-B91AE1E621FA}"/>
              </a:ext>
            </a:extLst>
          </p:cNvPr>
          <p:cNvSpPr>
            <a:spLocks noGrp="1"/>
          </p:cNvSpPr>
          <p:nvPr>
            <p:ph type="sldNum" sz="quarter" idx="12"/>
          </p:nvPr>
        </p:nvSpPr>
        <p:spPr/>
        <p:txBody>
          <a:bodyPr/>
          <a:lstStyle/>
          <a:p>
            <a:fld id="{875E4476-CC4B-4492-94F8-FC38F01363F2}" type="slidenum">
              <a:rPr lang="zh-TW" altLang="en-US" smtClean="0"/>
              <a:t>‹#›</a:t>
            </a:fld>
            <a:endParaRPr lang="zh-TW" altLang="en-US"/>
          </a:p>
        </p:txBody>
      </p:sp>
    </p:spTree>
    <p:extLst>
      <p:ext uri="{BB962C8B-B14F-4D97-AF65-F5344CB8AC3E}">
        <p14:creationId xmlns:p14="http://schemas.microsoft.com/office/powerpoint/2010/main" val="6820647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45AD79F-9E2B-407C-DC66-7CD1C690B20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D814A13B-7374-E70C-AB49-DD3E4CDC4A01}"/>
              </a:ext>
            </a:extLst>
          </p:cNvPr>
          <p:cNvSpPr>
            <a:spLocks noGrp="1"/>
          </p:cNvSpPr>
          <p:nvPr>
            <p:ph type="dt" sz="half" idx="10"/>
          </p:nvPr>
        </p:nvSpPr>
        <p:spPr/>
        <p:txBody>
          <a:bodyPr/>
          <a:lstStyle/>
          <a:p>
            <a:fld id="{DE75F413-7690-475B-9248-70C059ECF287}" type="datetimeFigureOut">
              <a:rPr lang="zh-TW" altLang="en-US" smtClean="0"/>
              <a:t>2026/2/25</a:t>
            </a:fld>
            <a:endParaRPr lang="zh-TW" altLang="en-US"/>
          </a:p>
        </p:txBody>
      </p:sp>
      <p:sp>
        <p:nvSpPr>
          <p:cNvPr id="4" name="頁尾版面配置區 3">
            <a:extLst>
              <a:ext uri="{FF2B5EF4-FFF2-40B4-BE49-F238E27FC236}">
                <a16:creationId xmlns:a16="http://schemas.microsoft.com/office/drawing/2014/main" id="{4B1E5B95-7EE9-0E2D-071D-007951CD849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5AB11A0A-699A-37F7-374C-73B2B3BC2F24}"/>
              </a:ext>
            </a:extLst>
          </p:cNvPr>
          <p:cNvSpPr>
            <a:spLocks noGrp="1"/>
          </p:cNvSpPr>
          <p:nvPr>
            <p:ph type="sldNum" sz="quarter" idx="12"/>
          </p:nvPr>
        </p:nvSpPr>
        <p:spPr/>
        <p:txBody>
          <a:bodyPr/>
          <a:lstStyle/>
          <a:p>
            <a:fld id="{875E4476-CC4B-4492-94F8-FC38F01363F2}" type="slidenum">
              <a:rPr lang="zh-TW" altLang="en-US" smtClean="0"/>
              <a:t>‹#›</a:t>
            </a:fld>
            <a:endParaRPr lang="zh-TW" altLang="en-US"/>
          </a:p>
        </p:txBody>
      </p:sp>
    </p:spTree>
    <p:extLst>
      <p:ext uri="{BB962C8B-B14F-4D97-AF65-F5344CB8AC3E}">
        <p14:creationId xmlns:p14="http://schemas.microsoft.com/office/powerpoint/2010/main" val="1113932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A47A1CC7-02AD-154B-8D0E-7889F1C9D999}"/>
              </a:ext>
            </a:extLst>
          </p:cNvPr>
          <p:cNvSpPr>
            <a:spLocks noGrp="1"/>
          </p:cNvSpPr>
          <p:nvPr>
            <p:ph type="dt" sz="half" idx="10"/>
          </p:nvPr>
        </p:nvSpPr>
        <p:spPr/>
        <p:txBody>
          <a:bodyPr/>
          <a:lstStyle/>
          <a:p>
            <a:fld id="{DE75F413-7690-475B-9248-70C059ECF287}" type="datetimeFigureOut">
              <a:rPr lang="zh-TW" altLang="en-US" smtClean="0"/>
              <a:t>2026/2/25</a:t>
            </a:fld>
            <a:endParaRPr lang="zh-TW" altLang="en-US"/>
          </a:p>
        </p:txBody>
      </p:sp>
      <p:sp>
        <p:nvSpPr>
          <p:cNvPr id="3" name="頁尾版面配置區 2">
            <a:extLst>
              <a:ext uri="{FF2B5EF4-FFF2-40B4-BE49-F238E27FC236}">
                <a16:creationId xmlns:a16="http://schemas.microsoft.com/office/drawing/2014/main" id="{D4DE458E-4ACD-A55E-DAA2-405DED209359}"/>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22AFB75A-C125-D874-1E78-7DE31B910D4C}"/>
              </a:ext>
            </a:extLst>
          </p:cNvPr>
          <p:cNvSpPr>
            <a:spLocks noGrp="1"/>
          </p:cNvSpPr>
          <p:nvPr>
            <p:ph type="sldNum" sz="quarter" idx="12"/>
          </p:nvPr>
        </p:nvSpPr>
        <p:spPr/>
        <p:txBody>
          <a:bodyPr/>
          <a:lstStyle/>
          <a:p>
            <a:fld id="{875E4476-CC4B-4492-94F8-FC38F01363F2}" type="slidenum">
              <a:rPr lang="zh-TW" altLang="en-US" smtClean="0"/>
              <a:t>‹#›</a:t>
            </a:fld>
            <a:endParaRPr lang="zh-TW" altLang="en-US"/>
          </a:p>
        </p:txBody>
      </p:sp>
    </p:spTree>
    <p:extLst>
      <p:ext uri="{BB962C8B-B14F-4D97-AF65-F5344CB8AC3E}">
        <p14:creationId xmlns:p14="http://schemas.microsoft.com/office/powerpoint/2010/main" val="5590117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輔助字幕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9A14CF7-4C0F-8C8E-DD6F-B6E07EABBC7D}"/>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99E9C627-6282-88DD-B975-81AF806D7A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BEC3D5DF-CD1D-F34D-872F-2F3546CC21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A8B6401A-167B-5CDA-9907-0B2B65EE3885}"/>
              </a:ext>
            </a:extLst>
          </p:cNvPr>
          <p:cNvSpPr>
            <a:spLocks noGrp="1"/>
          </p:cNvSpPr>
          <p:nvPr>
            <p:ph type="dt" sz="half" idx="10"/>
          </p:nvPr>
        </p:nvSpPr>
        <p:spPr/>
        <p:txBody>
          <a:bodyPr/>
          <a:lstStyle/>
          <a:p>
            <a:fld id="{DE75F413-7690-475B-9248-70C059ECF287}" type="datetimeFigureOut">
              <a:rPr lang="zh-TW" altLang="en-US" smtClean="0"/>
              <a:t>2026/2/25</a:t>
            </a:fld>
            <a:endParaRPr lang="zh-TW" altLang="en-US"/>
          </a:p>
        </p:txBody>
      </p:sp>
      <p:sp>
        <p:nvSpPr>
          <p:cNvPr id="6" name="頁尾版面配置區 5">
            <a:extLst>
              <a:ext uri="{FF2B5EF4-FFF2-40B4-BE49-F238E27FC236}">
                <a16:creationId xmlns:a16="http://schemas.microsoft.com/office/drawing/2014/main" id="{66EDB0FF-1523-2132-E763-EDC58B9B602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93216A98-355A-7FAF-F1DC-3BC08CCC6128}"/>
              </a:ext>
            </a:extLst>
          </p:cNvPr>
          <p:cNvSpPr>
            <a:spLocks noGrp="1"/>
          </p:cNvSpPr>
          <p:nvPr>
            <p:ph type="sldNum" sz="quarter" idx="12"/>
          </p:nvPr>
        </p:nvSpPr>
        <p:spPr/>
        <p:txBody>
          <a:bodyPr/>
          <a:lstStyle/>
          <a:p>
            <a:fld id="{875E4476-CC4B-4492-94F8-FC38F01363F2}" type="slidenum">
              <a:rPr lang="zh-TW" altLang="en-US" smtClean="0"/>
              <a:t>‹#›</a:t>
            </a:fld>
            <a:endParaRPr lang="zh-TW" altLang="en-US"/>
          </a:p>
        </p:txBody>
      </p:sp>
    </p:spTree>
    <p:extLst>
      <p:ext uri="{BB962C8B-B14F-4D97-AF65-F5344CB8AC3E}">
        <p14:creationId xmlns:p14="http://schemas.microsoft.com/office/powerpoint/2010/main" val="688492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輔助字幕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3E5E6C-343F-6E56-E2B3-FC65E7BE961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923497F8-0AF8-6B04-8FE4-B9D75898B84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09048D47-9D94-F3C1-95E7-3DA28C53A9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a:extLst>
              <a:ext uri="{FF2B5EF4-FFF2-40B4-BE49-F238E27FC236}">
                <a16:creationId xmlns:a16="http://schemas.microsoft.com/office/drawing/2014/main" id="{7C8DCB76-1D51-B278-D960-6A617FD939FB}"/>
              </a:ext>
            </a:extLst>
          </p:cNvPr>
          <p:cNvSpPr>
            <a:spLocks noGrp="1"/>
          </p:cNvSpPr>
          <p:nvPr>
            <p:ph type="dt" sz="half" idx="10"/>
          </p:nvPr>
        </p:nvSpPr>
        <p:spPr/>
        <p:txBody>
          <a:bodyPr/>
          <a:lstStyle/>
          <a:p>
            <a:fld id="{DE75F413-7690-475B-9248-70C059ECF287}" type="datetimeFigureOut">
              <a:rPr lang="zh-TW" altLang="en-US" smtClean="0"/>
              <a:t>2026/2/25</a:t>
            </a:fld>
            <a:endParaRPr lang="zh-TW" altLang="en-US"/>
          </a:p>
        </p:txBody>
      </p:sp>
      <p:sp>
        <p:nvSpPr>
          <p:cNvPr id="6" name="頁尾版面配置區 5">
            <a:extLst>
              <a:ext uri="{FF2B5EF4-FFF2-40B4-BE49-F238E27FC236}">
                <a16:creationId xmlns:a16="http://schemas.microsoft.com/office/drawing/2014/main" id="{B4514D20-AE31-D453-1158-70DCAC0E5ED7}"/>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8CD3AEB9-B197-7DF1-CFD8-76BA4988B517}"/>
              </a:ext>
            </a:extLst>
          </p:cNvPr>
          <p:cNvSpPr>
            <a:spLocks noGrp="1"/>
          </p:cNvSpPr>
          <p:nvPr>
            <p:ph type="sldNum" sz="quarter" idx="12"/>
          </p:nvPr>
        </p:nvSpPr>
        <p:spPr/>
        <p:txBody>
          <a:bodyPr/>
          <a:lstStyle/>
          <a:p>
            <a:fld id="{875E4476-CC4B-4492-94F8-FC38F01363F2}" type="slidenum">
              <a:rPr lang="zh-TW" altLang="en-US" smtClean="0"/>
              <a:t>‹#›</a:t>
            </a:fld>
            <a:endParaRPr lang="zh-TW" altLang="en-US"/>
          </a:p>
        </p:txBody>
      </p:sp>
    </p:spTree>
    <p:extLst>
      <p:ext uri="{BB962C8B-B14F-4D97-AF65-F5344CB8AC3E}">
        <p14:creationId xmlns:p14="http://schemas.microsoft.com/office/powerpoint/2010/main" val="4080366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4E0B6E0-8825-1256-7D25-37FC49BF4BFC}"/>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8D4FBF4-2098-6EA8-499C-3FC96A450806}"/>
              </a:ext>
            </a:extLst>
          </p:cNvPr>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43593029-22C9-9591-04A9-0EDEBA2B6EC6}"/>
              </a:ext>
            </a:extLst>
          </p:cNvPr>
          <p:cNvSpPr>
            <a:spLocks noGrp="1"/>
          </p:cNvSpPr>
          <p:nvPr>
            <p:ph type="dt" sz="half" idx="10"/>
          </p:nvPr>
        </p:nvSpPr>
        <p:spPr/>
        <p:txBody>
          <a:bodyPr/>
          <a:lstStyle/>
          <a:p>
            <a:fld id="{DE75F413-7690-475B-9248-70C059ECF287}" type="datetimeFigureOut">
              <a:rPr lang="zh-TW" altLang="en-US" smtClean="0"/>
              <a:t>2026/2/25</a:t>
            </a:fld>
            <a:endParaRPr lang="zh-TW" altLang="en-US"/>
          </a:p>
        </p:txBody>
      </p:sp>
      <p:sp>
        <p:nvSpPr>
          <p:cNvPr id="5" name="頁尾版面配置區 4">
            <a:extLst>
              <a:ext uri="{FF2B5EF4-FFF2-40B4-BE49-F238E27FC236}">
                <a16:creationId xmlns:a16="http://schemas.microsoft.com/office/drawing/2014/main" id="{87F3908C-EA93-8119-5BFA-1C00BD47D1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8367E608-9379-2B66-129F-82196DD12D8D}"/>
              </a:ext>
            </a:extLst>
          </p:cNvPr>
          <p:cNvSpPr>
            <a:spLocks noGrp="1"/>
          </p:cNvSpPr>
          <p:nvPr>
            <p:ph type="sldNum" sz="quarter" idx="12"/>
          </p:nvPr>
        </p:nvSpPr>
        <p:spPr/>
        <p:txBody>
          <a:bodyPr/>
          <a:lstStyle/>
          <a:p>
            <a:fld id="{875E4476-CC4B-4492-94F8-FC38F01363F2}" type="slidenum">
              <a:rPr lang="zh-TW" altLang="en-US" smtClean="0"/>
              <a:t>‹#›</a:t>
            </a:fld>
            <a:endParaRPr lang="zh-TW" altLang="en-US"/>
          </a:p>
        </p:txBody>
      </p:sp>
    </p:spTree>
    <p:extLst>
      <p:ext uri="{BB962C8B-B14F-4D97-AF65-F5344CB8AC3E}">
        <p14:creationId xmlns:p14="http://schemas.microsoft.com/office/powerpoint/2010/main" val="29808357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BE88A227-9670-9E3D-7473-CED6B4D84171}"/>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D6DDD69-485D-7682-D8A3-91A894CC2E3C}"/>
              </a:ext>
            </a:extLst>
          </p:cNvPr>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DDCD4B11-F916-8351-8206-1294C953594A}"/>
              </a:ext>
            </a:extLst>
          </p:cNvPr>
          <p:cNvSpPr>
            <a:spLocks noGrp="1"/>
          </p:cNvSpPr>
          <p:nvPr>
            <p:ph type="dt" sz="half" idx="10"/>
          </p:nvPr>
        </p:nvSpPr>
        <p:spPr/>
        <p:txBody>
          <a:bodyPr/>
          <a:lstStyle/>
          <a:p>
            <a:fld id="{DE75F413-7690-475B-9248-70C059ECF287}" type="datetimeFigureOut">
              <a:rPr lang="zh-TW" altLang="en-US" smtClean="0"/>
              <a:t>2026/2/25</a:t>
            </a:fld>
            <a:endParaRPr lang="zh-TW" altLang="en-US"/>
          </a:p>
        </p:txBody>
      </p:sp>
      <p:sp>
        <p:nvSpPr>
          <p:cNvPr id="5" name="頁尾版面配置區 4">
            <a:extLst>
              <a:ext uri="{FF2B5EF4-FFF2-40B4-BE49-F238E27FC236}">
                <a16:creationId xmlns:a16="http://schemas.microsoft.com/office/drawing/2014/main" id="{0CCCBEF9-2EE9-FEE8-C75A-A87065A38CA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23EA9C3-063F-D30C-27BB-1F917E9FF982}"/>
              </a:ext>
            </a:extLst>
          </p:cNvPr>
          <p:cNvSpPr>
            <a:spLocks noGrp="1"/>
          </p:cNvSpPr>
          <p:nvPr>
            <p:ph type="sldNum" sz="quarter" idx="12"/>
          </p:nvPr>
        </p:nvSpPr>
        <p:spPr/>
        <p:txBody>
          <a:bodyPr/>
          <a:lstStyle/>
          <a:p>
            <a:fld id="{875E4476-CC4B-4492-94F8-FC38F01363F2}" type="slidenum">
              <a:rPr lang="zh-TW" altLang="en-US" smtClean="0"/>
              <a:t>‹#›</a:t>
            </a:fld>
            <a:endParaRPr lang="zh-TW" altLang="en-US"/>
          </a:p>
        </p:txBody>
      </p:sp>
    </p:spTree>
    <p:extLst>
      <p:ext uri="{BB962C8B-B14F-4D97-AF65-F5344CB8AC3E}">
        <p14:creationId xmlns:p14="http://schemas.microsoft.com/office/powerpoint/2010/main" val="11338481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BBF04D06-EE7F-3608-38C8-15191631A8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FA7FD2CC-4459-6CF3-AC10-08CC438BA4A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C631F4AB-87C0-8AFF-319C-A3AB32E22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75F413-7690-475B-9248-70C059ECF287}" type="datetimeFigureOut">
              <a:rPr lang="zh-TW" altLang="en-US" smtClean="0"/>
              <a:t>2026/2/25</a:t>
            </a:fld>
            <a:endParaRPr lang="zh-TW" altLang="en-US"/>
          </a:p>
        </p:txBody>
      </p:sp>
      <p:sp>
        <p:nvSpPr>
          <p:cNvPr id="5" name="頁尾版面配置區 4">
            <a:extLst>
              <a:ext uri="{FF2B5EF4-FFF2-40B4-BE49-F238E27FC236}">
                <a16:creationId xmlns:a16="http://schemas.microsoft.com/office/drawing/2014/main" id="{53364AD5-EF73-47ED-0571-F74E76364D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2811521F-8D04-B202-EE76-B5409A18439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5E4476-CC4B-4492-94F8-FC38F01363F2}" type="slidenum">
              <a:rPr lang="zh-TW" altLang="en-US" smtClean="0"/>
              <a:t>‹#›</a:t>
            </a:fld>
            <a:endParaRPr lang="zh-TW" altLang="en-US"/>
          </a:p>
        </p:txBody>
      </p:sp>
    </p:spTree>
    <p:extLst>
      <p:ext uri="{BB962C8B-B14F-4D97-AF65-F5344CB8AC3E}">
        <p14:creationId xmlns:p14="http://schemas.microsoft.com/office/powerpoint/2010/main" val="17263660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4.jpe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13.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14.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16.jpeg"/><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17.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18.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19.jpe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20.png"/><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21.jpe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22.gif"/><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24.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5" Type="http://schemas.openxmlformats.org/officeDocument/2006/relationships/image" Target="../media/image25.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603FB5CE-66B1-495D-96FC-7928E4F80D6B}"/>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5601A2E7-0E55-468E-BEEA-2393C43981A4}"/>
              </a:ext>
            </a:extLst>
          </p:cNvPr>
          <p:cNvPicPr>
            <a:picLocks noChangeAspect="1"/>
          </p:cNvPicPr>
          <p:nvPr/>
        </p:nvPicPr>
        <p:blipFill>
          <a:blip r:embed="rId3"/>
          <a:stretch>
            <a:fillRect/>
          </a:stretch>
        </p:blipFill>
        <p:spPr>
          <a:xfrm>
            <a:off x="1" y="833121"/>
            <a:ext cx="6522451" cy="2082800"/>
          </a:xfrm>
          <a:prstGeom prst="rect">
            <a:avLst/>
          </a:prstGeom>
        </p:spPr>
      </p:pic>
      <p:pic>
        <p:nvPicPr>
          <p:cNvPr id="9" name="圖片 8">
            <a:extLst>
              <a:ext uri="{FF2B5EF4-FFF2-40B4-BE49-F238E27FC236}">
                <a16:creationId xmlns:a16="http://schemas.microsoft.com/office/drawing/2014/main" id="{D8EC5C19-ABFA-44F3-8254-E15DE92D1D99}"/>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1ADF1DF8-152F-4F84-88A0-BE74E88F8625}"/>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0B72E9A8-CF14-4FF7-9E15-64B48B2470DA}"/>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0E82C1B8-AEBD-4A06-B5A3-79A5B40E5377}"/>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819F6466-0B47-43DC-B5BA-F8AADE3C095A}"/>
              </a:ext>
            </a:extLst>
          </p:cNvPr>
          <p:cNvPicPr>
            <a:picLocks noChangeAspect="1"/>
          </p:cNvPicPr>
          <p:nvPr/>
        </p:nvPicPr>
        <p:blipFill>
          <a:blip r:embed="rId3"/>
          <a:stretch>
            <a:fillRect/>
          </a:stretch>
        </p:blipFill>
        <p:spPr>
          <a:xfrm>
            <a:off x="6300475" y="132678"/>
            <a:ext cx="4488495" cy="3011155"/>
          </a:xfrm>
          <a:prstGeom prst="rect">
            <a:avLst/>
          </a:prstGeom>
        </p:spPr>
      </p:pic>
      <p:pic>
        <p:nvPicPr>
          <p:cNvPr id="10" name="圖片 9">
            <a:extLst>
              <a:ext uri="{FF2B5EF4-FFF2-40B4-BE49-F238E27FC236}">
                <a16:creationId xmlns:a16="http://schemas.microsoft.com/office/drawing/2014/main" id="{1C09B0AF-04BD-43AE-ABA4-D7D271E6399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53978" y="1462462"/>
            <a:ext cx="1717643" cy="1717643"/>
          </a:xfrm>
          <a:prstGeom prst="rect">
            <a:avLst/>
          </a:prstGeom>
        </p:spPr>
      </p:pic>
      <p:sp>
        <p:nvSpPr>
          <p:cNvPr id="21" name="文字方塊 20">
            <a:extLst>
              <a:ext uri="{FF2B5EF4-FFF2-40B4-BE49-F238E27FC236}">
                <a16:creationId xmlns:a16="http://schemas.microsoft.com/office/drawing/2014/main" id="{AD88B799-0CD3-4D0F-93BA-D4DBDE029223}"/>
              </a:ext>
            </a:extLst>
          </p:cNvPr>
          <p:cNvSpPr txBox="1"/>
          <p:nvPr/>
        </p:nvSpPr>
        <p:spPr>
          <a:xfrm>
            <a:off x="2320361" y="1285605"/>
            <a:ext cx="8780532" cy="2121093"/>
          </a:xfrm>
          <a:prstGeom prst="rect">
            <a:avLst/>
          </a:prstGeom>
          <a:noFill/>
        </p:spPr>
        <p:txBody>
          <a:bodyPr wrap="square">
            <a:spAutoFit/>
          </a:bodyPr>
          <a:lstStyle/>
          <a:p>
            <a:pPr>
              <a:lnSpc>
                <a:spcPct val="150000"/>
              </a:lnSpc>
            </a:pPr>
            <a:r>
              <a:rPr lang="zh-TW" altLang="en-US" b="1" dirty="0">
                <a:solidFill>
                  <a:srgbClr val="456244"/>
                </a:solidFill>
                <a:latin typeface="Microsoft YaHei" panose="020B0503020204020204" pitchFamily="34" charset="-122"/>
                <a:ea typeface="Microsoft YaHei" panose="020B0503020204020204" pitchFamily="34" charset="-122"/>
              </a:rPr>
              <a:t>台灣唯一</a:t>
            </a:r>
            <a:r>
              <a:rPr lang="en-US" altLang="zh-TW" b="1" dirty="0">
                <a:solidFill>
                  <a:srgbClr val="456244"/>
                </a:solidFill>
                <a:latin typeface="Microsoft YaHei" panose="020B0503020204020204" pitchFamily="34" charset="-122"/>
                <a:ea typeface="Microsoft YaHei" panose="020B0503020204020204" pitchFamily="34" charset="-122"/>
              </a:rPr>
              <a:t>《</a:t>
            </a:r>
            <a:r>
              <a:rPr lang="zh-TW" altLang="en-US" b="1" dirty="0">
                <a:solidFill>
                  <a:srgbClr val="456244"/>
                </a:solidFill>
                <a:latin typeface="Microsoft YaHei" panose="020B0503020204020204" pitchFamily="34" charset="-122"/>
                <a:ea typeface="Microsoft YaHei" panose="020B0503020204020204" pitchFamily="34" charset="-122"/>
              </a:rPr>
              <a:t>二棒育成</a:t>
            </a:r>
            <a:r>
              <a:rPr lang="en-US" altLang="zh-TW" b="1" dirty="0">
                <a:solidFill>
                  <a:srgbClr val="456244"/>
                </a:solidFill>
                <a:latin typeface="Microsoft YaHei" panose="020B0503020204020204" pitchFamily="34" charset="-122"/>
                <a:ea typeface="Microsoft YaHei" panose="020B0503020204020204" pitchFamily="34" charset="-122"/>
              </a:rPr>
              <a:t>》</a:t>
            </a:r>
            <a:r>
              <a:rPr lang="zh-TW" altLang="en-US" b="1" dirty="0">
                <a:solidFill>
                  <a:srgbClr val="456244"/>
                </a:solidFill>
                <a:latin typeface="Microsoft YaHei" panose="020B0503020204020204" pitchFamily="34" charset="-122"/>
                <a:ea typeface="Microsoft YaHei" panose="020B0503020204020204" pitchFamily="34" charset="-122"/>
              </a:rPr>
              <a:t>加速器，是台灣最大的產業加速器，並與</a:t>
            </a:r>
            <a:r>
              <a:rPr lang="en-US" altLang="zh-TW" b="1" dirty="0">
                <a:solidFill>
                  <a:srgbClr val="456244"/>
                </a:solidFill>
                <a:latin typeface="Microsoft YaHei" panose="020B0503020204020204" pitchFamily="34" charset="-122"/>
                <a:ea typeface="Microsoft YaHei" panose="020B0503020204020204" pitchFamily="34" charset="-122"/>
              </a:rPr>
              <a:t>NVIDA</a:t>
            </a:r>
            <a:r>
              <a:rPr lang="zh-TW" altLang="en-US" b="1" dirty="0">
                <a:solidFill>
                  <a:srgbClr val="456244"/>
                </a:solidFill>
                <a:latin typeface="Microsoft YaHei" panose="020B0503020204020204" pitchFamily="34" charset="-122"/>
                <a:ea typeface="Microsoft YaHei" panose="020B0503020204020204" pitchFamily="34" charset="-122"/>
              </a:rPr>
              <a:t>獨家合作</a:t>
            </a:r>
            <a:r>
              <a:rPr lang="en-US" altLang="zh-TW" b="1" dirty="0">
                <a:solidFill>
                  <a:srgbClr val="456244"/>
                </a:solidFill>
                <a:latin typeface="Microsoft YaHei" panose="020B0503020204020204" pitchFamily="34" charset="-122"/>
                <a:ea typeface="Microsoft YaHei" panose="020B0503020204020204" pitchFamily="34" charset="-122"/>
              </a:rPr>
              <a:t>AI</a:t>
            </a:r>
            <a:r>
              <a:rPr lang="zh-TW" altLang="en-US" b="1" dirty="0">
                <a:solidFill>
                  <a:srgbClr val="456244"/>
                </a:solidFill>
                <a:latin typeface="Microsoft YaHei" panose="020B0503020204020204" pitchFamily="34" charset="-122"/>
                <a:ea typeface="Microsoft YaHei" panose="020B0503020204020204" pitchFamily="34" charset="-122"/>
              </a:rPr>
              <a:t>軟硬整合創新加速器</a:t>
            </a:r>
            <a:r>
              <a:rPr lang="en-US" altLang="zh-TW" b="1" dirty="0">
                <a:solidFill>
                  <a:srgbClr val="456244"/>
                </a:solidFill>
                <a:latin typeface="Microsoft YaHei" panose="020B0503020204020204" pitchFamily="34" charset="-122"/>
                <a:ea typeface="Microsoft YaHei" panose="020B0503020204020204" pitchFamily="34" charset="-122"/>
              </a:rPr>
              <a:t>-TAI1 AI</a:t>
            </a:r>
            <a:r>
              <a:rPr lang="zh-TW" altLang="en-US" b="1" dirty="0">
                <a:solidFill>
                  <a:srgbClr val="456244"/>
                </a:solidFill>
                <a:latin typeface="Microsoft YaHei" panose="020B0503020204020204" pitchFamily="34" charset="-122"/>
                <a:ea typeface="Microsoft YaHei" panose="020B0503020204020204" pitchFamily="34" charset="-122"/>
              </a:rPr>
              <a:t>加速器。</a:t>
            </a:r>
          </a:p>
          <a:p>
            <a:pPr>
              <a:lnSpc>
                <a:spcPct val="150000"/>
              </a:lnSpc>
            </a:pPr>
            <a:r>
              <a:rPr lang="zh-TW" altLang="en-US" b="1" dirty="0">
                <a:solidFill>
                  <a:srgbClr val="456244"/>
                </a:solidFill>
                <a:latin typeface="Microsoft YaHei" panose="020B0503020204020204" pitchFamily="34" charset="-122"/>
                <a:ea typeface="Microsoft YaHei" panose="020B0503020204020204" pitchFamily="34" charset="-122"/>
              </a:rPr>
              <a:t>身為工研院衍生公司</a:t>
            </a:r>
            <a:r>
              <a:rPr lang="en-US" altLang="zh-TW" b="1" dirty="0">
                <a:solidFill>
                  <a:srgbClr val="456244"/>
                </a:solidFill>
                <a:latin typeface="Microsoft YaHei" panose="020B0503020204020204" pitchFamily="34" charset="-122"/>
                <a:ea typeface="Microsoft YaHei" panose="020B0503020204020204" pitchFamily="34" charset="-122"/>
              </a:rPr>
              <a:t>,</a:t>
            </a:r>
            <a:r>
              <a:rPr lang="en-US" altLang="zh-TW" b="1" dirty="0" err="1">
                <a:solidFill>
                  <a:srgbClr val="456244"/>
                </a:solidFill>
                <a:latin typeface="Microsoft YaHei" panose="020B0503020204020204" pitchFamily="34" charset="-122"/>
                <a:ea typeface="Microsoft YaHei" panose="020B0503020204020204" pitchFamily="34" charset="-122"/>
              </a:rPr>
              <a:t>StarFab</a:t>
            </a:r>
            <a:r>
              <a:rPr lang="zh-TW" altLang="en-US" b="1" dirty="0">
                <a:solidFill>
                  <a:srgbClr val="456244"/>
                </a:solidFill>
                <a:latin typeface="Microsoft YaHei" panose="020B0503020204020204" pitchFamily="34" charset="-122"/>
                <a:ea typeface="Microsoft YaHei" panose="020B0503020204020204" pitchFamily="34" charset="-122"/>
              </a:rPr>
              <a:t>承接已有深厚技術基礎的新創團隊。</a:t>
            </a:r>
          </a:p>
          <a:p>
            <a:pPr>
              <a:lnSpc>
                <a:spcPct val="150000"/>
              </a:lnSpc>
            </a:pPr>
            <a:r>
              <a:rPr lang="zh-TW" altLang="en-US" b="1" dirty="0">
                <a:solidFill>
                  <a:srgbClr val="456244"/>
                </a:solidFill>
                <a:latin typeface="Microsoft YaHei" panose="020B0503020204020204" pitchFamily="34" charset="-122"/>
                <a:ea typeface="Microsoft YaHei" panose="020B0503020204020204" pitchFamily="34" charset="-122"/>
              </a:rPr>
              <a:t>專注於最關鍵的商業化衝刺階段</a:t>
            </a:r>
            <a:r>
              <a:rPr lang="en-US" altLang="zh-TW" b="1" dirty="0">
                <a:solidFill>
                  <a:srgbClr val="456244"/>
                </a:solidFill>
                <a:latin typeface="Microsoft YaHei" panose="020B0503020204020204" pitchFamily="34" charset="-122"/>
                <a:ea typeface="Microsoft YaHei" panose="020B0503020204020204" pitchFamily="34" charset="-122"/>
              </a:rPr>
              <a:t>,</a:t>
            </a:r>
            <a:r>
              <a:rPr lang="zh-TW" altLang="en-US" b="1" dirty="0">
                <a:solidFill>
                  <a:srgbClr val="456244"/>
                </a:solidFill>
                <a:latin typeface="Microsoft YaHei" panose="020B0503020204020204" pitchFamily="34" charset="-122"/>
                <a:ea typeface="Microsoft YaHei" panose="020B0503020204020204" pitchFamily="34" charset="-122"/>
              </a:rPr>
              <a:t>提供市場 對接、策略合作與規模化成長所需的核心資源</a:t>
            </a:r>
            <a:r>
              <a:rPr lang="en-US" altLang="zh-TW" b="1" dirty="0">
                <a:solidFill>
                  <a:srgbClr val="456244"/>
                </a:solidFill>
                <a:latin typeface="Microsoft YaHei" panose="020B0503020204020204" pitchFamily="34" charset="-122"/>
                <a:ea typeface="Microsoft YaHei" panose="020B0503020204020204" pitchFamily="34" charset="-122"/>
              </a:rPr>
              <a:t>,</a:t>
            </a:r>
            <a:r>
              <a:rPr lang="zh-TW" altLang="en-US" b="1" dirty="0">
                <a:solidFill>
                  <a:srgbClr val="456244"/>
                </a:solidFill>
                <a:latin typeface="Microsoft YaHei" panose="020B0503020204020204" pitchFamily="34" charset="-122"/>
                <a:ea typeface="Microsoft YaHei" panose="020B0503020204020204" pitchFamily="34" charset="-122"/>
              </a:rPr>
              <a:t>完美銜接研發與市場。</a:t>
            </a:r>
            <a:endParaRPr lang="zh-TW" altLang="en-US" dirty="0">
              <a:solidFill>
                <a:srgbClr val="456244"/>
              </a:solidFill>
              <a:latin typeface="Microsoft YaHei" panose="020B0503020204020204" pitchFamily="34" charset="-122"/>
              <a:ea typeface="Microsoft YaHei" panose="020B0503020204020204" pitchFamily="34" charset="-122"/>
            </a:endParaRPr>
          </a:p>
        </p:txBody>
      </p:sp>
      <p:sp>
        <p:nvSpPr>
          <p:cNvPr id="16" name="文字方塊 15">
            <a:extLst>
              <a:ext uri="{FF2B5EF4-FFF2-40B4-BE49-F238E27FC236}">
                <a16:creationId xmlns:a16="http://schemas.microsoft.com/office/drawing/2014/main" id="{AA1592E9-8A80-4EBE-B868-A20DDC3941E4}"/>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5EC138D0-DF4C-4830-B61B-0BFC947F9254}"/>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5E066F3E-34E4-42A6-A526-7C0208898BF0}"/>
              </a:ext>
            </a:extLst>
          </p:cNvPr>
          <p:cNvSpPr/>
          <p:nvPr/>
        </p:nvSpPr>
        <p:spPr>
          <a:xfrm>
            <a:off x="783532"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智慧醫療</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FF64B067-8914-42C4-9770-4789A8D8E608}"/>
              </a:ext>
            </a:extLst>
          </p:cNvPr>
          <p:cNvSpPr txBox="1"/>
          <p:nvPr/>
        </p:nvSpPr>
        <p:spPr>
          <a:xfrm>
            <a:off x="1496002" y="3423806"/>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31" name="Google Shape;60;p1">
            <a:extLst>
              <a:ext uri="{FF2B5EF4-FFF2-40B4-BE49-F238E27FC236}">
                <a16:creationId xmlns:a16="http://schemas.microsoft.com/office/drawing/2014/main" id="{21D70A9E-7B00-4B6B-B19C-2FDACD015548}"/>
              </a:ext>
            </a:extLst>
          </p:cNvPr>
          <p:cNvSpPr/>
          <p:nvPr/>
        </p:nvSpPr>
        <p:spPr>
          <a:xfrm>
            <a:off x="4888703" y="5395500"/>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智慧製造</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4" name="Google Shape;60;p1">
            <a:extLst>
              <a:ext uri="{FF2B5EF4-FFF2-40B4-BE49-F238E27FC236}">
                <a16:creationId xmlns:a16="http://schemas.microsoft.com/office/drawing/2014/main" id="{3CD46054-F56E-4D04-ADE9-8C91A518630C}"/>
              </a:ext>
            </a:extLst>
          </p:cNvPr>
          <p:cNvSpPr/>
          <p:nvPr/>
        </p:nvSpPr>
        <p:spPr>
          <a:xfrm>
            <a:off x="3303243"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智慧城市</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5" name="Google Shape;60;p1">
            <a:extLst>
              <a:ext uri="{FF2B5EF4-FFF2-40B4-BE49-F238E27FC236}">
                <a16:creationId xmlns:a16="http://schemas.microsoft.com/office/drawing/2014/main" id="{E9301CB5-4230-4077-837B-B1206DFCDF0E}"/>
              </a:ext>
            </a:extLst>
          </p:cNvPr>
          <p:cNvSpPr/>
          <p:nvPr/>
        </p:nvSpPr>
        <p:spPr>
          <a:xfrm>
            <a:off x="7453962" y="539549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智慧零售</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6" name="Google Shape;60;p1">
            <a:extLst>
              <a:ext uri="{FF2B5EF4-FFF2-40B4-BE49-F238E27FC236}">
                <a16:creationId xmlns:a16="http://schemas.microsoft.com/office/drawing/2014/main" id="{8C769375-003F-4333-BA7A-AB8D7493108C}"/>
              </a:ext>
            </a:extLst>
          </p:cNvPr>
          <p:cNvSpPr/>
          <p:nvPr/>
        </p:nvSpPr>
        <p:spPr>
          <a:xfrm>
            <a:off x="5822954"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智慧交通</a:t>
            </a:r>
            <a:endParaRPr lang="en-US" altLang="zh-TW" sz="3200" b="1" dirty="0">
              <a:solidFill>
                <a:schemeClr val="bg1"/>
              </a:solidFill>
              <a:latin typeface="Microsoft YaHei" panose="020B0503020204020204" pitchFamily="34" charset="-122"/>
              <a:ea typeface="Microsoft YaHei" panose="020B0503020204020204" pitchFamily="34" charset="-122"/>
            </a:endParaRPr>
          </a:p>
          <a:p>
            <a:pPr algn="ct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7" name="Google Shape;60;p1">
            <a:extLst>
              <a:ext uri="{FF2B5EF4-FFF2-40B4-BE49-F238E27FC236}">
                <a16:creationId xmlns:a16="http://schemas.microsoft.com/office/drawing/2014/main" id="{37A79B3E-60FB-4177-A4C1-8796002D467A}"/>
              </a:ext>
            </a:extLst>
          </p:cNvPr>
          <p:cNvSpPr/>
          <p:nvPr/>
        </p:nvSpPr>
        <p:spPr>
          <a:xfrm>
            <a:off x="8342665"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資訊安全</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72D9D60C-ED53-4FFE-B6BF-32C45C532169}"/>
              </a:ext>
            </a:extLst>
          </p:cNvPr>
          <p:cNvCxnSpPr>
            <a:cxnSpLocks/>
          </p:cNvCxnSpPr>
          <p:nvPr/>
        </p:nvCxnSpPr>
        <p:spPr>
          <a:xfrm>
            <a:off x="4429219" y="3839304"/>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3BA3D6B2-15DD-4CF7-9E2D-F9FC320BF6A7}"/>
              </a:ext>
            </a:extLst>
          </p:cNvPr>
          <p:cNvCxnSpPr>
            <a:cxnSpLocks/>
          </p:cNvCxnSpPr>
          <p:nvPr/>
        </p:nvCxnSpPr>
        <p:spPr>
          <a:xfrm>
            <a:off x="186141" y="3839304"/>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0562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603FB5CE-66B1-495D-96FC-7928E4F80D6B}"/>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5601A2E7-0E55-468E-BEEA-2393C43981A4}"/>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D8EC5C19-ABFA-44F3-8254-E15DE92D1D99}"/>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1ADF1DF8-152F-4F84-88A0-BE74E88F8625}"/>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0B72E9A8-CF14-4FF7-9E15-64B48B2470DA}"/>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0E82C1B8-AEBD-4A06-B5A3-79A5B40E5377}"/>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819F6466-0B47-43DC-B5BA-F8AADE3C095A}"/>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AD88B799-0CD3-4D0F-93BA-D4DBDE029223}"/>
              </a:ext>
            </a:extLst>
          </p:cNvPr>
          <p:cNvSpPr txBox="1"/>
          <p:nvPr/>
        </p:nvSpPr>
        <p:spPr>
          <a:xfrm>
            <a:off x="2302702" y="1332747"/>
            <a:ext cx="8780532" cy="2121093"/>
          </a:xfrm>
          <a:prstGeom prst="rect">
            <a:avLst/>
          </a:prstGeom>
          <a:noFill/>
        </p:spPr>
        <p:txBody>
          <a:bodyPr wrap="square">
            <a:spAutoFit/>
          </a:bodyPr>
          <a:lstStyle/>
          <a:p>
            <a:pPr>
              <a:lnSpc>
                <a:spcPct val="150000"/>
              </a:lnSpc>
            </a:pPr>
            <a:r>
              <a:rPr lang="en-US" altLang="zh-TW" b="1" dirty="0">
                <a:solidFill>
                  <a:srgbClr val="456244"/>
                </a:solidFill>
                <a:latin typeface="Microsoft YaHei" panose="020B0503020204020204" pitchFamily="34" charset="-122"/>
                <a:ea typeface="Microsoft YaHei" panose="020B0503020204020204" pitchFamily="34" charset="-122"/>
              </a:rPr>
              <a:t>Mosaic Venture Lab </a:t>
            </a:r>
            <a:r>
              <a:rPr lang="zh-TW" altLang="en-US" b="1" dirty="0">
                <a:solidFill>
                  <a:srgbClr val="456244"/>
                </a:solidFill>
                <a:latin typeface="Microsoft YaHei" panose="020B0503020204020204" pitchFamily="34" charset="-122"/>
                <a:ea typeface="Microsoft YaHei" panose="020B0503020204020204" pitchFamily="34" charset="-122"/>
              </a:rPr>
              <a:t>致力於加速未來移動產業、生技醫療創新發展，透過串聯全球產業領導者推動創新落地。總部設於台灣，</a:t>
            </a:r>
            <a:r>
              <a:rPr lang="en-US" altLang="zh-TW" b="1" dirty="0">
                <a:solidFill>
                  <a:srgbClr val="456244"/>
                </a:solidFill>
                <a:latin typeface="Microsoft YaHei" panose="020B0503020204020204" pitchFamily="34" charset="-122"/>
                <a:ea typeface="Microsoft YaHei" panose="020B0503020204020204" pitchFamily="34" charset="-122"/>
              </a:rPr>
              <a:t>Mosaic </a:t>
            </a:r>
            <a:r>
              <a:rPr lang="zh-TW" altLang="en-US" b="1" dirty="0">
                <a:solidFill>
                  <a:srgbClr val="456244"/>
                </a:solidFill>
                <a:latin typeface="Microsoft YaHei" panose="020B0503020204020204" pitchFamily="34" charset="-122"/>
                <a:ea typeface="Microsoft YaHei" panose="020B0503020204020204" pitchFamily="34" charset="-122"/>
              </a:rPr>
              <a:t>提供精準導向的加速計畫、市場研究服務，並協助企業布局全球市場，</a:t>
            </a:r>
            <a:r>
              <a:rPr lang="en-US" altLang="zh-TW" b="1" dirty="0">
                <a:solidFill>
                  <a:srgbClr val="456244"/>
                </a:solidFill>
                <a:latin typeface="Microsoft YaHei" panose="020B0503020204020204" pitchFamily="34" charset="-122"/>
                <a:ea typeface="Microsoft YaHei" panose="020B0503020204020204" pitchFamily="34" charset="-122"/>
              </a:rPr>
              <a:t>Mosaic </a:t>
            </a:r>
            <a:r>
              <a:rPr lang="zh-TW" altLang="en-US" b="1" dirty="0">
                <a:solidFill>
                  <a:srgbClr val="456244"/>
                </a:solidFill>
                <a:latin typeface="Microsoft YaHei" panose="020B0503020204020204" pitchFamily="34" charset="-122"/>
                <a:ea typeface="Microsoft YaHei" panose="020B0503020204020204" pitchFamily="34" charset="-122"/>
              </a:rPr>
              <a:t>長期深耕台灣、歐洲的移動科技產業，以及北美數位醫療市場，專注於發掘、評估與加速具潛力的新創企業對接海外生態系，並協助其募資落地。</a:t>
            </a:r>
            <a:endParaRPr lang="zh-TW" altLang="en-US" dirty="0">
              <a:solidFill>
                <a:srgbClr val="456244"/>
              </a:solidFill>
              <a:latin typeface="Microsoft YaHei" panose="020B0503020204020204" pitchFamily="34" charset="-122"/>
              <a:ea typeface="Microsoft YaHei" panose="020B0503020204020204" pitchFamily="34" charset="-122"/>
            </a:endParaRPr>
          </a:p>
        </p:txBody>
      </p:sp>
      <p:sp>
        <p:nvSpPr>
          <p:cNvPr id="16" name="文字方塊 15">
            <a:extLst>
              <a:ext uri="{FF2B5EF4-FFF2-40B4-BE49-F238E27FC236}">
                <a16:creationId xmlns:a16="http://schemas.microsoft.com/office/drawing/2014/main" id="{AA1592E9-8A80-4EBE-B868-A20DDC3941E4}"/>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5EC138D0-DF4C-4830-B61B-0BFC947F9254}"/>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5E066F3E-34E4-42A6-A526-7C0208898BF0}"/>
              </a:ext>
            </a:extLst>
          </p:cNvPr>
          <p:cNvSpPr/>
          <p:nvPr/>
        </p:nvSpPr>
        <p:spPr>
          <a:xfrm>
            <a:off x="783532"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半導體</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FF64B067-8914-42C4-9770-4789A8D8E608}"/>
              </a:ext>
            </a:extLst>
          </p:cNvPr>
          <p:cNvSpPr txBox="1"/>
          <p:nvPr/>
        </p:nvSpPr>
        <p:spPr>
          <a:xfrm>
            <a:off x="1496002" y="3423806"/>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31" name="Google Shape;60;p1">
            <a:extLst>
              <a:ext uri="{FF2B5EF4-FFF2-40B4-BE49-F238E27FC236}">
                <a16:creationId xmlns:a16="http://schemas.microsoft.com/office/drawing/2014/main" id="{21D70A9E-7B00-4B6B-B19C-2FDACD015548}"/>
              </a:ext>
            </a:extLst>
          </p:cNvPr>
          <p:cNvSpPr/>
          <p:nvPr/>
        </p:nvSpPr>
        <p:spPr>
          <a:xfrm>
            <a:off x="4888703" y="5395500"/>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光子技術</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4" name="Google Shape;60;p1">
            <a:extLst>
              <a:ext uri="{FF2B5EF4-FFF2-40B4-BE49-F238E27FC236}">
                <a16:creationId xmlns:a16="http://schemas.microsoft.com/office/drawing/2014/main" id="{3CD46054-F56E-4D04-ADE9-8C91A518630C}"/>
              </a:ext>
            </a:extLst>
          </p:cNvPr>
          <p:cNvSpPr/>
          <p:nvPr/>
        </p:nvSpPr>
        <p:spPr>
          <a:xfrm>
            <a:off x="3303243"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汽車產業</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5" name="Google Shape;60;p1">
            <a:extLst>
              <a:ext uri="{FF2B5EF4-FFF2-40B4-BE49-F238E27FC236}">
                <a16:creationId xmlns:a16="http://schemas.microsoft.com/office/drawing/2014/main" id="{E9301CB5-4230-4077-837B-B1206DFCDF0E}"/>
              </a:ext>
            </a:extLst>
          </p:cNvPr>
          <p:cNvSpPr/>
          <p:nvPr/>
        </p:nvSpPr>
        <p:spPr>
          <a:xfrm>
            <a:off x="7453962" y="539549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先進材料</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6" name="Google Shape;60;p1">
            <a:extLst>
              <a:ext uri="{FF2B5EF4-FFF2-40B4-BE49-F238E27FC236}">
                <a16:creationId xmlns:a16="http://schemas.microsoft.com/office/drawing/2014/main" id="{8C769375-003F-4333-BA7A-AB8D7493108C}"/>
              </a:ext>
            </a:extLst>
          </p:cNvPr>
          <p:cNvSpPr/>
          <p:nvPr/>
        </p:nvSpPr>
        <p:spPr>
          <a:xfrm>
            <a:off x="5822954"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醫療健康</a:t>
            </a:r>
            <a:endParaRPr lang="en-US" altLang="zh-TW" sz="3200" b="1" dirty="0">
              <a:solidFill>
                <a:schemeClr val="bg1"/>
              </a:solidFill>
              <a:latin typeface="Microsoft YaHei" panose="020B0503020204020204" pitchFamily="34" charset="-122"/>
              <a:ea typeface="Microsoft YaHei" panose="020B0503020204020204" pitchFamily="34" charset="-122"/>
            </a:endParaRPr>
          </a:p>
          <a:p>
            <a:pPr algn="ct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7" name="Google Shape;60;p1">
            <a:extLst>
              <a:ext uri="{FF2B5EF4-FFF2-40B4-BE49-F238E27FC236}">
                <a16:creationId xmlns:a16="http://schemas.microsoft.com/office/drawing/2014/main" id="{37A79B3E-60FB-4177-A4C1-8796002D467A}"/>
              </a:ext>
            </a:extLst>
          </p:cNvPr>
          <p:cNvSpPr/>
          <p:nvPr/>
        </p:nvSpPr>
        <p:spPr>
          <a:xfrm>
            <a:off x="8342665"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永續發展</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72D9D60C-ED53-4FFE-B6BF-32C45C532169}"/>
              </a:ext>
            </a:extLst>
          </p:cNvPr>
          <p:cNvCxnSpPr>
            <a:cxnSpLocks/>
          </p:cNvCxnSpPr>
          <p:nvPr/>
        </p:nvCxnSpPr>
        <p:spPr>
          <a:xfrm>
            <a:off x="4429219" y="3839304"/>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3BA3D6B2-15DD-4CF7-9E2D-F9FC320BF6A7}"/>
              </a:ext>
            </a:extLst>
          </p:cNvPr>
          <p:cNvCxnSpPr>
            <a:cxnSpLocks/>
          </p:cNvCxnSpPr>
          <p:nvPr/>
        </p:nvCxnSpPr>
        <p:spPr>
          <a:xfrm>
            <a:off x="186141" y="3839304"/>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3" name="圖片 2">
            <a:extLst>
              <a:ext uri="{FF2B5EF4-FFF2-40B4-BE49-F238E27FC236}">
                <a16:creationId xmlns:a16="http://schemas.microsoft.com/office/drawing/2014/main" id="{9ACDD314-9C25-4CEC-A538-C9DCAD1CBAA8}"/>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312105" y="1493777"/>
            <a:ext cx="2139344" cy="1644201"/>
          </a:xfrm>
          <a:prstGeom prst="rect">
            <a:avLst/>
          </a:prstGeom>
        </p:spPr>
      </p:pic>
    </p:spTree>
    <p:extLst>
      <p:ext uri="{BB962C8B-B14F-4D97-AF65-F5344CB8AC3E}">
        <p14:creationId xmlns:p14="http://schemas.microsoft.com/office/powerpoint/2010/main" val="25063265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603FB5CE-66B1-495D-96FC-7928E4F80D6B}"/>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5601A2E7-0E55-468E-BEEA-2393C43981A4}"/>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D8EC5C19-ABFA-44F3-8254-E15DE92D1D99}"/>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1ADF1DF8-152F-4F84-88A0-BE74E88F8625}"/>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0B72E9A8-CF14-4FF7-9E15-64B48B2470DA}"/>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0E82C1B8-AEBD-4A06-B5A3-79A5B40E5377}"/>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819F6466-0B47-43DC-B5BA-F8AADE3C095A}"/>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AD88B799-0CD3-4D0F-93BA-D4DBDE029223}"/>
              </a:ext>
            </a:extLst>
          </p:cNvPr>
          <p:cNvSpPr txBox="1"/>
          <p:nvPr/>
        </p:nvSpPr>
        <p:spPr>
          <a:xfrm>
            <a:off x="2356268" y="1335119"/>
            <a:ext cx="8780532" cy="2121093"/>
          </a:xfrm>
          <a:prstGeom prst="rect">
            <a:avLst/>
          </a:prstGeom>
          <a:noFill/>
        </p:spPr>
        <p:txBody>
          <a:bodyPr wrap="square">
            <a:spAutoFit/>
          </a:bodyPr>
          <a:lstStyle/>
          <a:p>
            <a:pPr>
              <a:lnSpc>
                <a:spcPct val="150000"/>
              </a:lnSpc>
            </a:pPr>
            <a:r>
              <a:rPr lang="en-US" altLang="zh-TW" b="1" dirty="0" err="1">
                <a:solidFill>
                  <a:srgbClr val="456244"/>
                </a:solidFill>
                <a:latin typeface="Microsoft YaHei" panose="020B0503020204020204" pitchFamily="34" charset="-122"/>
                <a:ea typeface="Microsoft YaHei" panose="020B0503020204020204" pitchFamily="34" charset="-122"/>
              </a:rPr>
              <a:t>CrossBond</a:t>
            </a:r>
            <a:r>
              <a:rPr lang="en-US" altLang="zh-TW" b="1" dirty="0">
                <a:solidFill>
                  <a:srgbClr val="456244"/>
                </a:solidFill>
                <a:latin typeface="Microsoft YaHei" panose="020B0503020204020204" pitchFamily="34" charset="-122"/>
                <a:ea typeface="Microsoft YaHei" panose="020B0503020204020204" pitchFamily="34" charset="-122"/>
              </a:rPr>
              <a:t> </a:t>
            </a:r>
            <a:r>
              <a:rPr lang="zh-TW" altLang="en-US" b="1" dirty="0">
                <a:solidFill>
                  <a:srgbClr val="456244"/>
                </a:solidFill>
                <a:latin typeface="Microsoft YaHei" panose="020B0503020204020204" pitchFamily="34" charset="-122"/>
                <a:ea typeface="Microsoft YaHei" panose="020B0503020204020204" pitchFamily="34" charset="-122"/>
              </a:rPr>
              <a:t>是專注東協印度人才在台灣創業與就業之經濟部國際創育機構，成立超過</a:t>
            </a:r>
            <a:r>
              <a:rPr lang="en-US" altLang="zh-TW" b="1" dirty="0">
                <a:solidFill>
                  <a:srgbClr val="456244"/>
                </a:solidFill>
                <a:latin typeface="Microsoft YaHei" panose="020B0503020204020204" pitchFamily="34" charset="-122"/>
                <a:ea typeface="Microsoft YaHei" panose="020B0503020204020204" pitchFamily="34" charset="-122"/>
              </a:rPr>
              <a:t>8</a:t>
            </a:r>
            <a:r>
              <a:rPr lang="zh-TW" altLang="en-US" b="1" dirty="0">
                <a:solidFill>
                  <a:srgbClr val="456244"/>
                </a:solidFill>
                <a:latin typeface="Microsoft YaHei" panose="020B0503020204020204" pitchFamily="34" charset="-122"/>
                <a:ea typeface="Microsoft YaHei" panose="020B0503020204020204" pitchFamily="34" charset="-122"/>
              </a:rPr>
              <a:t>個年頭，主要服務為協助東協印度創業家來台落地、協助台灣新創媒合國際人才進軍國際市場，也包含東協企業投資台灣，例如越南工商銀行、印尼國家銀行等。</a:t>
            </a:r>
          </a:p>
          <a:p>
            <a:pPr>
              <a:lnSpc>
                <a:spcPct val="150000"/>
              </a:lnSpc>
            </a:pPr>
            <a:r>
              <a:rPr lang="zh-TW" altLang="en-US" b="1" dirty="0">
                <a:solidFill>
                  <a:srgbClr val="456244"/>
                </a:solidFill>
                <a:latin typeface="Microsoft YaHei" panose="020B0503020204020204" pitchFamily="34" charset="-122"/>
                <a:ea typeface="Microsoft YaHei" panose="020B0503020204020204" pitchFamily="34" charset="-122"/>
              </a:rPr>
              <a:t>  長年協助菲律賓、印尼、越南、泰國、緬甸、印度在台辦事處舉辦相關商務投資、人才媒合等業務，協助台商投資東協印度市場。</a:t>
            </a:r>
          </a:p>
        </p:txBody>
      </p:sp>
      <p:sp>
        <p:nvSpPr>
          <p:cNvPr id="16" name="文字方塊 15">
            <a:extLst>
              <a:ext uri="{FF2B5EF4-FFF2-40B4-BE49-F238E27FC236}">
                <a16:creationId xmlns:a16="http://schemas.microsoft.com/office/drawing/2014/main" id="{AA1592E9-8A80-4EBE-B868-A20DDC3941E4}"/>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5EC138D0-DF4C-4830-B61B-0BFC947F9254}"/>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5E066F3E-34E4-42A6-A526-7C0208898BF0}"/>
              </a:ext>
            </a:extLst>
          </p:cNvPr>
          <p:cNvSpPr/>
          <p:nvPr/>
        </p:nvSpPr>
        <p:spPr>
          <a:xfrm>
            <a:off x="403576" y="4442592"/>
            <a:ext cx="3803707"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東協印度市場開發</a:t>
            </a:r>
          </a:p>
        </p:txBody>
      </p:sp>
      <p:sp>
        <p:nvSpPr>
          <p:cNvPr id="30" name="文字方塊 29">
            <a:extLst>
              <a:ext uri="{FF2B5EF4-FFF2-40B4-BE49-F238E27FC236}">
                <a16:creationId xmlns:a16="http://schemas.microsoft.com/office/drawing/2014/main" id="{FF64B067-8914-42C4-9770-4789A8D8E608}"/>
              </a:ext>
            </a:extLst>
          </p:cNvPr>
          <p:cNvSpPr txBox="1"/>
          <p:nvPr/>
        </p:nvSpPr>
        <p:spPr>
          <a:xfrm>
            <a:off x="1496002" y="3423806"/>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31" name="Google Shape;60;p1">
            <a:extLst>
              <a:ext uri="{FF2B5EF4-FFF2-40B4-BE49-F238E27FC236}">
                <a16:creationId xmlns:a16="http://schemas.microsoft.com/office/drawing/2014/main" id="{21D70A9E-7B00-4B6B-B19C-2FDACD015548}"/>
              </a:ext>
            </a:extLst>
          </p:cNvPr>
          <p:cNvSpPr/>
          <p:nvPr/>
        </p:nvSpPr>
        <p:spPr>
          <a:xfrm>
            <a:off x="2274951" y="5395499"/>
            <a:ext cx="3520051"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如何聘用僑外生</a:t>
            </a:r>
          </a:p>
        </p:txBody>
      </p:sp>
      <p:sp>
        <p:nvSpPr>
          <p:cNvPr id="25" name="Google Shape;60;p1">
            <a:extLst>
              <a:ext uri="{FF2B5EF4-FFF2-40B4-BE49-F238E27FC236}">
                <a16:creationId xmlns:a16="http://schemas.microsoft.com/office/drawing/2014/main" id="{E9301CB5-4230-4077-837B-B1206DFCDF0E}"/>
              </a:ext>
            </a:extLst>
          </p:cNvPr>
          <p:cNvSpPr/>
          <p:nvPr/>
        </p:nvSpPr>
        <p:spPr>
          <a:xfrm>
            <a:off x="4581509" y="4442592"/>
            <a:ext cx="603917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東協印度人才媒合及簽證服務</a:t>
            </a:r>
          </a:p>
        </p:txBody>
      </p:sp>
      <p:sp>
        <p:nvSpPr>
          <p:cNvPr id="27" name="Google Shape;60;p1">
            <a:extLst>
              <a:ext uri="{FF2B5EF4-FFF2-40B4-BE49-F238E27FC236}">
                <a16:creationId xmlns:a16="http://schemas.microsoft.com/office/drawing/2014/main" id="{37A79B3E-60FB-4177-A4C1-8796002D467A}"/>
              </a:ext>
            </a:extLst>
          </p:cNvPr>
          <p:cNvSpPr/>
          <p:nvPr/>
        </p:nvSpPr>
        <p:spPr>
          <a:xfrm>
            <a:off x="6096001" y="5395499"/>
            <a:ext cx="4692970"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東協印度政府資源鏈結</a:t>
            </a:r>
          </a:p>
        </p:txBody>
      </p:sp>
      <p:cxnSp>
        <p:nvCxnSpPr>
          <p:cNvPr id="29" name="直線接點 28">
            <a:extLst>
              <a:ext uri="{FF2B5EF4-FFF2-40B4-BE49-F238E27FC236}">
                <a16:creationId xmlns:a16="http://schemas.microsoft.com/office/drawing/2014/main" id="{72D9D60C-ED53-4FFE-B6BF-32C45C532169}"/>
              </a:ext>
            </a:extLst>
          </p:cNvPr>
          <p:cNvCxnSpPr>
            <a:cxnSpLocks/>
          </p:cNvCxnSpPr>
          <p:nvPr/>
        </p:nvCxnSpPr>
        <p:spPr>
          <a:xfrm>
            <a:off x="4429219" y="3839304"/>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3BA3D6B2-15DD-4CF7-9E2D-F9FC320BF6A7}"/>
              </a:ext>
            </a:extLst>
          </p:cNvPr>
          <p:cNvCxnSpPr>
            <a:cxnSpLocks/>
          </p:cNvCxnSpPr>
          <p:nvPr/>
        </p:nvCxnSpPr>
        <p:spPr>
          <a:xfrm>
            <a:off x="186141" y="3839304"/>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4" name="圖片 3">
            <a:extLst>
              <a:ext uri="{FF2B5EF4-FFF2-40B4-BE49-F238E27FC236}">
                <a16:creationId xmlns:a16="http://schemas.microsoft.com/office/drawing/2014/main" id="{02A8908F-7A89-407A-8B16-3197D7B269F9}"/>
              </a:ext>
            </a:extLst>
          </p:cNvPr>
          <p:cNvPicPr>
            <a:picLocks noChangeAspect="1"/>
          </p:cNvPicPr>
          <p:nvPr/>
        </p:nvPicPr>
        <p:blipFill>
          <a:blip r:embed="rId5"/>
          <a:stretch>
            <a:fillRect/>
          </a:stretch>
        </p:blipFill>
        <p:spPr>
          <a:xfrm>
            <a:off x="516826" y="1546049"/>
            <a:ext cx="1555071" cy="1547237"/>
          </a:xfrm>
          <a:prstGeom prst="rect">
            <a:avLst/>
          </a:prstGeom>
        </p:spPr>
      </p:pic>
    </p:spTree>
    <p:extLst>
      <p:ext uri="{BB962C8B-B14F-4D97-AF65-F5344CB8AC3E}">
        <p14:creationId xmlns:p14="http://schemas.microsoft.com/office/powerpoint/2010/main" val="787852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603FB5CE-66B1-495D-96FC-7928E4F80D6B}"/>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5601A2E7-0E55-468E-BEEA-2393C43981A4}"/>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D8EC5C19-ABFA-44F3-8254-E15DE92D1D99}"/>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1ADF1DF8-152F-4F84-88A0-BE74E88F8625}"/>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0B72E9A8-CF14-4FF7-9E15-64B48B2470DA}"/>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0E82C1B8-AEBD-4A06-B5A3-79A5B40E5377}"/>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819F6466-0B47-43DC-B5BA-F8AADE3C095A}"/>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AD88B799-0CD3-4D0F-93BA-D4DBDE029223}"/>
              </a:ext>
            </a:extLst>
          </p:cNvPr>
          <p:cNvSpPr txBox="1"/>
          <p:nvPr/>
        </p:nvSpPr>
        <p:spPr>
          <a:xfrm>
            <a:off x="2356268" y="1314713"/>
            <a:ext cx="8780532" cy="2121093"/>
          </a:xfrm>
          <a:prstGeom prst="rect">
            <a:avLst/>
          </a:prstGeom>
          <a:noFill/>
        </p:spPr>
        <p:txBody>
          <a:bodyPr wrap="square">
            <a:spAutoFit/>
          </a:bodyPr>
          <a:lstStyle/>
          <a:p>
            <a:pPr>
              <a:lnSpc>
                <a:spcPct val="150000"/>
              </a:lnSpc>
            </a:pPr>
            <a:r>
              <a:rPr lang="zh-TW" altLang="en-US" b="1" dirty="0">
                <a:solidFill>
                  <a:srgbClr val="456244"/>
                </a:solidFill>
                <a:latin typeface="Microsoft YaHei" panose="020B0503020204020204" pitchFamily="34" charset="-122"/>
                <a:ea typeface="Microsoft YaHei" panose="020B0503020204020204" pitchFamily="34" charset="-122"/>
              </a:rPr>
              <a:t>資育股份有限公司成立於 </a:t>
            </a:r>
            <a:r>
              <a:rPr lang="en-US" altLang="zh-TW" b="1" dirty="0">
                <a:solidFill>
                  <a:srgbClr val="456244"/>
                </a:solidFill>
                <a:latin typeface="Microsoft YaHei" panose="020B0503020204020204" pitchFamily="34" charset="-122"/>
                <a:ea typeface="Microsoft YaHei" panose="020B0503020204020204" pitchFamily="34" charset="-122"/>
              </a:rPr>
              <a:t>2014 </a:t>
            </a:r>
            <a:r>
              <a:rPr lang="zh-TW" altLang="en-US" b="1" dirty="0">
                <a:solidFill>
                  <a:srgbClr val="456244"/>
                </a:solidFill>
                <a:latin typeface="Microsoft YaHei" panose="020B0503020204020204" pitchFamily="34" charset="-122"/>
                <a:ea typeface="Microsoft YaHei" panose="020B0503020204020204" pitchFamily="34" charset="-122"/>
              </a:rPr>
              <a:t>年，源自財團法人資訊工業策進會團隊，以承接政府委託營運南港軟體育成中心與高雄軟體育成中心為起點，延續創業育成政策與資源整合使命。公司定位為 台灣新創企業與政府、國內外大型企業及創投的媒合發展平台，致力於打造優質創業育成環境、協助新創團隊健全成長，並促進國內外資源連結及市場商機拓展。</a:t>
            </a:r>
            <a:endParaRPr lang="zh-TW" altLang="en-US" dirty="0">
              <a:solidFill>
                <a:srgbClr val="456244"/>
              </a:solidFill>
              <a:latin typeface="Microsoft YaHei" panose="020B0503020204020204" pitchFamily="34" charset="-122"/>
              <a:ea typeface="Microsoft YaHei" panose="020B0503020204020204" pitchFamily="34" charset="-122"/>
            </a:endParaRPr>
          </a:p>
        </p:txBody>
      </p:sp>
      <p:sp>
        <p:nvSpPr>
          <p:cNvPr id="16" name="文字方塊 15">
            <a:extLst>
              <a:ext uri="{FF2B5EF4-FFF2-40B4-BE49-F238E27FC236}">
                <a16:creationId xmlns:a16="http://schemas.microsoft.com/office/drawing/2014/main" id="{AA1592E9-8A80-4EBE-B868-A20DDC3941E4}"/>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5EC138D0-DF4C-4830-B61B-0BFC947F9254}"/>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5E066F3E-34E4-42A6-A526-7C0208898BF0}"/>
              </a:ext>
            </a:extLst>
          </p:cNvPr>
          <p:cNvSpPr/>
          <p:nvPr/>
        </p:nvSpPr>
        <p:spPr>
          <a:xfrm>
            <a:off x="1088332"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空間租賃</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FF64B067-8914-42C4-9770-4789A8D8E608}"/>
              </a:ext>
            </a:extLst>
          </p:cNvPr>
          <p:cNvSpPr txBox="1"/>
          <p:nvPr/>
        </p:nvSpPr>
        <p:spPr>
          <a:xfrm>
            <a:off x="1496002" y="3423806"/>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31" name="Google Shape;60;p1">
            <a:extLst>
              <a:ext uri="{FF2B5EF4-FFF2-40B4-BE49-F238E27FC236}">
                <a16:creationId xmlns:a16="http://schemas.microsoft.com/office/drawing/2014/main" id="{21D70A9E-7B00-4B6B-B19C-2FDACD015548}"/>
              </a:ext>
            </a:extLst>
          </p:cNvPr>
          <p:cNvSpPr/>
          <p:nvPr/>
        </p:nvSpPr>
        <p:spPr>
          <a:xfrm>
            <a:off x="5604983" y="5395500"/>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國際拓銷</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4" name="Google Shape;60;p1">
            <a:extLst>
              <a:ext uri="{FF2B5EF4-FFF2-40B4-BE49-F238E27FC236}">
                <a16:creationId xmlns:a16="http://schemas.microsoft.com/office/drawing/2014/main" id="{3CD46054-F56E-4D04-ADE9-8C91A518630C}"/>
              </a:ext>
            </a:extLst>
          </p:cNvPr>
          <p:cNvSpPr/>
          <p:nvPr/>
        </p:nvSpPr>
        <p:spPr>
          <a:xfrm>
            <a:off x="3608043"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資金媒合</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5" name="Google Shape;60;p1">
            <a:extLst>
              <a:ext uri="{FF2B5EF4-FFF2-40B4-BE49-F238E27FC236}">
                <a16:creationId xmlns:a16="http://schemas.microsoft.com/office/drawing/2014/main" id="{E9301CB5-4230-4077-837B-B1206DFCDF0E}"/>
              </a:ext>
            </a:extLst>
          </p:cNvPr>
          <p:cNvSpPr/>
          <p:nvPr/>
        </p:nvSpPr>
        <p:spPr>
          <a:xfrm>
            <a:off x="8170242" y="539549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企業媒合</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6" name="Google Shape;60;p1">
            <a:extLst>
              <a:ext uri="{FF2B5EF4-FFF2-40B4-BE49-F238E27FC236}">
                <a16:creationId xmlns:a16="http://schemas.microsoft.com/office/drawing/2014/main" id="{8C769375-003F-4333-BA7A-AB8D7493108C}"/>
              </a:ext>
            </a:extLst>
          </p:cNvPr>
          <p:cNvSpPr/>
          <p:nvPr/>
        </p:nvSpPr>
        <p:spPr>
          <a:xfrm>
            <a:off x="6127754" y="4442592"/>
            <a:ext cx="3229606"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政府資源連結</a:t>
            </a:r>
          </a:p>
          <a:p>
            <a:pPr algn="ct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72D9D60C-ED53-4FFE-B6BF-32C45C532169}"/>
              </a:ext>
            </a:extLst>
          </p:cNvPr>
          <p:cNvCxnSpPr>
            <a:cxnSpLocks/>
          </p:cNvCxnSpPr>
          <p:nvPr/>
        </p:nvCxnSpPr>
        <p:spPr>
          <a:xfrm>
            <a:off x="4429219" y="3839304"/>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3BA3D6B2-15DD-4CF7-9E2D-F9FC320BF6A7}"/>
              </a:ext>
            </a:extLst>
          </p:cNvPr>
          <p:cNvCxnSpPr>
            <a:cxnSpLocks/>
          </p:cNvCxnSpPr>
          <p:nvPr/>
        </p:nvCxnSpPr>
        <p:spPr>
          <a:xfrm>
            <a:off x="186141" y="3839304"/>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3" name="圖片 2">
            <a:extLst>
              <a:ext uri="{FF2B5EF4-FFF2-40B4-BE49-F238E27FC236}">
                <a16:creationId xmlns:a16="http://schemas.microsoft.com/office/drawing/2014/main" id="{49CC0115-B5D3-42D4-8E17-0DFB135B37BE}"/>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541373" y="1591816"/>
            <a:ext cx="1596405" cy="1575120"/>
          </a:xfrm>
          <a:prstGeom prst="rect">
            <a:avLst/>
          </a:prstGeom>
        </p:spPr>
      </p:pic>
    </p:spTree>
    <p:extLst>
      <p:ext uri="{BB962C8B-B14F-4D97-AF65-F5344CB8AC3E}">
        <p14:creationId xmlns:p14="http://schemas.microsoft.com/office/powerpoint/2010/main" val="26057422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603FB5CE-66B1-495D-96FC-7928E4F80D6B}"/>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5601A2E7-0E55-468E-BEEA-2393C43981A4}"/>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D8EC5C19-ABFA-44F3-8254-E15DE92D1D99}"/>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1ADF1DF8-152F-4F84-88A0-BE74E88F8625}"/>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0B72E9A8-CF14-4FF7-9E15-64B48B2470DA}"/>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0E82C1B8-AEBD-4A06-B5A3-79A5B40E5377}"/>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819F6466-0B47-43DC-B5BA-F8AADE3C095A}"/>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AD88B799-0CD3-4D0F-93BA-D4DBDE029223}"/>
              </a:ext>
            </a:extLst>
          </p:cNvPr>
          <p:cNvSpPr txBox="1"/>
          <p:nvPr/>
        </p:nvSpPr>
        <p:spPr>
          <a:xfrm>
            <a:off x="2349930" y="1477589"/>
            <a:ext cx="8780532" cy="1705595"/>
          </a:xfrm>
          <a:prstGeom prst="rect">
            <a:avLst/>
          </a:prstGeom>
          <a:noFill/>
        </p:spPr>
        <p:txBody>
          <a:bodyPr wrap="square">
            <a:spAutoFit/>
          </a:bodyPr>
          <a:lstStyle/>
          <a:p>
            <a:pPr>
              <a:lnSpc>
                <a:spcPct val="150000"/>
              </a:lnSpc>
            </a:pPr>
            <a:r>
              <a:rPr lang="zh-TW" altLang="en-US" b="1" dirty="0">
                <a:solidFill>
                  <a:srgbClr val="456244"/>
                </a:solidFill>
                <a:latin typeface="Microsoft YaHei" panose="020B0503020204020204" pitchFamily="34" charset="-122"/>
                <a:ea typeface="Microsoft YaHei" panose="020B0503020204020204" pitchFamily="34" charset="-122"/>
              </a:rPr>
              <a:t>博大國際智權股份有限公司成立於</a:t>
            </a:r>
            <a:r>
              <a:rPr lang="en-US" altLang="zh-TW" b="1" dirty="0">
                <a:solidFill>
                  <a:srgbClr val="456244"/>
                </a:solidFill>
                <a:latin typeface="Microsoft YaHei" panose="020B0503020204020204" pitchFamily="34" charset="-122"/>
                <a:ea typeface="Microsoft YaHei" panose="020B0503020204020204" pitchFamily="34" charset="-122"/>
              </a:rPr>
              <a:t>2006</a:t>
            </a:r>
            <a:r>
              <a:rPr lang="zh-TW" altLang="en-US" b="1" dirty="0">
                <a:solidFill>
                  <a:srgbClr val="456244"/>
                </a:solidFill>
                <a:latin typeface="Microsoft YaHei" panose="020B0503020204020204" pitchFamily="34" charset="-122"/>
                <a:ea typeface="Microsoft YaHei" panose="020B0503020204020204" pitchFamily="34" charset="-122"/>
              </a:rPr>
              <a:t>年以智慧財產管理顧問服務、專利技術交易以及專利地圖情報蒐集為主的綜合型智慧財產服務公司。公司擁有多位獲得智慧財產管理專業認證人員，可提供智慧財產管理諮詢顧問服務，主要在彌補中小企業對智慧財產資源不足的部分，以最符合經濟成本的概念發揮公司最大的效益。</a:t>
            </a:r>
            <a:endParaRPr lang="zh-TW" altLang="en-US" dirty="0">
              <a:solidFill>
                <a:srgbClr val="456244"/>
              </a:solidFill>
              <a:latin typeface="Microsoft YaHei" panose="020B0503020204020204" pitchFamily="34" charset="-122"/>
              <a:ea typeface="Microsoft YaHei" panose="020B0503020204020204" pitchFamily="34" charset="-122"/>
            </a:endParaRPr>
          </a:p>
        </p:txBody>
      </p:sp>
      <p:sp>
        <p:nvSpPr>
          <p:cNvPr id="16" name="文字方塊 15">
            <a:extLst>
              <a:ext uri="{FF2B5EF4-FFF2-40B4-BE49-F238E27FC236}">
                <a16:creationId xmlns:a16="http://schemas.microsoft.com/office/drawing/2014/main" id="{AA1592E9-8A80-4EBE-B868-A20DDC3941E4}"/>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5EC138D0-DF4C-4830-B61B-0BFC947F9254}"/>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5E066F3E-34E4-42A6-A526-7C0208898BF0}"/>
              </a:ext>
            </a:extLst>
          </p:cNvPr>
          <p:cNvSpPr/>
          <p:nvPr/>
        </p:nvSpPr>
        <p:spPr>
          <a:xfrm>
            <a:off x="783531" y="4442592"/>
            <a:ext cx="5269625" cy="937817"/>
          </a:xfrm>
          <a:prstGeom prst="roundRect">
            <a:avLst/>
          </a:prstGeom>
          <a:solidFill>
            <a:srgbClr val="567550"/>
          </a:solidFill>
          <a:ln>
            <a:noFill/>
          </a:ln>
        </p:spPr>
        <p:txBody>
          <a:bodyPr spcFirstLastPara="1" wrap="square" lIns="0" tIns="0" rIns="0" bIns="0" anchor="t" anchorCtr="0">
            <a:noAutofit/>
          </a:bodyPr>
          <a:lstStyle/>
          <a:p>
            <a:pPr algn="ctr"/>
            <a:r>
              <a:rPr lang="zh-TW" altLang="en-US" sz="4400" b="1" dirty="0">
                <a:solidFill>
                  <a:schemeClr val="bg1"/>
                </a:solidFill>
                <a:latin typeface="Microsoft YaHei" panose="020B0503020204020204" pitchFamily="34" charset="-122"/>
                <a:ea typeface="Microsoft YaHei" panose="020B0503020204020204" pitchFamily="34" charset="-122"/>
              </a:rPr>
              <a:t>智慧財產諮詢服務 </a:t>
            </a:r>
            <a:endParaRPr lang="en-US" altLang="zh-TW" sz="44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FF64B067-8914-42C4-9770-4789A8D8E608}"/>
              </a:ext>
            </a:extLst>
          </p:cNvPr>
          <p:cNvSpPr txBox="1"/>
          <p:nvPr/>
        </p:nvSpPr>
        <p:spPr>
          <a:xfrm>
            <a:off x="1496002" y="3423806"/>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26" name="Google Shape;60;p1">
            <a:extLst>
              <a:ext uri="{FF2B5EF4-FFF2-40B4-BE49-F238E27FC236}">
                <a16:creationId xmlns:a16="http://schemas.microsoft.com/office/drawing/2014/main" id="{8C769375-003F-4333-BA7A-AB8D7493108C}"/>
              </a:ext>
            </a:extLst>
          </p:cNvPr>
          <p:cNvSpPr/>
          <p:nvPr/>
        </p:nvSpPr>
        <p:spPr>
          <a:xfrm>
            <a:off x="6560393" y="4429594"/>
            <a:ext cx="3637131" cy="914731"/>
          </a:xfrm>
          <a:prstGeom prst="roundRect">
            <a:avLst/>
          </a:prstGeom>
          <a:solidFill>
            <a:srgbClr val="567550"/>
          </a:solidFill>
          <a:ln>
            <a:noFill/>
          </a:ln>
        </p:spPr>
        <p:txBody>
          <a:bodyPr spcFirstLastPara="1" wrap="square" lIns="0" tIns="0" rIns="0" bIns="0" anchor="t" anchorCtr="0">
            <a:noAutofit/>
          </a:bodyPr>
          <a:lstStyle/>
          <a:p>
            <a:pPr algn="ctr"/>
            <a:r>
              <a:rPr lang="zh-TW" altLang="en-US" sz="4400" b="1" dirty="0">
                <a:solidFill>
                  <a:schemeClr val="bg1"/>
                </a:solidFill>
                <a:latin typeface="Microsoft YaHei" panose="020B0503020204020204" pitchFamily="34" charset="-122"/>
                <a:ea typeface="Microsoft YaHei" panose="020B0503020204020204" pitchFamily="34" charset="-122"/>
              </a:rPr>
              <a:t>創新管理</a:t>
            </a:r>
            <a:endParaRPr lang="en-US" altLang="zh-TW" sz="4400" b="1" dirty="0">
              <a:solidFill>
                <a:schemeClr val="bg1"/>
              </a:solidFill>
              <a:latin typeface="Microsoft YaHei" panose="020B0503020204020204" pitchFamily="34" charset="-122"/>
              <a:ea typeface="Microsoft YaHei" panose="020B0503020204020204" pitchFamily="34" charset="-122"/>
            </a:endParaRPr>
          </a:p>
          <a:p>
            <a:pPr algn="ctr"/>
            <a:endParaRPr lang="en-US" altLang="zh-TW" sz="44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72D9D60C-ED53-4FFE-B6BF-32C45C532169}"/>
              </a:ext>
            </a:extLst>
          </p:cNvPr>
          <p:cNvCxnSpPr>
            <a:cxnSpLocks/>
          </p:cNvCxnSpPr>
          <p:nvPr/>
        </p:nvCxnSpPr>
        <p:spPr>
          <a:xfrm>
            <a:off x="4429219" y="3839304"/>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3BA3D6B2-15DD-4CF7-9E2D-F9FC320BF6A7}"/>
              </a:ext>
            </a:extLst>
          </p:cNvPr>
          <p:cNvCxnSpPr>
            <a:cxnSpLocks/>
          </p:cNvCxnSpPr>
          <p:nvPr/>
        </p:nvCxnSpPr>
        <p:spPr>
          <a:xfrm>
            <a:off x="186141" y="3839304"/>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4" name="圖片 3">
            <a:extLst>
              <a:ext uri="{FF2B5EF4-FFF2-40B4-BE49-F238E27FC236}">
                <a16:creationId xmlns:a16="http://schemas.microsoft.com/office/drawing/2014/main" id="{D85A53CB-2E7E-4E8B-B351-D5E497682234}"/>
              </a:ext>
            </a:extLst>
          </p:cNvPr>
          <p:cNvPicPr>
            <a:picLocks noChangeAspect="1"/>
          </p:cNvPicPr>
          <p:nvPr/>
        </p:nvPicPr>
        <p:blipFill rotWithShape="1">
          <a:blip r:embed="rId5"/>
          <a:srcRect r="2092"/>
          <a:stretch/>
        </p:blipFill>
        <p:spPr>
          <a:xfrm>
            <a:off x="442729" y="1581106"/>
            <a:ext cx="1502414" cy="1556872"/>
          </a:xfrm>
          <a:prstGeom prst="ellipse">
            <a:avLst/>
          </a:prstGeom>
        </p:spPr>
      </p:pic>
    </p:spTree>
    <p:extLst>
      <p:ext uri="{BB962C8B-B14F-4D97-AF65-F5344CB8AC3E}">
        <p14:creationId xmlns:p14="http://schemas.microsoft.com/office/powerpoint/2010/main" val="18368338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603FB5CE-66B1-495D-96FC-7928E4F80D6B}"/>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5601A2E7-0E55-468E-BEEA-2393C43981A4}"/>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D8EC5C19-ABFA-44F3-8254-E15DE92D1D99}"/>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1ADF1DF8-152F-4F84-88A0-BE74E88F8625}"/>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0B72E9A8-CF14-4FF7-9E15-64B48B2470DA}"/>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0E82C1B8-AEBD-4A06-B5A3-79A5B40E5377}"/>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819F6466-0B47-43DC-B5BA-F8AADE3C095A}"/>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AD88B799-0CD3-4D0F-93BA-D4DBDE029223}"/>
              </a:ext>
            </a:extLst>
          </p:cNvPr>
          <p:cNvSpPr txBox="1"/>
          <p:nvPr/>
        </p:nvSpPr>
        <p:spPr>
          <a:xfrm>
            <a:off x="3761325" y="1241318"/>
            <a:ext cx="7385273" cy="2120902"/>
          </a:xfrm>
          <a:prstGeom prst="rect">
            <a:avLst/>
          </a:prstGeom>
          <a:noFill/>
        </p:spPr>
        <p:txBody>
          <a:bodyPr wrap="square">
            <a:spAutoFit/>
          </a:bodyPr>
          <a:lstStyle/>
          <a:p>
            <a:pPr>
              <a:lnSpc>
                <a:spcPct val="150000"/>
              </a:lnSpc>
            </a:pPr>
            <a:r>
              <a:rPr lang="zh-TW" altLang="en-US" b="1" dirty="0">
                <a:solidFill>
                  <a:srgbClr val="456244"/>
                </a:solidFill>
                <a:latin typeface="Microsoft YaHei" panose="020B0503020204020204" pitchFamily="34" charset="-122"/>
                <a:ea typeface="Microsoft YaHei" panose="020B0503020204020204" pitchFamily="34" charset="-122"/>
              </a:rPr>
              <a:t>活水影響力投資（</a:t>
            </a:r>
            <a:r>
              <a:rPr lang="en-US" altLang="zh-TW" b="1" dirty="0">
                <a:solidFill>
                  <a:srgbClr val="456244"/>
                </a:solidFill>
                <a:latin typeface="Microsoft YaHei" panose="020B0503020204020204" pitchFamily="34" charset="-122"/>
                <a:ea typeface="Microsoft YaHei" panose="020B0503020204020204" pitchFamily="34" charset="-122"/>
              </a:rPr>
              <a:t>B Current Impact Investment</a:t>
            </a:r>
            <a:r>
              <a:rPr lang="zh-TW" altLang="en-US" b="1" dirty="0">
                <a:solidFill>
                  <a:srgbClr val="456244"/>
                </a:solidFill>
                <a:latin typeface="Microsoft YaHei" panose="020B0503020204020204" pitchFamily="34" charset="-122"/>
                <a:ea typeface="Microsoft YaHei" panose="020B0503020204020204" pitchFamily="34" charset="-122"/>
              </a:rPr>
              <a:t>）成立於 </a:t>
            </a:r>
            <a:r>
              <a:rPr lang="en-US" altLang="zh-TW" b="1" dirty="0">
                <a:solidFill>
                  <a:srgbClr val="456244"/>
                </a:solidFill>
                <a:latin typeface="Microsoft YaHei" panose="020B0503020204020204" pitchFamily="34" charset="-122"/>
                <a:ea typeface="Microsoft YaHei" panose="020B0503020204020204" pitchFamily="34" charset="-122"/>
              </a:rPr>
              <a:t>2014 </a:t>
            </a:r>
            <a:r>
              <a:rPr lang="zh-TW" altLang="en-US" b="1" dirty="0">
                <a:solidFill>
                  <a:srgbClr val="456244"/>
                </a:solidFill>
                <a:latin typeface="Microsoft YaHei" panose="020B0503020204020204" pitchFamily="34" charset="-122"/>
                <a:ea typeface="Microsoft YaHei" panose="020B0503020204020204" pitchFamily="34" charset="-122"/>
              </a:rPr>
              <a:t>年，是台灣首家 </a:t>
            </a:r>
            <a:r>
              <a:rPr lang="en-US" altLang="zh-TW" b="1" dirty="0">
                <a:solidFill>
                  <a:srgbClr val="456244"/>
                </a:solidFill>
                <a:latin typeface="Microsoft YaHei" panose="020B0503020204020204" pitchFamily="34" charset="-122"/>
                <a:ea typeface="Microsoft YaHei" panose="020B0503020204020204" pitchFamily="34" charset="-122"/>
              </a:rPr>
              <a:t>100% </a:t>
            </a:r>
            <a:r>
              <a:rPr lang="zh-TW" altLang="en-US" b="1" dirty="0">
                <a:solidFill>
                  <a:srgbClr val="456244"/>
                </a:solidFill>
                <a:latin typeface="Microsoft YaHei" panose="020B0503020204020204" pitchFamily="34" charset="-122"/>
                <a:ea typeface="Microsoft YaHei" panose="020B0503020204020204" pitchFamily="34" charset="-122"/>
              </a:rPr>
              <a:t>專注影響力投資的創投基金。我們以「投資＋陪跑」陪伴具使命的新創團隊成長，串聯創業家與投資人，協助強化規模化與永續經營能力，進而擴大社會與環境影響力，與夥伴共築影響力生態系。主要投資聚焦四大面向：環境科技、永續食農、健康生活與包容經濟。</a:t>
            </a:r>
            <a:endParaRPr lang="zh-TW" altLang="en-US" dirty="0">
              <a:solidFill>
                <a:srgbClr val="456244"/>
              </a:solidFill>
              <a:latin typeface="Microsoft YaHei" panose="020B0503020204020204" pitchFamily="34" charset="-122"/>
              <a:ea typeface="Microsoft YaHei" panose="020B0503020204020204" pitchFamily="34" charset="-122"/>
            </a:endParaRPr>
          </a:p>
        </p:txBody>
      </p:sp>
      <p:sp>
        <p:nvSpPr>
          <p:cNvPr id="16" name="文字方塊 15">
            <a:extLst>
              <a:ext uri="{FF2B5EF4-FFF2-40B4-BE49-F238E27FC236}">
                <a16:creationId xmlns:a16="http://schemas.microsoft.com/office/drawing/2014/main" id="{AA1592E9-8A80-4EBE-B868-A20DDC3941E4}"/>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5EC138D0-DF4C-4830-B61B-0BFC947F9254}"/>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5E066F3E-34E4-42A6-A526-7C0208898BF0}"/>
              </a:ext>
            </a:extLst>
          </p:cNvPr>
          <p:cNvSpPr/>
          <p:nvPr/>
        </p:nvSpPr>
        <p:spPr>
          <a:xfrm>
            <a:off x="794134" y="466700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環境科技</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FF64B067-8914-42C4-9770-4789A8D8E608}"/>
              </a:ext>
            </a:extLst>
          </p:cNvPr>
          <p:cNvSpPr txBox="1"/>
          <p:nvPr/>
        </p:nvSpPr>
        <p:spPr>
          <a:xfrm>
            <a:off x="1496002" y="3423806"/>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24" name="Google Shape;60;p1">
            <a:extLst>
              <a:ext uri="{FF2B5EF4-FFF2-40B4-BE49-F238E27FC236}">
                <a16:creationId xmlns:a16="http://schemas.microsoft.com/office/drawing/2014/main" id="{3CD46054-F56E-4D04-ADE9-8C91A518630C}"/>
              </a:ext>
            </a:extLst>
          </p:cNvPr>
          <p:cNvSpPr/>
          <p:nvPr/>
        </p:nvSpPr>
        <p:spPr>
          <a:xfrm>
            <a:off x="3313845" y="466700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永續食農</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6" name="Google Shape;60;p1">
            <a:extLst>
              <a:ext uri="{FF2B5EF4-FFF2-40B4-BE49-F238E27FC236}">
                <a16:creationId xmlns:a16="http://schemas.microsoft.com/office/drawing/2014/main" id="{8C769375-003F-4333-BA7A-AB8D7493108C}"/>
              </a:ext>
            </a:extLst>
          </p:cNvPr>
          <p:cNvSpPr/>
          <p:nvPr/>
        </p:nvSpPr>
        <p:spPr>
          <a:xfrm>
            <a:off x="5833556" y="466700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健康生活</a:t>
            </a:r>
            <a:endParaRPr lang="en-US" altLang="zh-TW" sz="3200" b="1" dirty="0">
              <a:solidFill>
                <a:schemeClr val="bg1"/>
              </a:solidFill>
              <a:latin typeface="Microsoft YaHei" panose="020B0503020204020204" pitchFamily="34" charset="-122"/>
              <a:ea typeface="Microsoft YaHei" panose="020B0503020204020204" pitchFamily="34" charset="-122"/>
            </a:endParaRPr>
          </a:p>
          <a:p>
            <a:pPr algn="ct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7" name="Google Shape;60;p1">
            <a:extLst>
              <a:ext uri="{FF2B5EF4-FFF2-40B4-BE49-F238E27FC236}">
                <a16:creationId xmlns:a16="http://schemas.microsoft.com/office/drawing/2014/main" id="{37A79B3E-60FB-4177-A4C1-8796002D467A}"/>
              </a:ext>
            </a:extLst>
          </p:cNvPr>
          <p:cNvSpPr/>
          <p:nvPr/>
        </p:nvSpPr>
        <p:spPr>
          <a:xfrm>
            <a:off x="8353267" y="466700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包容經濟</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72D9D60C-ED53-4FFE-B6BF-32C45C532169}"/>
              </a:ext>
            </a:extLst>
          </p:cNvPr>
          <p:cNvCxnSpPr>
            <a:cxnSpLocks/>
          </p:cNvCxnSpPr>
          <p:nvPr/>
        </p:nvCxnSpPr>
        <p:spPr>
          <a:xfrm>
            <a:off x="4429219" y="3839304"/>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3BA3D6B2-15DD-4CF7-9E2D-F9FC320BF6A7}"/>
              </a:ext>
            </a:extLst>
          </p:cNvPr>
          <p:cNvCxnSpPr>
            <a:cxnSpLocks/>
          </p:cNvCxnSpPr>
          <p:nvPr/>
        </p:nvCxnSpPr>
        <p:spPr>
          <a:xfrm>
            <a:off x="186141" y="3839304"/>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3" name="圖片 2">
            <a:extLst>
              <a:ext uri="{FF2B5EF4-FFF2-40B4-BE49-F238E27FC236}">
                <a16:creationId xmlns:a16="http://schemas.microsoft.com/office/drawing/2014/main" id="{BF8AEE2C-4705-40A0-9AAD-A4B6C01543A9}"/>
              </a:ext>
            </a:extLst>
          </p:cNvPr>
          <p:cNvPicPr>
            <a:picLocks noChangeAspect="1"/>
          </p:cNvPicPr>
          <p:nvPr/>
        </p:nvPicPr>
        <p:blipFill rotWithShape="1">
          <a:blip r:embed="rId5">
            <a:clrChange>
              <a:clrFrom>
                <a:srgbClr val="FFFFFF"/>
              </a:clrFrom>
              <a:clrTo>
                <a:srgbClr val="FFFFFF">
                  <a:alpha val="0"/>
                </a:srgbClr>
              </a:clrTo>
            </a:clrChange>
          </a:blip>
          <a:srcRect l="-1" r="564"/>
          <a:stretch/>
        </p:blipFill>
        <p:spPr>
          <a:xfrm>
            <a:off x="186141" y="1937132"/>
            <a:ext cx="3246671" cy="960320"/>
          </a:xfrm>
          <a:prstGeom prst="rect">
            <a:avLst/>
          </a:prstGeom>
        </p:spPr>
      </p:pic>
    </p:spTree>
    <p:extLst>
      <p:ext uri="{BB962C8B-B14F-4D97-AF65-F5344CB8AC3E}">
        <p14:creationId xmlns:p14="http://schemas.microsoft.com/office/powerpoint/2010/main" val="40511514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603FB5CE-66B1-495D-96FC-7928E4F80D6B}"/>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5601A2E7-0E55-468E-BEEA-2393C43981A4}"/>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D8EC5C19-ABFA-44F3-8254-E15DE92D1D99}"/>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1ADF1DF8-152F-4F84-88A0-BE74E88F8625}"/>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0B72E9A8-CF14-4FF7-9E15-64B48B2470DA}"/>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0E82C1B8-AEBD-4A06-B5A3-79A5B40E5377}"/>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819F6466-0B47-43DC-B5BA-F8AADE3C095A}"/>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AD88B799-0CD3-4D0F-93BA-D4DBDE029223}"/>
              </a:ext>
            </a:extLst>
          </p:cNvPr>
          <p:cNvSpPr txBox="1"/>
          <p:nvPr/>
        </p:nvSpPr>
        <p:spPr>
          <a:xfrm>
            <a:off x="3903302" y="1416567"/>
            <a:ext cx="7168400" cy="2121093"/>
          </a:xfrm>
          <a:prstGeom prst="rect">
            <a:avLst/>
          </a:prstGeom>
          <a:noFill/>
        </p:spPr>
        <p:txBody>
          <a:bodyPr wrap="square">
            <a:spAutoFit/>
          </a:bodyPr>
          <a:lstStyle/>
          <a:p>
            <a:pPr>
              <a:lnSpc>
                <a:spcPct val="150000"/>
              </a:lnSpc>
            </a:pPr>
            <a:r>
              <a:rPr lang="zh-TW" altLang="en-US" b="1" dirty="0">
                <a:solidFill>
                  <a:srgbClr val="456244"/>
                </a:solidFill>
                <a:latin typeface="Microsoft YaHei" panose="020B0503020204020204" pitchFamily="34" charset="-122"/>
                <a:ea typeface="Microsoft YaHei" panose="020B0503020204020204" pitchFamily="34" charset="-122"/>
              </a:rPr>
              <a:t>酷日國際有限公司是日本知名創業推進機構 </a:t>
            </a:r>
            <a:r>
              <a:rPr lang="en-US" altLang="zh-TW" b="1" dirty="0" err="1">
                <a:solidFill>
                  <a:srgbClr val="456244"/>
                </a:solidFill>
                <a:latin typeface="Microsoft YaHei" panose="020B0503020204020204" pitchFamily="34" charset="-122"/>
                <a:ea typeface="Microsoft YaHei" panose="020B0503020204020204" pitchFamily="34" charset="-122"/>
              </a:rPr>
              <a:t>Creww</a:t>
            </a:r>
            <a:r>
              <a:rPr lang="en-US" altLang="zh-TW" b="1" dirty="0">
                <a:solidFill>
                  <a:srgbClr val="456244"/>
                </a:solidFill>
                <a:latin typeface="Microsoft YaHei" panose="020B0503020204020204" pitchFamily="34" charset="-122"/>
                <a:ea typeface="Microsoft YaHei" panose="020B0503020204020204" pitchFamily="34" charset="-122"/>
              </a:rPr>
              <a:t> Inc. </a:t>
            </a:r>
            <a:r>
              <a:rPr lang="zh-TW" altLang="en-US" b="1" dirty="0">
                <a:solidFill>
                  <a:srgbClr val="456244"/>
                </a:solidFill>
                <a:latin typeface="Microsoft YaHei" panose="020B0503020204020204" pitchFamily="34" charset="-122"/>
                <a:ea typeface="Microsoft YaHei" panose="020B0503020204020204" pitchFamily="34" charset="-122"/>
              </a:rPr>
              <a:t>在台灣的據點，致力於促進台灣與國際間新創生態系的交流與合作，透過串聯政府資源、企業需求與創新團隊能量，打造開放式創新平台。公司核心業務包括新創加速、國際合作、創業交流活動與跨國加速計畫，協助台灣新創團隊進軍海外市場，並促成實質商業合作機會。</a:t>
            </a:r>
            <a:endParaRPr lang="zh-TW" altLang="en-US" dirty="0">
              <a:solidFill>
                <a:srgbClr val="456244"/>
              </a:solidFill>
              <a:latin typeface="Microsoft YaHei" panose="020B0503020204020204" pitchFamily="34" charset="-122"/>
              <a:ea typeface="Microsoft YaHei" panose="020B0503020204020204" pitchFamily="34" charset="-122"/>
            </a:endParaRPr>
          </a:p>
        </p:txBody>
      </p:sp>
      <p:sp>
        <p:nvSpPr>
          <p:cNvPr id="16" name="文字方塊 15">
            <a:extLst>
              <a:ext uri="{FF2B5EF4-FFF2-40B4-BE49-F238E27FC236}">
                <a16:creationId xmlns:a16="http://schemas.microsoft.com/office/drawing/2014/main" id="{AA1592E9-8A80-4EBE-B868-A20DDC3941E4}"/>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5EC138D0-DF4C-4830-B61B-0BFC947F9254}"/>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5E066F3E-34E4-42A6-A526-7C0208898BF0}"/>
              </a:ext>
            </a:extLst>
          </p:cNvPr>
          <p:cNvSpPr/>
          <p:nvPr/>
        </p:nvSpPr>
        <p:spPr>
          <a:xfrm>
            <a:off x="783532" y="4443484"/>
            <a:ext cx="3119770"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國際創新交流</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FF64B067-8914-42C4-9770-4789A8D8E608}"/>
              </a:ext>
            </a:extLst>
          </p:cNvPr>
          <p:cNvSpPr txBox="1"/>
          <p:nvPr/>
        </p:nvSpPr>
        <p:spPr>
          <a:xfrm>
            <a:off x="1496002" y="3423806"/>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26" name="Google Shape;60;p1">
            <a:extLst>
              <a:ext uri="{FF2B5EF4-FFF2-40B4-BE49-F238E27FC236}">
                <a16:creationId xmlns:a16="http://schemas.microsoft.com/office/drawing/2014/main" id="{8C769375-003F-4333-BA7A-AB8D7493108C}"/>
              </a:ext>
            </a:extLst>
          </p:cNvPr>
          <p:cNvSpPr/>
          <p:nvPr/>
        </p:nvSpPr>
        <p:spPr>
          <a:xfrm>
            <a:off x="4349336" y="4443484"/>
            <a:ext cx="3119770"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政府資源串聯</a:t>
            </a:r>
            <a:endParaRPr lang="en-US" altLang="zh-TW" sz="3200" b="1" dirty="0">
              <a:solidFill>
                <a:schemeClr val="bg1"/>
              </a:solidFill>
              <a:latin typeface="Microsoft YaHei" panose="020B0503020204020204" pitchFamily="34" charset="-122"/>
              <a:ea typeface="Microsoft YaHei" panose="020B0503020204020204" pitchFamily="34" charset="-122"/>
            </a:endParaRPr>
          </a:p>
          <a:p>
            <a:pPr algn="ctr"/>
            <a:endParaRPr lang="en-US" altLang="zh-TW" sz="3200" b="1" dirty="0">
              <a:solidFill>
                <a:schemeClr val="bg1"/>
              </a:solidFill>
              <a:latin typeface="Microsoft YaHei" panose="020B0503020204020204" pitchFamily="34" charset="-122"/>
              <a:ea typeface="Microsoft YaHei" panose="020B0503020204020204" pitchFamily="34" charset="-122"/>
            </a:endParaRPr>
          </a:p>
          <a:p>
            <a:pPr algn="ct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72D9D60C-ED53-4FFE-B6BF-32C45C532169}"/>
              </a:ext>
            </a:extLst>
          </p:cNvPr>
          <p:cNvCxnSpPr>
            <a:cxnSpLocks/>
          </p:cNvCxnSpPr>
          <p:nvPr/>
        </p:nvCxnSpPr>
        <p:spPr>
          <a:xfrm>
            <a:off x="4429219" y="3839304"/>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3BA3D6B2-15DD-4CF7-9E2D-F9FC320BF6A7}"/>
              </a:ext>
            </a:extLst>
          </p:cNvPr>
          <p:cNvCxnSpPr>
            <a:cxnSpLocks/>
          </p:cNvCxnSpPr>
          <p:nvPr/>
        </p:nvCxnSpPr>
        <p:spPr>
          <a:xfrm>
            <a:off x="186141" y="3839304"/>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6" name="圖片 5">
            <a:extLst>
              <a:ext uri="{FF2B5EF4-FFF2-40B4-BE49-F238E27FC236}">
                <a16:creationId xmlns:a16="http://schemas.microsoft.com/office/drawing/2014/main" id="{8CDD263F-1738-412D-ADC2-2FCF14D1ABC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942" y="2023559"/>
            <a:ext cx="3827418" cy="820674"/>
          </a:xfrm>
          <a:prstGeom prst="rect">
            <a:avLst/>
          </a:prstGeom>
        </p:spPr>
      </p:pic>
      <p:sp>
        <p:nvSpPr>
          <p:cNvPr id="22" name="Google Shape;60;p1">
            <a:extLst>
              <a:ext uri="{FF2B5EF4-FFF2-40B4-BE49-F238E27FC236}">
                <a16:creationId xmlns:a16="http://schemas.microsoft.com/office/drawing/2014/main" id="{B96135D5-E3F4-41A1-B853-C816D70823F5}"/>
              </a:ext>
            </a:extLst>
          </p:cNvPr>
          <p:cNvSpPr/>
          <p:nvPr/>
        </p:nvSpPr>
        <p:spPr>
          <a:xfrm>
            <a:off x="5424952" y="5464258"/>
            <a:ext cx="3119770"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日本輔導經驗</a:t>
            </a:r>
            <a:endParaRPr lang="en-US" altLang="zh-TW" sz="3200" b="1" dirty="0">
              <a:solidFill>
                <a:schemeClr val="bg1"/>
              </a:solidFill>
              <a:latin typeface="Microsoft YaHei" panose="020B0503020204020204" pitchFamily="34" charset="-122"/>
              <a:ea typeface="Microsoft YaHei" panose="020B0503020204020204" pitchFamily="34" charset="-122"/>
            </a:endParaRPr>
          </a:p>
          <a:p>
            <a:pPr algn="ct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2" name="Google Shape;60;p1">
            <a:extLst>
              <a:ext uri="{FF2B5EF4-FFF2-40B4-BE49-F238E27FC236}">
                <a16:creationId xmlns:a16="http://schemas.microsoft.com/office/drawing/2014/main" id="{8A952031-7558-497E-8CD9-29F78D56F2ED}"/>
              </a:ext>
            </a:extLst>
          </p:cNvPr>
          <p:cNvSpPr/>
          <p:nvPr/>
        </p:nvSpPr>
        <p:spPr>
          <a:xfrm>
            <a:off x="7915141" y="4443484"/>
            <a:ext cx="2478361"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跨國交流</a:t>
            </a:r>
            <a:endParaRPr lang="en-US" altLang="zh-TW" sz="3200" b="1" dirty="0">
              <a:solidFill>
                <a:schemeClr val="bg1"/>
              </a:solidFill>
              <a:latin typeface="Microsoft YaHei" panose="020B0503020204020204" pitchFamily="34" charset="-122"/>
              <a:ea typeface="Microsoft YaHei" panose="020B0503020204020204" pitchFamily="34" charset="-122"/>
            </a:endParaRPr>
          </a:p>
          <a:p>
            <a:pPr algn="ct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9212307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603FB5CE-66B1-495D-96FC-7928E4F80D6B}"/>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5601A2E7-0E55-468E-BEEA-2393C43981A4}"/>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D8EC5C19-ABFA-44F3-8254-E15DE92D1D99}"/>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1ADF1DF8-152F-4F84-88A0-BE74E88F8625}"/>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0B72E9A8-CF14-4FF7-9E15-64B48B2470DA}"/>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0E82C1B8-AEBD-4A06-B5A3-79A5B40E5377}"/>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819F6466-0B47-43DC-B5BA-F8AADE3C095A}"/>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AD88B799-0CD3-4D0F-93BA-D4DBDE029223}"/>
              </a:ext>
            </a:extLst>
          </p:cNvPr>
          <p:cNvSpPr txBox="1"/>
          <p:nvPr/>
        </p:nvSpPr>
        <p:spPr>
          <a:xfrm>
            <a:off x="3697960" y="1332747"/>
            <a:ext cx="7385273" cy="2121093"/>
          </a:xfrm>
          <a:prstGeom prst="rect">
            <a:avLst/>
          </a:prstGeom>
          <a:noFill/>
        </p:spPr>
        <p:txBody>
          <a:bodyPr wrap="square">
            <a:spAutoFit/>
          </a:bodyPr>
          <a:lstStyle/>
          <a:p>
            <a:pPr>
              <a:lnSpc>
                <a:spcPct val="150000"/>
              </a:lnSpc>
            </a:pPr>
            <a:r>
              <a:rPr lang="zh-TW" altLang="en-US" b="1" dirty="0">
                <a:solidFill>
                  <a:srgbClr val="456244"/>
                </a:solidFill>
                <a:latin typeface="Microsoft YaHei" panose="020B0503020204020204" pitchFamily="34" charset="-122"/>
                <a:ea typeface="Microsoft YaHei" panose="020B0503020204020204" pitchFamily="34" charset="-122"/>
              </a:rPr>
              <a:t>聯合創新加速器是由聯合報系旗下的數位科技公司 聯經數位股份有限公司 所成立的創新育成與加速平台，致力於幫助早期新創團隊實現市場驗證與商業成長。加速器提供完整的 輔導課程、產業資源連結、媒合機會、品牌曝光與商業合作引導 等服務，並結合母公司在投資、媒體、行銷與產業合作的廣泛資源，強化新創團隊的市場開拓與營運能力。</a:t>
            </a:r>
            <a:endParaRPr lang="zh-TW" altLang="en-US" dirty="0">
              <a:solidFill>
                <a:srgbClr val="456244"/>
              </a:solidFill>
              <a:latin typeface="Microsoft YaHei" panose="020B0503020204020204" pitchFamily="34" charset="-122"/>
              <a:ea typeface="Microsoft YaHei" panose="020B0503020204020204" pitchFamily="34" charset="-122"/>
            </a:endParaRPr>
          </a:p>
        </p:txBody>
      </p:sp>
      <p:sp>
        <p:nvSpPr>
          <p:cNvPr id="16" name="文字方塊 15">
            <a:extLst>
              <a:ext uri="{FF2B5EF4-FFF2-40B4-BE49-F238E27FC236}">
                <a16:creationId xmlns:a16="http://schemas.microsoft.com/office/drawing/2014/main" id="{AA1592E9-8A80-4EBE-B868-A20DDC3941E4}"/>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5EC138D0-DF4C-4830-B61B-0BFC947F9254}"/>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5E066F3E-34E4-42A6-A526-7C0208898BF0}"/>
              </a:ext>
            </a:extLst>
          </p:cNvPr>
          <p:cNvSpPr/>
          <p:nvPr/>
        </p:nvSpPr>
        <p:spPr>
          <a:xfrm>
            <a:off x="783532"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數位轉型</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FF64B067-8914-42C4-9770-4789A8D8E608}"/>
              </a:ext>
            </a:extLst>
          </p:cNvPr>
          <p:cNvSpPr txBox="1"/>
          <p:nvPr/>
        </p:nvSpPr>
        <p:spPr>
          <a:xfrm>
            <a:off x="1496002" y="3423806"/>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31" name="Google Shape;60;p1">
            <a:extLst>
              <a:ext uri="{FF2B5EF4-FFF2-40B4-BE49-F238E27FC236}">
                <a16:creationId xmlns:a16="http://schemas.microsoft.com/office/drawing/2014/main" id="{21D70A9E-7B00-4B6B-B19C-2FDACD015548}"/>
              </a:ext>
            </a:extLst>
          </p:cNvPr>
          <p:cNvSpPr/>
          <p:nvPr/>
        </p:nvSpPr>
        <p:spPr>
          <a:xfrm>
            <a:off x="4888703" y="5395500"/>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光子技術</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4" name="Google Shape;60;p1">
            <a:extLst>
              <a:ext uri="{FF2B5EF4-FFF2-40B4-BE49-F238E27FC236}">
                <a16:creationId xmlns:a16="http://schemas.microsoft.com/office/drawing/2014/main" id="{3CD46054-F56E-4D04-ADE9-8C91A518630C}"/>
              </a:ext>
            </a:extLst>
          </p:cNvPr>
          <p:cNvSpPr/>
          <p:nvPr/>
        </p:nvSpPr>
        <p:spPr>
          <a:xfrm>
            <a:off x="3303243"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企業連結</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5" name="Google Shape;60;p1">
            <a:extLst>
              <a:ext uri="{FF2B5EF4-FFF2-40B4-BE49-F238E27FC236}">
                <a16:creationId xmlns:a16="http://schemas.microsoft.com/office/drawing/2014/main" id="{E9301CB5-4230-4077-837B-B1206DFCDF0E}"/>
              </a:ext>
            </a:extLst>
          </p:cNvPr>
          <p:cNvSpPr/>
          <p:nvPr/>
        </p:nvSpPr>
        <p:spPr>
          <a:xfrm>
            <a:off x="7453962" y="539549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先進材料</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6" name="Google Shape;60;p1">
            <a:extLst>
              <a:ext uri="{FF2B5EF4-FFF2-40B4-BE49-F238E27FC236}">
                <a16:creationId xmlns:a16="http://schemas.microsoft.com/office/drawing/2014/main" id="{8C769375-003F-4333-BA7A-AB8D7493108C}"/>
              </a:ext>
            </a:extLst>
          </p:cNvPr>
          <p:cNvSpPr/>
          <p:nvPr/>
        </p:nvSpPr>
        <p:spPr>
          <a:xfrm>
            <a:off x="5822954"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教育訓練</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7" name="Google Shape;60;p1">
            <a:extLst>
              <a:ext uri="{FF2B5EF4-FFF2-40B4-BE49-F238E27FC236}">
                <a16:creationId xmlns:a16="http://schemas.microsoft.com/office/drawing/2014/main" id="{37A79B3E-60FB-4177-A4C1-8796002D467A}"/>
              </a:ext>
            </a:extLst>
          </p:cNvPr>
          <p:cNvSpPr/>
          <p:nvPr/>
        </p:nvSpPr>
        <p:spPr>
          <a:xfrm>
            <a:off x="8342665"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永續發展</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72D9D60C-ED53-4FFE-B6BF-32C45C532169}"/>
              </a:ext>
            </a:extLst>
          </p:cNvPr>
          <p:cNvCxnSpPr>
            <a:cxnSpLocks/>
          </p:cNvCxnSpPr>
          <p:nvPr/>
        </p:nvCxnSpPr>
        <p:spPr>
          <a:xfrm>
            <a:off x="4429219" y="3839304"/>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3BA3D6B2-15DD-4CF7-9E2D-F9FC320BF6A7}"/>
              </a:ext>
            </a:extLst>
          </p:cNvPr>
          <p:cNvCxnSpPr>
            <a:cxnSpLocks/>
          </p:cNvCxnSpPr>
          <p:nvPr/>
        </p:nvCxnSpPr>
        <p:spPr>
          <a:xfrm>
            <a:off x="186141" y="3839304"/>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4" name="圖片 3">
            <a:extLst>
              <a:ext uri="{FF2B5EF4-FFF2-40B4-BE49-F238E27FC236}">
                <a16:creationId xmlns:a16="http://schemas.microsoft.com/office/drawing/2014/main" id="{F9FC120A-C365-4206-8B07-6AAA34E53667}"/>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209397" y="1846181"/>
            <a:ext cx="3380130" cy="960320"/>
          </a:xfrm>
          <a:prstGeom prst="rect">
            <a:avLst/>
          </a:prstGeom>
        </p:spPr>
      </p:pic>
    </p:spTree>
    <p:extLst>
      <p:ext uri="{BB962C8B-B14F-4D97-AF65-F5344CB8AC3E}">
        <p14:creationId xmlns:p14="http://schemas.microsoft.com/office/powerpoint/2010/main" val="31881800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603FB5CE-66B1-495D-96FC-7928E4F80D6B}"/>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5601A2E7-0E55-468E-BEEA-2393C43981A4}"/>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D8EC5C19-ABFA-44F3-8254-E15DE92D1D99}"/>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1ADF1DF8-152F-4F84-88A0-BE74E88F8625}"/>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0B72E9A8-CF14-4FF7-9E15-64B48B2470DA}"/>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0E82C1B8-AEBD-4A06-B5A3-79A5B40E5377}"/>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819F6466-0B47-43DC-B5BA-F8AADE3C095A}"/>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AD88B799-0CD3-4D0F-93BA-D4DBDE029223}"/>
              </a:ext>
            </a:extLst>
          </p:cNvPr>
          <p:cNvSpPr txBox="1"/>
          <p:nvPr/>
        </p:nvSpPr>
        <p:spPr>
          <a:xfrm>
            <a:off x="3733717" y="1147112"/>
            <a:ext cx="7385273" cy="2285690"/>
          </a:xfrm>
          <a:prstGeom prst="rect">
            <a:avLst/>
          </a:prstGeom>
          <a:noFill/>
        </p:spPr>
        <p:txBody>
          <a:bodyPr wrap="square">
            <a:spAutoFit/>
          </a:bodyPr>
          <a:lstStyle/>
          <a:p>
            <a:pPr>
              <a:lnSpc>
                <a:spcPts val="2900"/>
              </a:lnSpc>
            </a:pPr>
            <a:r>
              <a:rPr lang="zh-TW" altLang="en-US" b="1" dirty="0">
                <a:solidFill>
                  <a:srgbClr val="456244"/>
                </a:solidFill>
                <a:latin typeface="Microsoft YaHei" panose="020B0503020204020204" pitchFamily="34" charset="-122"/>
                <a:ea typeface="Microsoft YaHei" panose="020B0503020204020204" pitchFamily="34" charset="-122"/>
              </a:rPr>
              <a:t>智慧高軟深耕台灣南部地區，致力於協助中小企業與傳統產業完成數位與永續轉型。智慧高軟結合政府與民間資源，提供一站式服務，包括企業數位診斷、策略規劃、專案顧問輔導、流程優化與政府補助申請支援，並透過講座與課程等方式提升企業創新能力，協助超過數百家企業落地轉型方案。該平台亦是多項政府計畫合作夥伴，並設置於高雄軟體科技園區作為數位轉型支援基地。</a:t>
            </a:r>
            <a:endParaRPr lang="zh-TW" altLang="en-US" dirty="0">
              <a:solidFill>
                <a:srgbClr val="456244"/>
              </a:solidFill>
              <a:latin typeface="Microsoft YaHei" panose="020B0503020204020204" pitchFamily="34" charset="-122"/>
              <a:ea typeface="Microsoft YaHei" panose="020B0503020204020204" pitchFamily="34" charset="-122"/>
            </a:endParaRPr>
          </a:p>
        </p:txBody>
      </p:sp>
      <p:sp>
        <p:nvSpPr>
          <p:cNvPr id="16" name="文字方塊 15">
            <a:extLst>
              <a:ext uri="{FF2B5EF4-FFF2-40B4-BE49-F238E27FC236}">
                <a16:creationId xmlns:a16="http://schemas.microsoft.com/office/drawing/2014/main" id="{AA1592E9-8A80-4EBE-B868-A20DDC3941E4}"/>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5EC138D0-DF4C-4830-B61B-0BFC947F9254}"/>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5E066F3E-34E4-42A6-A526-7C0208898BF0}"/>
              </a:ext>
            </a:extLst>
          </p:cNvPr>
          <p:cNvSpPr/>
          <p:nvPr/>
        </p:nvSpPr>
        <p:spPr>
          <a:xfrm>
            <a:off x="783532"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數位轉型</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FF64B067-8914-42C4-9770-4789A8D8E608}"/>
              </a:ext>
            </a:extLst>
          </p:cNvPr>
          <p:cNvSpPr txBox="1"/>
          <p:nvPr/>
        </p:nvSpPr>
        <p:spPr>
          <a:xfrm>
            <a:off x="1496002" y="3423806"/>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31" name="Google Shape;60;p1">
            <a:extLst>
              <a:ext uri="{FF2B5EF4-FFF2-40B4-BE49-F238E27FC236}">
                <a16:creationId xmlns:a16="http://schemas.microsoft.com/office/drawing/2014/main" id="{21D70A9E-7B00-4B6B-B19C-2FDACD015548}"/>
              </a:ext>
            </a:extLst>
          </p:cNvPr>
          <p:cNvSpPr/>
          <p:nvPr/>
        </p:nvSpPr>
        <p:spPr>
          <a:xfrm>
            <a:off x="4888703" y="5395500"/>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企業媒合</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4" name="Google Shape;60;p1">
            <a:extLst>
              <a:ext uri="{FF2B5EF4-FFF2-40B4-BE49-F238E27FC236}">
                <a16:creationId xmlns:a16="http://schemas.microsoft.com/office/drawing/2014/main" id="{3CD46054-F56E-4D04-ADE9-8C91A518630C}"/>
              </a:ext>
            </a:extLst>
          </p:cNvPr>
          <p:cNvSpPr/>
          <p:nvPr/>
        </p:nvSpPr>
        <p:spPr>
          <a:xfrm>
            <a:off x="3303243"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顧問輔導</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5" name="Google Shape;60;p1">
            <a:extLst>
              <a:ext uri="{FF2B5EF4-FFF2-40B4-BE49-F238E27FC236}">
                <a16:creationId xmlns:a16="http://schemas.microsoft.com/office/drawing/2014/main" id="{E9301CB5-4230-4077-837B-B1206DFCDF0E}"/>
              </a:ext>
            </a:extLst>
          </p:cNvPr>
          <p:cNvSpPr/>
          <p:nvPr/>
        </p:nvSpPr>
        <p:spPr>
          <a:xfrm>
            <a:off x="7453962" y="539549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經營管理</a:t>
            </a:r>
            <a:endParaRPr lang="en-US" altLang="zh-TW" sz="3200" b="1" dirty="0">
              <a:solidFill>
                <a:schemeClr val="bg1"/>
              </a:solidFill>
              <a:latin typeface="Microsoft YaHei" panose="020B0503020204020204" pitchFamily="34" charset="-122"/>
              <a:ea typeface="Microsoft YaHei" panose="020B0503020204020204" pitchFamily="34" charset="-122"/>
            </a:endParaRPr>
          </a:p>
          <a:p>
            <a:pPr algn="ct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6" name="Google Shape;60;p1">
            <a:extLst>
              <a:ext uri="{FF2B5EF4-FFF2-40B4-BE49-F238E27FC236}">
                <a16:creationId xmlns:a16="http://schemas.microsoft.com/office/drawing/2014/main" id="{8C769375-003F-4333-BA7A-AB8D7493108C}"/>
              </a:ext>
            </a:extLst>
          </p:cNvPr>
          <p:cNvSpPr/>
          <p:nvPr/>
        </p:nvSpPr>
        <p:spPr>
          <a:xfrm>
            <a:off x="5822954" y="4442592"/>
            <a:ext cx="2519711"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製造業轉型</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72D9D60C-ED53-4FFE-B6BF-32C45C532169}"/>
              </a:ext>
            </a:extLst>
          </p:cNvPr>
          <p:cNvCxnSpPr>
            <a:cxnSpLocks/>
          </p:cNvCxnSpPr>
          <p:nvPr/>
        </p:nvCxnSpPr>
        <p:spPr>
          <a:xfrm>
            <a:off x="4429219" y="3839304"/>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3BA3D6B2-15DD-4CF7-9E2D-F9FC320BF6A7}"/>
              </a:ext>
            </a:extLst>
          </p:cNvPr>
          <p:cNvCxnSpPr>
            <a:cxnSpLocks/>
          </p:cNvCxnSpPr>
          <p:nvPr/>
        </p:nvCxnSpPr>
        <p:spPr>
          <a:xfrm>
            <a:off x="186141" y="3839304"/>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3" name="圖片 2">
            <a:extLst>
              <a:ext uri="{FF2B5EF4-FFF2-40B4-BE49-F238E27FC236}">
                <a16:creationId xmlns:a16="http://schemas.microsoft.com/office/drawing/2014/main" id="{E836C116-05BD-455B-9366-B54008969C3A}"/>
              </a:ext>
            </a:extLst>
          </p:cNvPr>
          <p:cNvPicPr>
            <a:picLocks noChangeAspect="1"/>
          </p:cNvPicPr>
          <p:nvPr/>
        </p:nvPicPr>
        <p:blipFill>
          <a:blip r:embed="rId5">
            <a:clrChange>
              <a:clrFrom>
                <a:srgbClr val="FFFFFF"/>
              </a:clrFrom>
              <a:clrTo>
                <a:srgbClr val="FFFFFF">
                  <a:alpha val="0"/>
                </a:srgbClr>
              </a:clrTo>
            </a:clrChange>
          </a:blip>
          <a:stretch>
            <a:fillRect/>
          </a:stretch>
        </p:blipFill>
        <p:spPr>
          <a:xfrm>
            <a:off x="177471" y="1954492"/>
            <a:ext cx="3378775" cy="1047928"/>
          </a:xfrm>
          <a:prstGeom prst="rect">
            <a:avLst/>
          </a:prstGeom>
        </p:spPr>
      </p:pic>
    </p:spTree>
    <p:extLst>
      <p:ext uri="{BB962C8B-B14F-4D97-AF65-F5344CB8AC3E}">
        <p14:creationId xmlns:p14="http://schemas.microsoft.com/office/powerpoint/2010/main" val="20083900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603FB5CE-66B1-495D-96FC-7928E4F80D6B}"/>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5601A2E7-0E55-468E-BEEA-2393C43981A4}"/>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D8EC5C19-ABFA-44F3-8254-E15DE92D1D99}"/>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1ADF1DF8-152F-4F84-88A0-BE74E88F8625}"/>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0B72E9A8-CF14-4FF7-9E15-64B48B2470DA}"/>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0E82C1B8-AEBD-4A06-B5A3-79A5B40E5377}"/>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819F6466-0B47-43DC-B5BA-F8AADE3C095A}"/>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AD88B799-0CD3-4D0F-93BA-D4DBDE029223}"/>
              </a:ext>
            </a:extLst>
          </p:cNvPr>
          <p:cNvSpPr txBox="1"/>
          <p:nvPr/>
        </p:nvSpPr>
        <p:spPr>
          <a:xfrm>
            <a:off x="4034977" y="1215261"/>
            <a:ext cx="7255351" cy="2359428"/>
          </a:xfrm>
          <a:prstGeom prst="rect">
            <a:avLst/>
          </a:prstGeom>
          <a:noFill/>
        </p:spPr>
        <p:txBody>
          <a:bodyPr wrap="square">
            <a:spAutoFit/>
          </a:bodyPr>
          <a:lstStyle/>
          <a:p>
            <a:pPr>
              <a:lnSpc>
                <a:spcPts val="3000"/>
              </a:lnSpc>
            </a:pPr>
            <a:r>
              <a:rPr lang="zh-TW" altLang="en-US" b="1" dirty="0">
                <a:solidFill>
                  <a:srgbClr val="456244"/>
                </a:solidFill>
                <a:latin typeface="Microsoft YaHei" panose="020B0503020204020204" pitchFamily="34" charset="-122"/>
                <a:ea typeface="Microsoft YaHei" panose="020B0503020204020204" pitchFamily="34" charset="-122"/>
              </a:rPr>
              <a:t>比翼生醫是一家專注於投資創新醫療科技的「醫院創投」，同時也是台灣最大的醫療生技新創加速器。自</a:t>
            </a:r>
            <a:r>
              <a:rPr lang="en-US" altLang="zh-TW" b="1" dirty="0">
                <a:solidFill>
                  <a:srgbClr val="456244"/>
                </a:solidFill>
                <a:latin typeface="Microsoft YaHei" panose="020B0503020204020204" pitchFamily="34" charset="-122"/>
                <a:ea typeface="Microsoft YaHei" panose="020B0503020204020204" pitchFamily="34" charset="-122"/>
              </a:rPr>
              <a:t>2018</a:t>
            </a:r>
            <a:r>
              <a:rPr lang="zh-TW" altLang="en-US" b="1" dirty="0">
                <a:solidFill>
                  <a:srgbClr val="456244"/>
                </a:solidFill>
                <a:latin typeface="Microsoft YaHei" panose="020B0503020204020204" pitchFamily="34" charset="-122"/>
                <a:ea typeface="Microsoft YaHei" panose="020B0503020204020204" pitchFamily="34" charset="-122"/>
              </a:rPr>
              <a:t>年成立以來，已輔導</a:t>
            </a:r>
            <a:r>
              <a:rPr lang="en-US" altLang="zh-TW" b="1" dirty="0">
                <a:solidFill>
                  <a:srgbClr val="456244"/>
                </a:solidFill>
                <a:latin typeface="Microsoft YaHei" panose="020B0503020204020204" pitchFamily="34" charset="-122"/>
                <a:ea typeface="Microsoft YaHei" panose="020B0503020204020204" pitchFamily="34" charset="-122"/>
              </a:rPr>
              <a:t>150+</a:t>
            </a:r>
            <a:r>
              <a:rPr lang="zh-TW" altLang="en-US" b="1" dirty="0">
                <a:solidFill>
                  <a:srgbClr val="456244"/>
                </a:solidFill>
                <a:latin typeface="Microsoft YaHei" panose="020B0503020204020204" pitchFamily="34" charset="-122"/>
                <a:ea typeface="Microsoft YaHei" panose="020B0503020204020204" pitchFamily="34" charset="-122"/>
              </a:rPr>
              <a:t>具影響力且前瞻性的新創團隊，並協助其籌得超過</a:t>
            </a:r>
            <a:r>
              <a:rPr lang="en-US" altLang="zh-TW" b="1" dirty="0">
                <a:solidFill>
                  <a:srgbClr val="456244"/>
                </a:solidFill>
                <a:latin typeface="Microsoft YaHei" panose="020B0503020204020204" pitchFamily="34" charset="-122"/>
                <a:ea typeface="Microsoft YaHei" panose="020B0503020204020204" pitchFamily="34" charset="-122"/>
              </a:rPr>
              <a:t>2</a:t>
            </a:r>
            <a:r>
              <a:rPr lang="zh-TW" altLang="en-US" b="1" dirty="0">
                <a:solidFill>
                  <a:srgbClr val="456244"/>
                </a:solidFill>
                <a:latin typeface="Microsoft YaHei" panose="020B0503020204020204" pitchFamily="34" charset="-122"/>
                <a:ea typeface="Microsoft YaHei" panose="020B0503020204020204" pitchFamily="34" charset="-122"/>
              </a:rPr>
              <a:t>億美元資金。我們專注於創新醫材與數位醫療領域，運用台灣為全球醫療新創進入亞洲市場的橋樑。我們的使命為與生態系的夥伴協力培育優秀的醫療新創團隊，推動創新醫療科技，提供患者更好的醫療體驗。</a:t>
            </a:r>
            <a:endParaRPr lang="zh-TW" altLang="en-US" dirty="0">
              <a:solidFill>
                <a:srgbClr val="456244"/>
              </a:solidFill>
              <a:latin typeface="Microsoft YaHei" panose="020B0503020204020204" pitchFamily="34" charset="-122"/>
              <a:ea typeface="Microsoft YaHei" panose="020B0503020204020204" pitchFamily="34" charset="-122"/>
            </a:endParaRPr>
          </a:p>
        </p:txBody>
      </p:sp>
      <p:sp>
        <p:nvSpPr>
          <p:cNvPr id="16" name="文字方塊 15">
            <a:extLst>
              <a:ext uri="{FF2B5EF4-FFF2-40B4-BE49-F238E27FC236}">
                <a16:creationId xmlns:a16="http://schemas.microsoft.com/office/drawing/2014/main" id="{AA1592E9-8A80-4EBE-B868-A20DDC3941E4}"/>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5EC138D0-DF4C-4830-B61B-0BFC947F9254}"/>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5E066F3E-34E4-42A6-A526-7C0208898BF0}"/>
              </a:ext>
            </a:extLst>
          </p:cNvPr>
          <p:cNvSpPr/>
          <p:nvPr/>
        </p:nvSpPr>
        <p:spPr>
          <a:xfrm>
            <a:off x="761072" y="4572507"/>
            <a:ext cx="278911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醫療人工智慧</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FF64B067-8914-42C4-9770-4789A8D8E608}"/>
              </a:ext>
            </a:extLst>
          </p:cNvPr>
          <p:cNvSpPr txBox="1"/>
          <p:nvPr/>
        </p:nvSpPr>
        <p:spPr>
          <a:xfrm>
            <a:off x="1496002" y="3423806"/>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24" name="Google Shape;60;p1">
            <a:extLst>
              <a:ext uri="{FF2B5EF4-FFF2-40B4-BE49-F238E27FC236}">
                <a16:creationId xmlns:a16="http://schemas.microsoft.com/office/drawing/2014/main" id="{3CD46054-F56E-4D04-ADE9-8C91A518630C}"/>
              </a:ext>
            </a:extLst>
          </p:cNvPr>
          <p:cNvSpPr/>
          <p:nvPr/>
        </p:nvSpPr>
        <p:spPr>
          <a:xfrm>
            <a:off x="3780036" y="4572507"/>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數位健康</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6" name="Google Shape;60;p1">
            <a:extLst>
              <a:ext uri="{FF2B5EF4-FFF2-40B4-BE49-F238E27FC236}">
                <a16:creationId xmlns:a16="http://schemas.microsoft.com/office/drawing/2014/main" id="{8C769375-003F-4333-BA7A-AB8D7493108C}"/>
              </a:ext>
            </a:extLst>
          </p:cNvPr>
          <p:cNvSpPr/>
          <p:nvPr/>
        </p:nvSpPr>
        <p:spPr>
          <a:xfrm>
            <a:off x="6050120" y="4572506"/>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手術科技</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7" name="Google Shape;60;p1">
            <a:extLst>
              <a:ext uri="{FF2B5EF4-FFF2-40B4-BE49-F238E27FC236}">
                <a16:creationId xmlns:a16="http://schemas.microsoft.com/office/drawing/2014/main" id="{37A79B3E-60FB-4177-A4C1-8796002D467A}"/>
              </a:ext>
            </a:extLst>
          </p:cNvPr>
          <p:cNvSpPr/>
          <p:nvPr/>
        </p:nvSpPr>
        <p:spPr>
          <a:xfrm>
            <a:off x="8320205" y="4572507"/>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醫療器材</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72D9D60C-ED53-4FFE-B6BF-32C45C532169}"/>
              </a:ext>
            </a:extLst>
          </p:cNvPr>
          <p:cNvCxnSpPr>
            <a:cxnSpLocks/>
          </p:cNvCxnSpPr>
          <p:nvPr/>
        </p:nvCxnSpPr>
        <p:spPr>
          <a:xfrm>
            <a:off x="4429219" y="3839304"/>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3BA3D6B2-15DD-4CF7-9E2D-F9FC320BF6A7}"/>
              </a:ext>
            </a:extLst>
          </p:cNvPr>
          <p:cNvCxnSpPr>
            <a:cxnSpLocks/>
          </p:cNvCxnSpPr>
          <p:nvPr/>
        </p:nvCxnSpPr>
        <p:spPr>
          <a:xfrm>
            <a:off x="186141" y="3839304"/>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8" name="圖片 7">
            <a:extLst>
              <a:ext uri="{FF2B5EF4-FFF2-40B4-BE49-F238E27FC236}">
                <a16:creationId xmlns:a16="http://schemas.microsoft.com/office/drawing/2014/main" id="{9EAF1605-706A-4EC1-BC9F-6598B7437EB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6140" y="2122791"/>
            <a:ext cx="3364047" cy="697728"/>
          </a:xfrm>
          <a:prstGeom prst="rect">
            <a:avLst/>
          </a:prstGeom>
        </p:spPr>
      </p:pic>
    </p:spTree>
    <p:extLst>
      <p:ext uri="{BB962C8B-B14F-4D97-AF65-F5344CB8AC3E}">
        <p14:creationId xmlns:p14="http://schemas.microsoft.com/office/powerpoint/2010/main" val="28216551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603FB5CE-66B1-495D-96FC-7928E4F80D6B}"/>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5601A2E7-0E55-468E-BEEA-2393C43981A4}"/>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D8EC5C19-ABFA-44F3-8254-E15DE92D1D99}"/>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1ADF1DF8-152F-4F84-88A0-BE74E88F8625}"/>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0B72E9A8-CF14-4FF7-9E15-64B48B2470DA}"/>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0E82C1B8-AEBD-4A06-B5A3-79A5B40E5377}"/>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819F6466-0B47-43DC-B5BA-F8AADE3C095A}"/>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AD88B799-0CD3-4D0F-93BA-D4DBDE029223}"/>
              </a:ext>
            </a:extLst>
          </p:cNvPr>
          <p:cNvSpPr txBox="1"/>
          <p:nvPr/>
        </p:nvSpPr>
        <p:spPr>
          <a:xfrm>
            <a:off x="3761325" y="1324383"/>
            <a:ext cx="7385273" cy="2121093"/>
          </a:xfrm>
          <a:prstGeom prst="rect">
            <a:avLst/>
          </a:prstGeom>
          <a:noFill/>
        </p:spPr>
        <p:txBody>
          <a:bodyPr wrap="square">
            <a:spAutoFit/>
          </a:bodyPr>
          <a:lstStyle/>
          <a:p>
            <a:pPr>
              <a:lnSpc>
                <a:spcPct val="150000"/>
              </a:lnSpc>
            </a:pPr>
            <a:r>
              <a:rPr lang="zh-TW" altLang="en-US" b="1" dirty="0">
                <a:solidFill>
                  <a:srgbClr val="456244"/>
                </a:solidFill>
                <a:latin typeface="Microsoft YaHei" panose="020B0503020204020204" pitchFamily="34" charset="-122"/>
                <a:ea typeface="Microsoft YaHei" panose="020B0503020204020204" pitchFamily="34" charset="-122"/>
              </a:rPr>
              <a:t>好食好事加速器是台灣規模最大的食農科技加速器。聚焦於食農產業整條價值鏈上具成長潛力之團隊。我們透過策略診斷、專業業師陪跑與客製化成長路徑設計，協助團隊突破成長曲線。同時串連食品產業龍頭、通路體系與國際市場資源，打造完整產業商機鏈結，加速市場拓展。並透過投資人對接、自有資金投資，協助新創穩健擴張、邁向規模化發展。 </a:t>
            </a:r>
            <a:endParaRPr lang="zh-TW" altLang="en-US" dirty="0">
              <a:solidFill>
                <a:srgbClr val="456244"/>
              </a:solidFill>
              <a:latin typeface="Microsoft YaHei" panose="020B0503020204020204" pitchFamily="34" charset="-122"/>
              <a:ea typeface="Microsoft YaHei" panose="020B0503020204020204" pitchFamily="34" charset="-122"/>
            </a:endParaRPr>
          </a:p>
        </p:txBody>
      </p:sp>
      <p:sp>
        <p:nvSpPr>
          <p:cNvPr id="16" name="文字方塊 15">
            <a:extLst>
              <a:ext uri="{FF2B5EF4-FFF2-40B4-BE49-F238E27FC236}">
                <a16:creationId xmlns:a16="http://schemas.microsoft.com/office/drawing/2014/main" id="{AA1592E9-8A80-4EBE-B868-A20DDC3941E4}"/>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5EC138D0-DF4C-4830-B61B-0BFC947F9254}"/>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5E066F3E-34E4-42A6-A526-7C0208898BF0}"/>
              </a:ext>
            </a:extLst>
          </p:cNvPr>
          <p:cNvSpPr/>
          <p:nvPr/>
        </p:nvSpPr>
        <p:spPr>
          <a:xfrm>
            <a:off x="783532"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智慧農業</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FF64B067-8914-42C4-9770-4789A8D8E608}"/>
              </a:ext>
            </a:extLst>
          </p:cNvPr>
          <p:cNvSpPr txBox="1"/>
          <p:nvPr/>
        </p:nvSpPr>
        <p:spPr>
          <a:xfrm>
            <a:off x="1496002" y="3423806"/>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31" name="Google Shape;60;p1">
            <a:extLst>
              <a:ext uri="{FF2B5EF4-FFF2-40B4-BE49-F238E27FC236}">
                <a16:creationId xmlns:a16="http://schemas.microsoft.com/office/drawing/2014/main" id="{21D70A9E-7B00-4B6B-B19C-2FDACD015548}"/>
              </a:ext>
            </a:extLst>
          </p:cNvPr>
          <p:cNvSpPr/>
          <p:nvPr/>
        </p:nvSpPr>
        <p:spPr>
          <a:xfrm>
            <a:off x="4888703" y="5395500"/>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永續價值</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4" name="Google Shape;60;p1">
            <a:extLst>
              <a:ext uri="{FF2B5EF4-FFF2-40B4-BE49-F238E27FC236}">
                <a16:creationId xmlns:a16="http://schemas.microsoft.com/office/drawing/2014/main" id="{3CD46054-F56E-4D04-ADE9-8C91A518630C}"/>
              </a:ext>
            </a:extLst>
          </p:cNvPr>
          <p:cNvSpPr/>
          <p:nvPr/>
        </p:nvSpPr>
        <p:spPr>
          <a:xfrm>
            <a:off x="3303243"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食品生技</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5" name="Google Shape;60;p1">
            <a:extLst>
              <a:ext uri="{FF2B5EF4-FFF2-40B4-BE49-F238E27FC236}">
                <a16:creationId xmlns:a16="http://schemas.microsoft.com/office/drawing/2014/main" id="{E9301CB5-4230-4077-837B-B1206DFCDF0E}"/>
              </a:ext>
            </a:extLst>
          </p:cNvPr>
          <p:cNvSpPr/>
          <p:nvPr/>
        </p:nvSpPr>
        <p:spPr>
          <a:xfrm>
            <a:off x="7453962" y="5395499"/>
            <a:ext cx="2780901"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供應鏈科技</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6" name="Google Shape;60;p1">
            <a:extLst>
              <a:ext uri="{FF2B5EF4-FFF2-40B4-BE49-F238E27FC236}">
                <a16:creationId xmlns:a16="http://schemas.microsoft.com/office/drawing/2014/main" id="{8C769375-003F-4333-BA7A-AB8D7493108C}"/>
              </a:ext>
            </a:extLst>
          </p:cNvPr>
          <p:cNvSpPr/>
          <p:nvPr/>
        </p:nvSpPr>
        <p:spPr>
          <a:xfrm>
            <a:off x="5822954"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餐飲科技</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7" name="Google Shape;60;p1">
            <a:extLst>
              <a:ext uri="{FF2B5EF4-FFF2-40B4-BE49-F238E27FC236}">
                <a16:creationId xmlns:a16="http://schemas.microsoft.com/office/drawing/2014/main" id="{37A79B3E-60FB-4177-A4C1-8796002D467A}"/>
              </a:ext>
            </a:extLst>
          </p:cNvPr>
          <p:cNvSpPr/>
          <p:nvPr/>
        </p:nvSpPr>
        <p:spPr>
          <a:xfrm>
            <a:off x="8342665"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創新飲食</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72D9D60C-ED53-4FFE-B6BF-32C45C532169}"/>
              </a:ext>
            </a:extLst>
          </p:cNvPr>
          <p:cNvCxnSpPr>
            <a:cxnSpLocks/>
          </p:cNvCxnSpPr>
          <p:nvPr/>
        </p:nvCxnSpPr>
        <p:spPr>
          <a:xfrm>
            <a:off x="4429219" y="3839304"/>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3BA3D6B2-15DD-4CF7-9E2D-F9FC320BF6A7}"/>
              </a:ext>
            </a:extLst>
          </p:cNvPr>
          <p:cNvCxnSpPr>
            <a:cxnSpLocks/>
          </p:cNvCxnSpPr>
          <p:nvPr/>
        </p:nvCxnSpPr>
        <p:spPr>
          <a:xfrm>
            <a:off x="186141" y="3839304"/>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3" name="圖片 2">
            <a:extLst>
              <a:ext uri="{FF2B5EF4-FFF2-40B4-BE49-F238E27FC236}">
                <a16:creationId xmlns:a16="http://schemas.microsoft.com/office/drawing/2014/main" id="{8036C7B9-5656-4F23-92A1-B1656047899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46482" y="1870872"/>
            <a:ext cx="2857215" cy="1100414"/>
          </a:xfrm>
          <a:prstGeom prst="rect">
            <a:avLst/>
          </a:prstGeom>
        </p:spPr>
      </p:pic>
    </p:spTree>
    <p:extLst>
      <p:ext uri="{BB962C8B-B14F-4D97-AF65-F5344CB8AC3E}">
        <p14:creationId xmlns:p14="http://schemas.microsoft.com/office/powerpoint/2010/main" val="300823081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603FB5CE-66B1-495D-96FC-7928E4F80D6B}"/>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5601A2E7-0E55-468E-BEEA-2393C43981A4}"/>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D8EC5C19-ABFA-44F3-8254-E15DE92D1D99}"/>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1ADF1DF8-152F-4F84-88A0-BE74E88F8625}"/>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0B72E9A8-CF14-4FF7-9E15-64B48B2470DA}"/>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0E82C1B8-AEBD-4A06-B5A3-79A5B40E5377}"/>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819F6466-0B47-43DC-B5BA-F8AADE3C095A}"/>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AD88B799-0CD3-4D0F-93BA-D4DBDE029223}"/>
              </a:ext>
            </a:extLst>
          </p:cNvPr>
          <p:cNvSpPr txBox="1"/>
          <p:nvPr/>
        </p:nvSpPr>
        <p:spPr>
          <a:xfrm>
            <a:off x="3761325" y="1324383"/>
            <a:ext cx="7385273" cy="2121093"/>
          </a:xfrm>
          <a:prstGeom prst="rect">
            <a:avLst/>
          </a:prstGeom>
          <a:noFill/>
        </p:spPr>
        <p:txBody>
          <a:bodyPr wrap="square">
            <a:spAutoFit/>
          </a:bodyPr>
          <a:lstStyle/>
          <a:p>
            <a:pPr>
              <a:lnSpc>
                <a:spcPct val="150000"/>
              </a:lnSpc>
            </a:pPr>
            <a:r>
              <a:rPr lang="en-US" altLang="zh-TW" b="1" dirty="0">
                <a:solidFill>
                  <a:srgbClr val="456244"/>
                </a:solidFill>
                <a:latin typeface="Microsoft YaHei" panose="020B0503020204020204" pitchFamily="34" charset="-122"/>
                <a:ea typeface="Microsoft YaHei" panose="020B0503020204020204" pitchFamily="34" charset="-122"/>
              </a:rPr>
              <a:t>Muse Builder</a:t>
            </a:r>
            <a:r>
              <a:rPr lang="zh-TW" altLang="en-US" b="1" dirty="0">
                <a:solidFill>
                  <a:srgbClr val="456244"/>
                </a:solidFill>
                <a:latin typeface="Microsoft YaHei" panose="020B0503020204020204" pitchFamily="34" charset="-122"/>
                <a:ea typeface="Microsoft YaHei" panose="020B0503020204020204" pitchFamily="34" charset="-122"/>
              </a:rPr>
              <a:t>（繆思建造所）是專注於 </a:t>
            </a:r>
            <a:r>
              <a:rPr lang="en-US" altLang="zh-TW" b="1" dirty="0">
                <a:solidFill>
                  <a:srgbClr val="456244"/>
                </a:solidFill>
                <a:latin typeface="Microsoft YaHei" panose="020B0503020204020204" pitchFamily="34" charset="-122"/>
                <a:ea typeface="Microsoft YaHei" panose="020B0503020204020204" pitchFamily="34" charset="-122"/>
              </a:rPr>
              <a:t>SDGs </a:t>
            </a:r>
            <a:r>
              <a:rPr lang="zh-TW" altLang="en-US" b="1" dirty="0">
                <a:solidFill>
                  <a:srgbClr val="456244"/>
                </a:solidFill>
                <a:latin typeface="Microsoft YaHei" panose="020B0503020204020204" pitchFamily="34" charset="-122"/>
                <a:ea typeface="Microsoft YaHei" panose="020B0503020204020204" pitchFamily="34" charset="-122"/>
              </a:rPr>
              <a:t>的 </a:t>
            </a:r>
            <a:r>
              <a:rPr lang="en-US" altLang="zh-TW" b="1" dirty="0">
                <a:solidFill>
                  <a:srgbClr val="456244"/>
                </a:solidFill>
                <a:latin typeface="Microsoft YaHei" panose="020B0503020204020204" pitchFamily="34" charset="-122"/>
                <a:ea typeface="Microsoft YaHei" panose="020B0503020204020204" pitchFamily="34" charset="-122"/>
              </a:rPr>
              <a:t>Venture Studio</a:t>
            </a:r>
            <a:r>
              <a:rPr lang="zh-TW" altLang="en-US" b="1" dirty="0">
                <a:solidFill>
                  <a:srgbClr val="456244"/>
                </a:solidFill>
                <a:latin typeface="Microsoft YaHei" panose="020B0503020204020204" pitchFamily="34" charset="-122"/>
                <a:ea typeface="Microsoft YaHei" panose="020B0503020204020204" pitchFamily="34" charset="-122"/>
              </a:rPr>
              <a:t>，聚焦農業科技、健康科技與 </a:t>
            </a:r>
            <a:r>
              <a:rPr lang="en-US" altLang="zh-TW" b="1" dirty="0" err="1">
                <a:solidFill>
                  <a:srgbClr val="456244"/>
                </a:solidFill>
                <a:latin typeface="Microsoft YaHei" panose="020B0503020204020204" pitchFamily="34" charset="-122"/>
                <a:ea typeface="Microsoft YaHei" panose="020B0503020204020204" pitchFamily="34" charset="-122"/>
              </a:rPr>
              <a:t>WellnessTech</a:t>
            </a:r>
            <a:r>
              <a:rPr lang="en-US" altLang="zh-TW" b="1" dirty="0">
                <a:solidFill>
                  <a:srgbClr val="456244"/>
                </a:solidFill>
                <a:latin typeface="Microsoft YaHei" panose="020B0503020204020204" pitchFamily="34" charset="-122"/>
                <a:ea typeface="Microsoft YaHei" panose="020B0503020204020204" pitchFamily="34" charset="-122"/>
              </a:rPr>
              <a:t> </a:t>
            </a:r>
            <a:r>
              <a:rPr lang="zh-TW" altLang="en-US" b="1" dirty="0">
                <a:solidFill>
                  <a:srgbClr val="456244"/>
                </a:solidFill>
                <a:latin typeface="Microsoft YaHei" panose="020B0503020204020204" pitchFamily="34" charset="-122"/>
                <a:ea typeface="Microsoft YaHei" panose="020B0503020204020204" pitchFamily="34" charset="-122"/>
              </a:rPr>
              <a:t>等永續創新領域。透過 </a:t>
            </a:r>
            <a:r>
              <a:rPr lang="en-US" altLang="zh-TW" b="1" dirty="0">
                <a:solidFill>
                  <a:srgbClr val="456244"/>
                </a:solidFill>
                <a:latin typeface="Microsoft YaHei" panose="020B0503020204020204" pitchFamily="34" charset="-122"/>
                <a:ea typeface="Microsoft YaHei" panose="020B0503020204020204" pitchFamily="34" charset="-122"/>
              </a:rPr>
              <a:t>Startup Academy</a:t>
            </a:r>
            <a:r>
              <a:rPr lang="zh-TW" altLang="en-US" b="1" dirty="0">
                <a:solidFill>
                  <a:srgbClr val="456244"/>
                </a:solidFill>
                <a:latin typeface="Microsoft YaHei" panose="020B0503020204020204" pitchFamily="34" charset="-122"/>
                <a:ea typeface="Microsoft YaHei" panose="020B0503020204020204" pitchFamily="34" charset="-122"/>
              </a:rPr>
              <a:t>、新創加速計畫與專業業師輔導，協助團隊進行市場驗證、產品優化與商業模式打磨，同時串聯國際市場資源與資金對接機會，打造完整成長路徑，陪伴每一家新創成為改變世界的 </a:t>
            </a:r>
            <a:r>
              <a:rPr lang="en-US" altLang="zh-TW" b="1" dirty="0">
                <a:solidFill>
                  <a:srgbClr val="456244"/>
                </a:solidFill>
                <a:latin typeface="Microsoft YaHei" panose="020B0503020204020204" pitchFamily="34" charset="-122"/>
                <a:ea typeface="Microsoft YaHei" panose="020B0503020204020204" pitchFamily="34" charset="-122"/>
              </a:rPr>
              <a:t>Muse</a:t>
            </a:r>
            <a:r>
              <a:rPr lang="zh-TW" altLang="en-US" b="1" dirty="0">
                <a:solidFill>
                  <a:srgbClr val="456244"/>
                </a:solidFill>
                <a:latin typeface="Microsoft YaHei" panose="020B0503020204020204" pitchFamily="34" charset="-122"/>
                <a:ea typeface="Microsoft YaHei" panose="020B0503020204020204" pitchFamily="34" charset="-122"/>
              </a:rPr>
              <a:t>。</a:t>
            </a:r>
            <a:endParaRPr lang="en-US" altLang="zh-TW" b="1" dirty="0">
              <a:solidFill>
                <a:srgbClr val="456244"/>
              </a:solidFill>
              <a:latin typeface="Microsoft YaHei" panose="020B0503020204020204" pitchFamily="34" charset="-122"/>
              <a:ea typeface="Microsoft YaHei" panose="020B0503020204020204" pitchFamily="34" charset="-122"/>
            </a:endParaRPr>
          </a:p>
        </p:txBody>
      </p:sp>
      <p:sp>
        <p:nvSpPr>
          <p:cNvPr id="16" name="文字方塊 15">
            <a:extLst>
              <a:ext uri="{FF2B5EF4-FFF2-40B4-BE49-F238E27FC236}">
                <a16:creationId xmlns:a16="http://schemas.microsoft.com/office/drawing/2014/main" id="{AA1592E9-8A80-4EBE-B868-A20DDC3941E4}"/>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5EC138D0-DF4C-4830-B61B-0BFC947F9254}"/>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5E066F3E-34E4-42A6-A526-7C0208898BF0}"/>
              </a:ext>
            </a:extLst>
          </p:cNvPr>
          <p:cNvSpPr/>
          <p:nvPr/>
        </p:nvSpPr>
        <p:spPr>
          <a:xfrm>
            <a:off x="783532"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農業科技</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FF64B067-8914-42C4-9770-4789A8D8E608}"/>
              </a:ext>
            </a:extLst>
          </p:cNvPr>
          <p:cNvSpPr txBox="1"/>
          <p:nvPr/>
        </p:nvSpPr>
        <p:spPr>
          <a:xfrm>
            <a:off x="1496002" y="3423806"/>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31" name="Google Shape;60;p1">
            <a:extLst>
              <a:ext uri="{FF2B5EF4-FFF2-40B4-BE49-F238E27FC236}">
                <a16:creationId xmlns:a16="http://schemas.microsoft.com/office/drawing/2014/main" id="{21D70A9E-7B00-4B6B-B19C-2FDACD015548}"/>
              </a:ext>
            </a:extLst>
          </p:cNvPr>
          <p:cNvSpPr/>
          <p:nvPr/>
        </p:nvSpPr>
        <p:spPr>
          <a:xfrm>
            <a:off x="4888703" y="5395500"/>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業師輔導</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4" name="Google Shape;60;p1">
            <a:extLst>
              <a:ext uri="{FF2B5EF4-FFF2-40B4-BE49-F238E27FC236}">
                <a16:creationId xmlns:a16="http://schemas.microsoft.com/office/drawing/2014/main" id="{3CD46054-F56E-4D04-ADE9-8C91A518630C}"/>
              </a:ext>
            </a:extLst>
          </p:cNvPr>
          <p:cNvSpPr/>
          <p:nvPr/>
        </p:nvSpPr>
        <p:spPr>
          <a:xfrm>
            <a:off x="3303243"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健康科技</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5" name="Google Shape;60;p1">
            <a:extLst>
              <a:ext uri="{FF2B5EF4-FFF2-40B4-BE49-F238E27FC236}">
                <a16:creationId xmlns:a16="http://schemas.microsoft.com/office/drawing/2014/main" id="{E9301CB5-4230-4077-837B-B1206DFCDF0E}"/>
              </a:ext>
            </a:extLst>
          </p:cNvPr>
          <p:cNvSpPr/>
          <p:nvPr/>
        </p:nvSpPr>
        <p:spPr>
          <a:xfrm>
            <a:off x="7453962" y="5395499"/>
            <a:ext cx="2787318"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政府資源鏈結</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6" name="Google Shape;60;p1">
            <a:extLst>
              <a:ext uri="{FF2B5EF4-FFF2-40B4-BE49-F238E27FC236}">
                <a16:creationId xmlns:a16="http://schemas.microsoft.com/office/drawing/2014/main" id="{8C769375-003F-4333-BA7A-AB8D7493108C}"/>
              </a:ext>
            </a:extLst>
          </p:cNvPr>
          <p:cNvSpPr/>
          <p:nvPr/>
        </p:nvSpPr>
        <p:spPr>
          <a:xfrm>
            <a:off x="5822954"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福祉科技</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7" name="Google Shape;60;p1">
            <a:extLst>
              <a:ext uri="{FF2B5EF4-FFF2-40B4-BE49-F238E27FC236}">
                <a16:creationId xmlns:a16="http://schemas.microsoft.com/office/drawing/2014/main" id="{37A79B3E-60FB-4177-A4C1-8796002D467A}"/>
              </a:ext>
            </a:extLst>
          </p:cNvPr>
          <p:cNvSpPr/>
          <p:nvPr/>
        </p:nvSpPr>
        <p:spPr>
          <a:xfrm>
            <a:off x="8342665" y="4442592"/>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資金媒合</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72D9D60C-ED53-4FFE-B6BF-32C45C532169}"/>
              </a:ext>
            </a:extLst>
          </p:cNvPr>
          <p:cNvCxnSpPr>
            <a:cxnSpLocks/>
          </p:cNvCxnSpPr>
          <p:nvPr/>
        </p:nvCxnSpPr>
        <p:spPr>
          <a:xfrm>
            <a:off x="4429219" y="3839304"/>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3BA3D6B2-15DD-4CF7-9E2D-F9FC320BF6A7}"/>
              </a:ext>
            </a:extLst>
          </p:cNvPr>
          <p:cNvCxnSpPr>
            <a:cxnSpLocks/>
          </p:cNvCxnSpPr>
          <p:nvPr/>
        </p:nvCxnSpPr>
        <p:spPr>
          <a:xfrm>
            <a:off x="186141" y="3839304"/>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32" name="圖片 31">
            <a:extLst>
              <a:ext uri="{FF2B5EF4-FFF2-40B4-BE49-F238E27FC236}">
                <a16:creationId xmlns:a16="http://schemas.microsoft.com/office/drawing/2014/main" id="{D0138EF8-BAB4-4848-8F6C-B47EBDD121D1}"/>
              </a:ext>
            </a:extLst>
          </p:cNvPr>
          <p:cNvPicPr>
            <a:picLocks noChangeAspect="1"/>
          </p:cNvPicPr>
          <p:nvPr/>
        </p:nvPicPr>
        <p:blipFill>
          <a:blip r:embed="rId5"/>
          <a:stretch>
            <a:fillRect/>
          </a:stretch>
        </p:blipFill>
        <p:spPr>
          <a:xfrm>
            <a:off x="580166" y="1649290"/>
            <a:ext cx="2602095" cy="1474739"/>
          </a:xfrm>
          <a:prstGeom prst="rect">
            <a:avLst/>
          </a:prstGeom>
        </p:spPr>
      </p:pic>
    </p:spTree>
    <p:extLst>
      <p:ext uri="{BB962C8B-B14F-4D97-AF65-F5344CB8AC3E}">
        <p14:creationId xmlns:p14="http://schemas.microsoft.com/office/powerpoint/2010/main" val="27818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603FB5CE-66B1-495D-96FC-7928E4F80D6B}"/>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5601A2E7-0E55-468E-BEEA-2393C43981A4}"/>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D8EC5C19-ABFA-44F3-8254-E15DE92D1D99}"/>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1ADF1DF8-152F-4F84-88A0-BE74E88F8625}"/>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0B72E9A8-CF14-4FF7-9E15-64B48B2470DA}"/>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0E82C1B8-AEBD-4A06-B5A3-79A5B40E5377}"/>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819F6466-0B47-43DC-B5BA-F8AADE3C095A}"/>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AD88B799-0CD3-4D0F-93BA-D4DBDE029223}"/>
              </a:ext>
            </a:extLst>
          </p:cNvPr>
          <p:cNvSpPr txBox="1"/>
          <p:nvPr/>
        </p:nvSpPr>
        <p:spPr>
          <a:xfrm>
            <a:off x="3808324" y="1233142"/>
            <a:ext cx="7737231" cy="2359428"/>
          </a:xfrm>
          <a:prstGeom prst="rect">
            <a:avLst/>
          </a:prstGeom>
          <a:noFill/>
        </p:spPr>
        <p:txBody>
          <a:bodyPr wrap="square">
            <a:spAutoFit/>
          </a:bodyPr>
          <a:lstStyle/>
          <a:p>
            <a:pPr>
              <a:lnSpc>
                <a:spcPts val="3000"/>
              </a:lnSpc>
            </a:pPr>
            <a:r>
              <a:rPr lang="en-US" altLang="zh-TW" b="1" dirty="0" err="1">
                <a:solidFill>
                  <a:srgbClr val="456244"/>
                </a:solidFill>
                <a:latin typeface="Microsoft YaHei" panose="020B0503020204020204" pitchFamily="34" charset="-122"/>
                <a:ea typeface="Microsoft YaHei" panose="020B0503020204020204" pitchFamily="34" charset="-122"/>
              </a:rPr>
              <a:t>SparkLabs</a:t>
            </a:r>
            <a:r>
              <a:rPr lang="en-US" altLang="zh-TW" b="1" dirty="0">
                <a:solidFill>
                  <a:srgbClr val="456244"/>
                </a:solidFill>
                <a:latin typeface="Microsoft YaHei" panose="020B0503020204020204" pitchFamily="34" charset="-122"/>
                <a:ea typeface="Microsoft YaHei" panose="020B0503020204020204" pitchFamily="34" charset="-122"/>
              </a:rPr>
              <a:t> Taiwan </a:t>
            </a:r>
            <a:r>
              <a:rPr lang="zh-TW" altLang="en-US" b="1" dirty="0">
                <a:solidFill>
                  <a:srgbClr val="456244"/>
                </a:solidFill>
                <a:latin typeface="Microsoft YaHei" panose="020B0503020204020204" pitchFamily="34" charset="-122"/>
                <a:ea typeface="Microsoft YaHei" panose="020B0503020204020204" pitchFamily="34" charset="-122"/>
              </a:rPr>
              <a:t>是以 </a:t>
            </a:r>
            <a:r>
              <a:rPr lang="en-US" altLang="zh-TW" b="1" dirty="0">
                <a:solidFill>
                  <a:srgbClr val="456244"/>
                </a:solidFill>
                <a:latin typeface="Microsoft YaHei" panose="020B0503020204020204" pitchFamily="34" charset="-122"/>
                <a:ea typeface="Microsoft YaHei" panose="020B0503020204020204" pitchFamily="34" charset="-122"/>
              </a:rPr>
              <a:t>AI </a:t>
            </a:r>
            <a:r>
              <a:rPr lang="zh-TW" altLang="en-US" b="1" dirty="0">
                <a:solidFill>
                  <a:srgbClr val="456244"/>
                </a:solidFill>
                <a:latin typeface="Microsoft YaHei" panose="020B0503020204020204" pitchFamily="34" charset="-122"/>
                <a:ea typeface="Microsoft YaHei" panose="020B0503020204020204" pitchFamily="34" charset="-122"/>
              </a:rPr>
              <a:t>為核心投資主軸的新創加速器暨創投基金，專注投資具備 </a:t>
            </a:r>
            <a:r>
              <a:rPr lang="en-US" altLang="zh-TW" b="1" dirty="0">
                <a:solidFill>
                  <a:srgbClr val="456244"/>
                </a:solidFill>
                <a:latin typeface="Microsoft YaHei" panose="020B0503020204020204" pitchFamily="34" charset="-122"/>
                <a:ea typeface="Microsoft YaHei" panose="020B0503020204020204" pitchFamily="34" charset="-122"/>
              </a:rPr>
              <a:t>AI </a:t>
            </a:r>
            <a:r>
              <a:rPr lang="zh-TW" altLang="en-US" b="1" dirty="0">
                <a:solidFill>
                  <a:srgbClr val="456244"/>
                </a:solidFill>
                <a:latin typeface="Microsoft YaHei" panose="020B0503020204020204" pitchFamily="34" charset="-122"/>
                <a:ea typeface="Microsoft YaHei" panose="020B0503020204020204" pitchFamily="34" charset="-122"/>
              </a:rPr>
              <a:t>技術深度、產業應用場景與全球擴張潛力的早期新創團隊。</a:t>
            </a:r>
          </a:p>
          <a:p>
            <a:pPr>
              <a:lnSpc>
                <a:spcPts val="3000"/>
              </a:lnSpc>
            </a:pPr>
            <a:r>
              <a:rPr lang="zh-TW" altLang="en-US" b="1" dirty="0">
                <a:solidFill>
                  <a:srgbClr val="456244"/>
                </a:solidFill>
                <a:latin typeface="Microsoft YaHei" panose="020B0503020204020204" pitchFamily="34" charset="-122"/>
                <a:ea typeface="Microsoft YaHei" panose="020B0503020204020204" pitchFamily="34" charset="-122"/>
              </a:rPr>
              <a:t>我們既是國際 </a:t>
            </a:r>
            <a:r>
              <a:rPr lang="en-US" altLang="zh-TW" b="1" dirty="0">
                <a:solidFill>
                  <a:srgbClr val="456244"/>
                </a:solidFill>
                <a:latin typeface="Microsoft YaHei" panose="020B0503020204020204" pitchFamily="34" charset="-122"/>
                <a:ea typeface="Microsoft YaHei" panose="020B0503020204020204" pitchFamily="34" charset="-122"/>
              </a:rPr>
              <a:t>AI </a:t>
            </a:r>
            <a:r>
              <a:rPr lang="zh-TW" altLang="en-US" b="1" dirty="0">
                <a:solidFill>
                  <a:srgbClr val="456244"/>
                </a:solidFill>
                <a:latin typeface="Microsoft YaHei" panose="020B0503020204020204" pitchFamily="34" charset="-122"/>
                <a:ea typeface="Microsoft YaHei" panose="020B0503020204020204" pitchFamily="34" charset="-122"/>
              </a:rPr>
              <a:t>團隊落地台灣的第一站，也是協助台灣企業導入 </a:t>
            </a:r>
            <a:r>
              <a:rPr lang="en-US" altLang="zh-TW" b="1" dirty="0">
                <a:solidFill>
                  <a:srgbClr val="456244"/>
                </a:solidFill>
                <a:latin typeface="Microsoft YaHei" panose="020B0503020204020204" pitchFamily="34" charset="-122"/>
                <a:ea typeface="Microsoft YaHei" panose="020B0503020204020204" pitchFamily="34" charset="-122"/>
              </a:rPr>
              <a:t>AI</a:t>
            </a:r>
            <a:r>
              <a:rPr lang="zh-TW" altLang="en-US" b="1" dirty="0">
                <a:solidFill>
                  <a:srgbClr val="456244"/>
                </a:solidFill>
                <a:latin typeface="Microsoft YaHei" panose="020B0503020204020204" pitchFamily="34" charset="-122"/>
                <a:ea typeface="Microsoft YaHei" panose="020B0503020204020204" pitchFamily="34" charset="-122"/>
              </a:rPr>
              <a:t>、推動產業升級的關鍵推手。</a:t>
            </a:r>
            <a:r>
              <a:rPr lang="en-US" altLang="zh-TW" b="1" dirty="0" err="1">
                <a:solidFill>
                  <a:srgbClr val="456244"/>
                </a:solidFill>
                <a:latin typeface="Microsoft YaHei" panose="020B0503020204020204" pitchFamily="34" charset="-122"/>
                <a:ea typeface="Microsoft YaHei" panose="020B0503020204020204" pitchFamily="34" charset="-122"/>
              </a:rPr>
              <a:t>SparkLabs</a:t>
            </a:r>
            <a:r>
              <a:rPr lang="en-US" altLang="zh-TW" b="1" dirty="0">
                <a:solidFill>
                  <a:srgbClr val="456244"/>
                </a:solidFill>
                <a:latin typeface="Microsoft YaHei" panose="020B0503020204020204" pitchFamily="34" charset="-122"/>
                <a:ea typeface="Microsoft YaHei" panose="020B0503020204020204" pitchFamily="34" charset="-122"/>
              </a:rPr>
              <a:t> Taiwan </a:t>
            </a:r>
            <a:r>
              <a:rPr lang="zh-TW" altLang="en-US" b="1" dirty="0">
                <a:solidFill>
                  <a:srgbClr val="456244"/>
                </a:solidFill>
                <a:latin typeface="Microsoft YaHei" panose="020B0503020204020204" pitchFamily="34" charset="-122"/>
                <a:ea typeface="Microsoft YaHei" panose="020B0503020204020204" pitchFamily="34" charset="-122"/>
              </a:rPr>
              <a:t>採取「入選即投資」制度，從資本、策略到市場一次到位，陪伴 </a:t>
            </a:r>
            <a:r>
              <a:rPr lang="en-US" altLang="zh-TW" b="1" dirty="0">
                <a:solidFill>
                  <a:srgbClr val="456244"/>
                </a:solidFill>
                <a:latin typeface="Microsoft YaHei" panose="020B0503020204020204" pitchFamily="34" charset="-122"/>
                <a:ea typeface="Microsoft YaHei" panose="020B0503020204020204" pitchFamily="34" charset="-122"/>
              </a:rPr>
              <a:t>AI </a:t>
            </a:r>
            <a:r>
              <a:rPr lang="zh-TW" altLang="en-US" b="1" dirty="0">
                <a:solidFill>
                  <a:srgbClr val="456244"/>
                </a:solidFill>
                <a:latin typeface="Microsoft YaHei" panose="020B0503020204020204" pitchFamily="34" charset="-122"/>
                <a:ea typeface="Microsoft YaHei" panose="020B0503020204020204" pitchFamily="34" charset="-122"/>
              </a:rPr>
              <a:t>新創從 </a:t>
            </a:r>
            <a:r>
              <a:rPr lang="en-US" altLang="zh-TW" b="1" dirty="0">
                <a:solidFill>
                  <a:srgbClr val="456244"/>
                </a:solidFill>
                <a:latin typeface="Microsoft YaHei" panose="020B0503020204020204" pitchFamily="34" charset="-122"/>
                <a:ea typeface="Microsoft YaHei" panose="020B0503020204020204" pitchFamily="34" charset="-122"/>
              </a:rPr>
              <a:t>0 → 1</a:t>
            </a:r>
            <a:r>
              <a:rPr lang="zh-TW" altLang="en-US" b="1" dirty="0">
                <a:solidFill>
                  <a:srgbClr val="456244"/>
                </a:solidFill>
                <a:latin typeface="Microsoft YaHei" panose="020B0503020204020204" pitchFamily="34" charset="-122"/>
                <a:ea typeface="Microsoft YaHei" panose="020B0503020204020204" pitchFamily="34" charset="-122"/>
              </a:rPr>
              <a:t>、</a:t>
            </a:r>
            <a:r>
              <a:rPr lang="en-US" altLang="zh-TW" b="1" dirty="0">
                <a:solidFill>
                  <a:srgbClr val="456244"/>
                </a:solidFill>
                <a:latin typeface="Microsoft YaHei" panose="020B0503020204020204" pitchFamily="34" charset="-122"/>
                <a:ea typeface="Microsoft YaHei" panose="020B0503020204020204" pitchFamily="34" charset="-122"/>
              </a:rPr>
              <a:t>1 → 10 → Global Scale</a:t>
            </a:r>
            <a:r>
              <a:rPr lang="zh-TW" altLang="en-US" b="1" dirty="0">
                <a:solidFill>
                  <a:srgbClr val="456244"/>
                </a:solidFill>
                <a:latin typeface="Microsoft YaHei" panose="020B0503020204020204" pitchFamily="34" charset="-122"/>
                <a:ea typeface="Microsoft YaHei" panose="020B0503020204020204" pitchFamily="34" charset="-122"/>
              </a:rPr>
              <a:t>，真正走向國際舞台。</a:t>
            </a:r>
          </a:p>
        </p:txBody>
      </p:sp>
      <p:sp>
        <p:nvSpPr>
          <p:cNvPr id="16" name="文字方塊 15">
            <a:extLst>
              <a:ext uri="{FF2B5EF4-FFF2-40B4-BE49-F238E27FC236}">
                <a16:creationId xmlns:a16="http://schemas.microsoft.com/office/drawing/2014/main" id="{AA1592E9-8A80-4EBE-B868-A20DDC3941E4}"/>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5EC138D0-DF4C-4830-B61B-0BFC947F9254}"/>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5E066F3E-34E4-42A6-A526-7C0208898BF0}"/>
              </a:ext>
            </a:extLst>
          </p:cNvPr>
          <p:cNvSpPr/>
          <p:nvPr/>
        </p:nvSpPr>
        <p:spPr>
          <a:xfrm>
            <a:off x="479673" y="4676188"/>
            <a:ext cx="2796833"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國際資金媒合</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FF64B067-8914-42C4-9770-4789A8D8E608}"/>
              </a:ext>
            </a:extLst>
          </p:cNvPr>
          <p:cNvSpPr txBox="1"/>
          <p:nvPr/>
        </p:nvSpPr>
        <p:spPr>
          <a:xfrm>
            <a:off x="1496002" y="3423806"/>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24" name="Google Shape;60;p1">
            <a:extLst>
              <a:ext uri="{FF2B5EF4-FFF2-40B4-BE49-F238E27FC236}">
                <a16:creationId xmlns:a16="http://schemas.microsoft.com/office/drawing/2014/main" id="{3CD46054-F56E-4D04-ADE9-8C91A518630C}"/>
              </a:ext>
            </a:extLst>
          </p:cNvPr>
          <p:cNvSpPr/>
          <p:nvPr/>
        </p:nvSpPr>
        <p:spPr>
          <a:xfrm>
            <a:off x="5925961" y="4676187"/>
            <a:ext cx="2796833"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海外市場落地</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5" name="Google Shape;60;p1">
            <a:extLst>
              <a:ext uri="{FF2B5EF4-FFF2-40B4-BE49-F238E27FC236}">
                <a16:creationId xmlns:a16="http://schemas.microsoft.com/office/drawing/2014/main" id="{E9301CB5-4230-4077-837B-B1206DFCDF0E}"/>
              </a:ext>
            </a:extLst>
          </p:cNvPr>
          <p:cNvSpPr/>
          <p:nvPr/>
        </p:nvSpPr>
        <p:spPr>
          <a:xfrm>
            <a:off x="3627674" y="4676188"/>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深科技</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72D9D60C-ED53-4FFE-B6BF-32C45C532169}"/>
              </a:ext>
            </a:extLst>
          </p:cNvPr>
          <p:cNvCxnSpPr>
            <a:cxnSpLocks/>
          </p:cNvCxnSpPr>
          <p:nvPr/>
        </p:nvCxnSpPr>
        <p:spPr>
          <a:xfrm>
            <a:off x="4429219" y="3839304"/>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3BA3D6B2-15DD-4CF7-9E2D-F9FC320BF6A7}"/>
              </a:ext>
            </a:extLst>
          </p:cNvPr>
          <p:cNvCxnSpPr>
            <a:cxnSpLocks/>
          </p:cNvCxnSpPr>
          <p:nvPr/>
        </p:nvCxnSpPr>
        <p:spPr>
          <a:xfrm>
            <a:off x="186141" y="3839304"/>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34" name="Google Shape;60;p1">
            <a:extLst>
              <a:ext uri="{FF2B5EF4-FFF2-40B4-BE49-F238E27FC236}">
                <a16:creationId xmlns:a16="http://schemas.microsoft.com/office/drawing/2014/main" id="{1D1DF96B-A8FB-4123-B74D-6AED0AEB80A4}"/>
              </a:ext>
            </a:extLst>
          </p:cNvPr>
          <p:cNvSpPr/>
          <p:nvPr/>
        </p:nvSpPr>
        <p:spPr>
          <a:xfrm>
            <a:off x="8929293" y="4676187"/>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人工智慧</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pic>
        <p:nvPicPr>
          <p:cNvPr id="3" name="圖片 2">
            <a:extLst>
              <a:ext uri="{FF2B5EF4-FFF2-40B4-BE49-F238E27FC236}">
                <a16:creationId xmlns:a16="http://schemas.microsoft.com/office/drawing/2014/main" id="{1E25C364-CF97-4F6E-9C77-58DD59E9419D}"/>
              </a:ext>
            </a:extLst>
          </p:cNvPr>
          <p:cNvPicPr>
            <a:picLocks noChangeAspect="1"/>
          </p:cNvPicPr>
          <p:nvPr/>
        </p:nvPicPr>
        <p:blipFill rotWithShape="1">
          <a:blip r:embed="rId5">
            <a:extLst>
              <a:ext uri="{28A0092B-C50C-407E-A947-70E740481C1C}">
                <a14:useLocalDpi xmlns:a14="http://schemas.microsoft.com/office/drawing/2010/main" val="0"/>
              </a:ext>
            </a:extLst>
          </a:blip>
          <a:srcRect l="10059" t="13918" r="8085" b="21881"/>
          <a:stretch/>
        </p:blipFill>
        <p:spPr>
          <a:xfrm>
            <a:off x="371891" y="1870872"/>
            <a:ext cx="3255783" cy="1037752"/>
          </a:xfrm>
          <a:prstGeom prst="rect">
            <a:avLst/>
          </a:prstGeom>
        </p:spPr>
      </p:pic>
    </p:spTree>
    <p:extLst>
      <p:ext uri="{BB962C8B-B14F-4D97-AF65-F5344CB8AC3E}">
        <p14:creationId xmlns:p14="http://schemas.microsoft.com/office/powerpoint/2010/main" val="41151174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603FB5CE-66B1-495D-96FC-7928E4F80D6B}"/>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5601A2E7-0E55-468E-BEEA-2393C43981A4}"/>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D8EC5C19-ABFA-44F3-8254-E15DE92D1D99}"/>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1ADF1DF8-152F-4F84-88A0-BE74E88F8625}"/>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0B72E9A8-CF14-4FF7-9E15-64B48B2470DA}"/>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0E82C1B8-AEBD-4A06-B5A3-79A5B40E5377}"/>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819F6466-0B47-43DC-B5BA-F8AADE3C095A}"/>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AD88B799-0CD3-4D0F-93BA-D4DBDE029223}"/>
              </a:ext>
            </a:extLst>
          </p:cNvPr>
          <p:cNvSpPr txBox="1"/>
          <p:nvPr/>
        </p:nvSpPr>
        <p:spPr>
          <a:xfrm>
            <a:off x="4034977" y="1500675"/>
            <a:ext cx="6876195" cy="1705595"/>
          </a:xfrm>
          <a:prstGeom prst="rect">
            <a:avLst/>
          </a:prstGeom>
          <a:noFill/>
        </p:spPr>
        <p:txBody>
          <a:bodyPr wrap="square">
            <a:spAutoFit/>
          </a:bodyPr>
          <a:lstStyle/>
          <a:p>
            <a:pPr>
              <a:lnSpc>
                <a:spcPct val="150000"/>
              </a:lnSpc>
            </a:pPr>
            <a:r>
              <a:rPr lang="en-US" altLang="zh-TW" b="1" dirty="0">
                <a:solidFill>
                  <a:srgbClr val="456244"/>
                </a:solidFill>
                <a:latin typeface="Microsoft YaHei" panose="020B0503020204020204" pitchFamily="34" charset="-122"/>
                <a:ea typeface="Microsoft YaHei" panose="020B0503020204020204" pitchFamily="34" charset="-122"/>
              </a:rPr>
              <a:t>Mighty Net </a:t>
            </a:r>
            <a:r>
              <a:rPr lang="zh-TW" altLang="en-US" b="1" dirty="0">
                <a:solidFill>
                  <a:srgbClr val="456244"/>
                </a:solidFill>
                <a:latin typeface="Microsoft YaHei" panose="020B0503020204020204" pitchFamily="34" charset="-122"/>
                <a:ea typeface="Microsoft YaHei" panose="020B0503020204020204" pitchFamily="34" charset="-122"/>
              </a:rPr>
              <a:t>是由邁特電子集團成立的創新平台，結合四十年製造經驗與新創能量，專注於「從概念到量產（</a:t>
            </a:r>
            <a:r>
              <a:rPr lang="en-US" altLang="zh-TW" b="1" dirty="0">
                <a:solidFill>
                  <a:srgbClr val="456244"/>
                </a:solidFill>
                <a:latin typeface="Microsoft YaHei" panose="020B0503020204020204" pitchFamily="34" charset="-122"/>
                <a:ea typeface="Microsoft YaHei" panose="020B0503020204020204" pitchFamily="34" charset="-122"/>
              </a:rPr>
              <a:t>POC to MP</a:t>
            </a:r>
            <a:r>
              <a:rPr lang="zh-TW" altLang="en-US" b="1" dirty="0">
                <a:solidFill>
                  <a:srgbClr val="456244"/>
                </a:solidFill>
                <a:latin typeface="Microsoft YaHei" panose="020B0503020204020204" pitchFamily="34" charset="-122"/>
                <a:ea typeface="Microsoft YaHei" panose="020B0503020204020204" pitchFamily="34" charset="-122"/>
              </a:rPr>
              <a:t>）」的一站式服務。平台提供產品設計、打樣、測試與小量試產等完整流程，協助新創與企業快速落地。</a:t>
            </a:r>
            <a:endParaRPr lang="en-US" altLang="zh-TW" b="1" dirty="0">
              <a:solidFill>
                <a:srgbClr val="456244"/>
              </a:solidFill>
              <a:latin typeface="Microsoft YaHei" panose="020B0503020204020204" pitchFamily="34" charset="-122"/>
              <a:ea typeface="Microsoft YaHei" panose="020B0503020204020204" pitchFamily="34" charset="-122"/>
            </a:endParaRPr>
          </a:p>
        </p:txBody>
      </p:sp>
      <p:sp>
        <p:nvSpPr>
          <p:cNvPr id="16" name="文字方塊 15">
            <a:extLst>
              <a:ext uri="{FF2B5EF4-FFF2-40B4-BE49-F238E27FC236}">
                <a16:creationId xmlns:a16="http://schemas.microsoft.com/office/drawing/2014/main" id="{AA1592E9-8A80-4EBE-B868-A20DDC3941E4}"/>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5EC138D0-DF4C-4830-B61B-0BFC947F9254}"/>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5E066F3E-34E4-42A6-A526-7C0208898BF0}"/>
              </a:ext>
            </a:extLst>
          </p:cNvPr>
          <p:cNvSpPr/>
          <p:nvPr/>
        </p:nvSpPr>
        <p:spPr>
          <a:xfrm>
            <a:off x="819055" y="467618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資金媒合</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FF64B067-8914-42C4-9770-4789A8D8E608}"/>
              </a:ext>
            </a:extLst>
          </p:cNvPr>
          <p:cNvSpPr txBox="1"/>
          <p:nvPr/>
        </p:nvSpPr>
        <p:spPr>
          <a:xfrm>
            <a:off x="1496002" y="3423806"/>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24" name="Google Shape;60;p1">
            <a:extLst>
              <a:ext uri="{FF2B5EF4-FFF2-40B4-BE49-F238E27FC236}">
                <a16:creationId xmlns:a16="http://schemas.microsoft.com/office/drawing/2014/main" id="{3CD46054-F56E-4D04-ADE9-8C91A518630C}"/>
              </a:ext>
            </a:extLst>
          </p:cNvPr>
          <p:cNvSpPr/>
          <p:nvPr/>
        </p:nvSpPr>
        <p:spPr>
          <a:xfrm>
            <a:off x="3299167" y="467618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跨國合作</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5" name="Google Shape;60;p1">
            <a:extLst>
              <a:ext uri="{FF2B5EF4-FFF2-40B4-BE49-F238E27FC236}">
                <a16:creationId xmlns:a16="http://schemas.microsoft.com/office/drawing/2014/main" id="{E9301CB5-4230-4077-837B-B1206DFCDF0E}"/>
              </a:ext>
            </a:extLst>
          </p:cNvPr>
          <p:cNvSpPr/>
          <p:nvPr/>
        </p:nvSpPr>
        <p:spPr>
          <a:xfrm>
            <a:off x="5779279" y="467618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業師輔導</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72D9D60C-ED53-4FFE-B6BF-32C45C532169}"/>
              </a:ext>
            </a:extLst>
          </p:cNvPr>
          <p:cNvCxnSpPr>
            <a:cxnSpLocks/>
          </p:cNvCxnSpPr>
          <p:nvPr/>
        </p:nvCxnSpPr>
        <p:spPr>
          <a:xfrm>
            <a:off x="4429219" y="3839304"/>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3BA3D6B2-15DD-4CF7-9E2D-F9FC320BF6A7}"/>
              </a:ext>
            </a:extLst>
          </p:cNvPr>
          <p:cNvCxnSpPr>
            <a:cxnSpLocks/>
          </p:cNvCxnSpPr>
          <p:nvPr/>
        </p:nvCxnSpPr>
        <p:spPr>
          <a:xfrm>
            <a:off x="186141" y="3839304"/>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34" name="Google Shape;60;p1">
            <a:extLst>
              <a:ext uri="{FF2B5EF4-FFF2-40B4-BE49-F238E27FC236}">
                <a16:creationId xmlns:a16="http://schemas.microsoft.com/office/drawing/2014/main" id="{1D1DF96B-A8FB-4123-B74D-6AED0AEB80A4}"/>
              </a:ext>
            </a:extLst>
          </p:cNvPr>
          <p:cNvSpPr/>
          <p:nvPr/>
        </p:nvSpPr>
        <p:spPr>
          <a:xfrm>
            <a:off x="8259392" y="467618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共享空間</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pic>
        <p:nvPicPr>
          <p:cNvPr id="6146" name="Picture 2" descr="創育機構-新竹縣】邁特創新基地">
            <a:extLst>
              <a:ext uri="{FF2B5EF4-FFF2-40B4-BE49-F238E27FC236}">
                <a16:creationId xmlns:a16="http://schemas.microsoft.com/office/drawing/2014/main" id="{D1707CA7-B842-4370-AF82-F42465E84204}"/>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664637" y="852320"/>
            <a:ext cx="2658981" cy="26589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169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A6FED-04A6-BE42-AE79-3162FFFB293F}"/>
            </a:ext>
          </a:extLst>
        </p:cNvPr>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7D9D2415-FA5B-1BD3-89DC-8CADDE543A3F}"/>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3209D6CF-C4FC-0515-33B1-3B43AC941455}"/>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8C3E0D32-9FCF-E053-2397-943495CF4474}"/>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E35632BE-DDAD-A7EF-71FC-E93219573CC4}"/>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B8AB7036-080B-DFAE-CE07-9D93B80AF7B8}"/>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18EAF500-D700-AF06-C306-38479DE42DD4}"/>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25432CAA-1527-D907-1038-AE1F58CFB8C4}"/>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0EDC4F64-7E49-8D7A-8237-264F78E5730B}"/>
              </a:ext>
            </a:extLst>
          </p:cNvPr>
          <p:cNvSpPr txBox="1"/>
          <p:nvPr/>
        </p:nvSpPr>
        <p:spPr>
          <a:xfrm>
            <a:off x="4034977" y="1250919"/>
            <a:ext cx="7366086" cy="2400785"/>
          </a:xfrm>
          <a:prstGeom prst="rect">
            <a:avLst/>
          </a:prstGeom>
          <a:noFill/>
        </p:spPr>
        <p:txBody>
          <a:bodyPr wrap="square">
            <a:spAutoFit/>
          </a:bodyPr>
          <a:lstStyle/>
          <a:p>
            <a:pPr>
              <a:lnSpc>
                <a:spcPct val="150000"/>
              </a:lnSpc>
            </a:pPr>
            <a:r>
              <a:rPr lang="zh-TW" altLang="en-US" sz="1700" b="1" dirty="0">
                <a:solidFill>
                  <a:srgbClr val="456244"/>
                </a:solidFill>
                <a:latin typeface="Microsoft YaHei" panose="020B0503020204020204" pitchFamily="34" charset="-122"/>
                <a:ea typeface="Microsoft YaHei" panose="020B0503020204020204" pitchFamily="34" charset="-122"/>
              </a:rPr>
              <a:t>國家衛生研究院創新育成中心致力打造具商業價值的「生醫創育生態系」。擁有強大的資本市場對接與輔導經驗，成功協助生醫新創登錄創櫃板。主推「雙導師制度」，可為新創精準匹配院內技術專家與業界商化專家，提供客製化輔導。在募資規劃上，聯合大型事務所提供財會與股權健檢，並協助對接「國發天使基金」提高團隊獲投率。同時具備豐富展會資源，能帶領團隊參與指標性大展以擴大市場能見度。</a:t>
            </a:r>
            <a:endParaRPr lang="en-US" altLang="zh-TW" sz="1700" b="1" dirty="0">
              <a:solidFill>
                <a:srgbClr val="456244"/>
              </a:solidFill>
              <a:latin typeface="Microsoft YaHei" panose="020B0503020204020204" pitchFamily="34" charset="-122"/>
              <a:ea typeface="Microsoft YaHei" panose="020B0503020204020204" pitchFamily="34" charset="-122"/>
            </a:endParaRPr>
          </a:p>
        </p:txBody>
      </p:sp>
      <p:sp>
        <p:nvSpPr>
          <p:cNvPr id="16" name="文字方塊 15">
            <a:extLst>
              <a:ext uri="{FF2B5EF4-FFF2-40B4-BE49-F238E27FC236}">
                <a16:creationId xmlns:a16="http://schemas.microsoft.com/office/drawing/2014/main" id="{001DE072-C5E7-0793-F947-FE8955C5069F}"/>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A04A007E-626E-9DE4-7867-A04A15917354}"/>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0818B410-E825-62C4-AD44-1BDAADA5AEF1}"/>
              </a:ext>
            </a:extLst>
          </p:cNvPr>
          <p:cNvSpPr/>
          <p:nvPr/>
        </p:nvSpPr>
        <p:spPr>
          <a:xfrm>
            <a:off x="819055" y="467618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生醫領域</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2A647C3A-4673-994E-EFF5-7F7BE311181D}"/>
              </a:ext>
            </a:extLst>
          </p:cNvPr>
          <p:cNvSpPr txBox="1"/>
          <p:nvPr/>
        </p:nvSpPr>
        <p:spPr>
          <a:xfrm>
            <a:off x="1496002" y="3423806"/>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24" name="Google Shape;60;p1">
            <a:extLst>
              <a:ext uri="{FF2B5EF4-FFF2-40B4-BE49-F238E27FC236}">
                <a16:creationId xmlns:a16="http://schemas.microsoft.com/office/drawing/2014/main" id="{CD3B0EB6-DF74-67F2-CE1D-40504ED0A177}"/>
              </a:ext>
            </a:extLst>
          </p:cNvPr>
          <p:cNvSpPr/>
          <p:nvPr/>
        </p:nvSpPr>
        <p:spPr>
          <a:xfrm>
            <a:off x="3299167" y="4676189"/>
            <a:ext cx="3001308"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資本市場對接</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5" name="Google Shape;60;p1">
            <a:extLst>
              <a:ext uri="{FF2B5EF4-FFF2-40B4-BE49-F238E27FC236}">
                <a16:creationId xmlns:a16="http://schemas.microsoft.com/office/drawing/2014/main" id="{BD1AB7C4-060D-D4B3-7823-7ABB7C6EE3BE}"/>
              </a:ext>
            </a:extLst>
          </p:cNvPr>
          <p:cNvSpPr/>
          <p:nvPr/>
        </p:nvSpPr>
        <p:spPr>
          <a:xfrm>
            <a:off x="6740352" y="467618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業師輔導</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C8313398-DA21-9AA1-6BB8-6C2E7573E2A4}"/>
              </a:ext>
            </a:extLst>
          </p:cNvPr>
          <p:cNvCxnSpPr>
            <a:cxnSpLocks/>
          </p:cNvCxnSpPr>
          <p:nvPr/>
        </p:nvCxnSpPr>
        <p:spPr>
          <a:xfrm>
            <a:off x="4429219" y="3839304"/>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6BA0EEF6-F7CD-F0BC-FE78-233E2BFD5194}"/>
              </a:ext>
            </a:extLst>
          </p:cNvPr>
          <p:cNvCxnSpPr>
            <a:cxnSpLocks/>
          </p:cNvCxnSpPr>
          <p:nvPr/>
        </p:nvCxnSpPr>
        <p:spPr>
          <a:xfrm>
            <a:off x="186141" y="3839304"/>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34" name="Google Shape;60;p1">
            <a:extLst>
              <a:ext uri="{FF2B5EF4-FFF2-40B4-BE49-F238E27FC236}">
                <a16:creationId xmlns:a16="http://schemas.microsoft.com/office/drawing/2014/main" id="{0D299BC3-F0AE-98FF-9544-37CF542F2F9A}"/>
              </a:ext>
            </a:extLst>
          </p:cNvPr>
          <p:cNvSpPr/>
          <p:nvPr/>
        </p:nvSpPr>
        <p:spPr>
          <a:xfrm>
            <a:off x="9220465" y="467618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展會資源</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pic>
        <p:nvPicPr>
          <p:cNvPr id="1026" name="Picture 2" descr="財團法人國家衛生研究院| Zhunan">
            <a:extLst>
              <a:ext uri="{FF2B5EF4-FFF2-40B4-BE49-F238E27FC236}">
                <a16:creationId xmlns:a16="http://schemas.microsoft.com/office/drawing/2014/main" id="{173B7F8A-4493-AFF8-E750-A3D81E24894D}"/>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524067" y="1123884"/>
            <a:ext cx="2631947" cy="24294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50835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0D828-32DB-F287-B7DA-78D7E64E8666}"/>
            </a:ext>
          </a:extLst>
        </p:cNvPr>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5CAD4291-3011-1B56-C44B-ACB59D96BA7C}"/>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F7106AE7-97B8-6791-CF08-2AC9E0520FC5}"/>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4DE61843-14A0-47A4-AB06-423F1B474DDA}"/>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3C9C7738-4E12-E365-BFFB-D0D8FFD4EA8D}"/>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F32317B8-4F81-CF5D-C0EF-E9421B0BB72F}"/>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F67A1274-77D7-B0F2-044C-285E7326A4E9}"/>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22128E0D-723D-BAF9-961E-35C042877A07}"/>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9056143C-1402-2209-2BAB-D0D6440042EA}"/>
              </a:ext>
            </a:extLst>
          </p:cNvPr>
          <p:cNvSpPr txBox="1"/>
          <p:nvPr/>
        </p:nvSpPr>
        <p:spPr>
          <a:xfrm>
            <a:off x="4034977" y="1250919"/>
            <a:ext cx="7366086" cy="1884875"/>
          </a:xfrm>
          <a:prstGeom prst="rect">
            <a:avLst/>
          </a:prstGeom>
          <a:noFill/>
        </p:spPr>
        <p:txBody>
          <a:bodyPr wrap="square">
            <a:spAutoFit/>
          </a:bodyPr>
          <a:lstStyle/>
          <a:p>
            <a:pPr>
              <a:lnSpc>
                <a:spcPct val="150000"/>
              </a:lnSpc>
            </a:pPr>
            <a:r>
              <a:rPr lang="zh-TW" altLang="en-US" sz="2000" b="1" dirty="0">
                <a:solidFill>
                  <a:srgbClr val="456244"/>
                </a:solidFill>
                <a:latin typeface="Microsoft YaHei" panose="020B0503020204020204" pitchFamily="34" charset="-122"/>
                <a:ea typeface="Microsoft YaHei" panose="020B0503020204020204" pitchFamily="34" charset="-122"/>
              </a:rPr>
              <a:t>安永聯合會計師事務所致力於幫助快速成長的新創公司實現成長目標。安永多年來以多元化模式提供新創輔導方案與專業服務，持續陪伴新創公司推進市場，並以在地化服務網路連結各方資源，積極運用全球的資源及專業服務，協助新創公司加值成長。</a:t>
            </a:r>
            <a:endParaRPr lang="en-US" altLang="zh-TW" sz="2000" b="1" dirty="0">
              <a:solidFill>
                <a:srgbClr val="456244"/>
              </a:solidFill>
              <a:latin typeface="Microsoft YaHei" panose="020B0503020204020204" pitchFamily="34" charset="-122"/>
              <a:ea typeface="Microsoft YaHei" panose="020B0503020204020204" pitchFamily="34" charset="-122"/>
            </a:endParaRPr>
          </a:p>
        </p:txBody>
      </p:sp>
      <p:sp>
        <p:nvSpPr>
          <p:cNvPr id="16" name="文字方塊 15">
            <a:extLst>
              <a:ext uri="{FF2B5EF4-FFF2-40B4-BE49-F238E27FC236}">
                <a16:creationId xmlns:a16="http://schemas.microsoft.com/office/drawing/2014/main" id="{3662A588-9EF9-E497-930A-6CCA5BE3FF6C}"/>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F3BE32BD-33FB-DA20-2591-FBC5A72DC3B7}"/>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49A83D0B-1815-09D3-9550-357D7956CE7F}"/>
              </a:ext>
            </a:extLst>
          </p:cNvPr>
          <p:cNvSpPr/>
          <p:nvPr/>
        </p:nvSpPr>
        <p:spPr>
          <a:xfrm>
            <a:off x="819055" y="467618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財會輔導</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3D1FEADA-6281-496D-52D8-37F6A6ED5559}"/>
              </a:ext>
            </a:extLst>
          </p:cNvPr>
          <p:cNvSpPr txBox="1"/>
          <p:nvPr/>
        </p:nvSpPr>
        <p:spPr>
          <a:xfrm>
            <a:off x="1496002" y="3423806"/>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24" name="Google Shape;60;p1">
            <a:extLst>
              <a:ext uri="{FF2B5EF4-FFF2-40B4-BE49-F238E27FC236}">
                <a16:creationId xmlns:a16="http://schemas.microsoft.com/office/drawing/2014/main" id="{BDD51A81-A22D-5507-94F7-326F0D3023AB}"/>
              </a:ext>
            </a:extLst>
          </p:cNvPr>
          <p:cNvSpPr/>
          <p:nvPr/>
        </p:nvSpPr>
        <p:spPr>
          <a:xfrm>
            <a:off x="3299167" y="4676189"/>
            <a:ext cx="3001308"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資本市場對接</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5" name="Google Shape;60;p1">
            <a:extLst>
              <a:ext uri="{FF2B5EF4-FFF2-40B4-BE49-F238E27FC236}">
                <a16:creationId xmlns:a16="http://schemas.microsoft.com/office/drawing/2014/main" id="{F97796EE-9FCA-A835-E5A0-E498FFAFA815}"/>
              </a:ext>
            </a:extLst>
          </p:cNvPr>
          <p:cNvSpPr/>
          <p:nvPr/>
        </p:nvSpPr>
        <p:spPr>
          <a:xfrm>
            <a:off x="6740352" y="467618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業師輔導</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712F88D1-7A01-5048-8638-71CBA81E81C5}"/>
              </a:ext>
            </a:extLst>
          </p:cNvPr>
          <p:cNvCxnSpPr>
            <a:cxnSpLocks/>
          </p:cNvCxnSpPr>
          <p:nvPr/>
        </p:nvCxnSpPr>
        <p:spPr>
          <a:xfrm>
            <a:off x="4429219" y="3839304"/>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3367D3EE-763A-FC90-4FFA-6BDA808E0777}"/>
              </a:ext>
            </a:extLst>
          </p:cNvPr>
          <p:cNvCxnSpPr>
            <a:cxnSpLocks/>
          </p:cNvCxnSpPr>
          <p:nvPr/>
        </p:nvCxnSpPr>
        <p:spPr>
          <a:xfrm>
            <a:off x="186141" y="3839304"/>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34" name="Google Shape;60;p1">
            <a:extLst>
              <a:ext uri="{FF2B5EF4-FFF2-40B4-BE49-F238E27FC236}">
                <a16:creationId xmlns:a16="http://schemas.microsoft.com/office/drawing/2014/main" id="{8D46A55E-F739-AC82-F338-41CE02019F84}"/>
              </a:ext>
            </a:extLst>
          </p:cNvPr>
          <p:cNvSpPr/>
          <p:nvPr/>
        </p:nvSpPr>
        <p:spPr>
          <a:xfrm>
            <a:off x="9220465" y="467618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公司治理</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pic>
        <p:nvPicPr>
          <p:cNvPr id="2050" name="Picture 2" descr="EY Taiwan 安永聯合會計師事務所| Taipei">
            <a:extLst>
              <a:ext uri="{FF2B5EF4-FFF2-40B4-BE49-F238E27FC236}">
                <a16:creationId xmlns:a16="http://schemas.microsoft.com/office/drawing/2014/main" id="{FFDF2ED7-5D09-1CB6-A9C4-BBC5BD00113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3909" y="1266482"/>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93524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7937B-BFEF-F087-BA02-FF56636C38FD}"/>
            </a:ext>
          </a:extLst>
        </p:cNvPr>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D5370B75-BFB2-7E76-CC66-49E3F4993B76}"/>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C6B307F0-87C1-8B64-5EAF-9C22F9CD3042}"/>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8E75BDAB-B188-BB4D-294C-7480A91780BD}"/>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946275B9-70F7-3BEF-EB96-F11C9BADDF7E}"/>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9A14BDB2-64B9-A0DD-D09A-B722916D5179}"/>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EBE6B684-19A6-7A25-E5EB-6FA37A3E4273}"/>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F79350E4-2845-6AD8-D753-D78075DAEE97}"/>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279C27FF-D395-7EF6-9A62-F2792E1107D6}"/>
              </a:ext>
            </a:extLst>
          </p:cNvPr>
          <p:cNvSpPr txBox="1"/>
          <p:nvPr/>
        </p:nvSpPr>
        <p:spPr>
          <a:xfrm>
            <a:off x="3299167" y="1250919"/>
            <a:ext cx="8101896" cy="2433167"/>
          </a:xfrm>
          <a:prstGeom prst="rect">
            <a:avLst/>
          </a:prstGeom>
          <a:noFill/>
        </p:spPr>
        <p:txBody>
          <a:bodyPr wrap="square">
            <a:spAutoFit/>
          </a:bodyPr>
          <a:lstStyle/>
          <a:p>
            <a:pPr>
              <a:lnSpc>
                <a:spcPts val="2300"/>
              </a:lnSpc>
            </a:pPr>
            <a:r>
              <a:rPr lang="zh-TW" altLang="en-US" b="1" dirty="0">
                <a:solidFill>
                  <a:srgbClr val="456244"/>
                </a:solidFill>
                <a:latin typeface="Microsoft YaHei" panose="020B0503020204020204" pitchFamily="34" charset="-122"/>
                <a:ea typeface="Microsoft YaHei" panose="020B0503020204020204" pitchFamily="34" charset="-122"/>
              </a:rPr>
              <a:t>生物技術開發中心（</a:t>
            </a:r>
            <a:r>
              <a:rPr lang="en-US" altLang="zh-TW" b="1" dirty="0">
                <a:solidFill>
                  <a:srgbClr val="456244"/>
                </a:solidFill>
                <a:latin typeface="Microsoft YaHei" panose="020B0503020204020204" pitchFamily="34" charset="-122"/>
                <a:ea typeface="Microsoft YaHei" panose="020B0503020204020204" pitchFamily="34" charset="-122"/>
              </a:rPr>
              <a:t>DCB</a:t>
            </a:r>
            <a:r>
              <a:rPr lang="zh-TW" altLang="en-US" b="1" dirty="0">
                <a:solidFill>
                  <a:srgbClr val="456244"/>
                </a:solidFill>
                <a:latin typeface="Microsoft YaHei" panose="020B0503020204020204" pitchFamily="34" charset="-122"/>
                <a:ea typeface="Microsoft YaHei" panose="020B0503020204020204" pitchFamily="34" charset="-122"/>
              </a:rPr>
              <a:t>）為國內具研發與產業轉譯能量之生技醫藥專業機構，長期投入臨床前藥物開發、關鍵技術建立與生醫新創育成，協助創新技術加速商品化與市場落地。南港生技育成中心</a:t>
            </a:r>
            <a:r>
              <a:rPr lang="en-US" altLang="zh-TW" b="1" dirty="0">
                <a:solidFill>
                  <a:srgbClr val="456244"/>
                </a:solidFill>
                <a:latin typeface="Microsoft YaHei" panose="020B0503020204020204" pitchFamily="34" charset="-122"/>
                <a:ea typeface="Microsoft YaHei" panose="020B0503020204020204" pitchFamily="34" charset="-122"/>
              </a:rPr>
              <a:t>(NBIC)</a:t>
            </a:r>
            <a:r>
              <a:rPr lang="zh-TW" altLang="en-US" b="1" dirty="0">
                <a:solidFill>
                  <a:srgbClr val="456244"/>
                </a:solidFill>
                <a:latin typeface="Microsoft YaHei" panose="020B0503020204020204" pitchFamily="34" charset="-122"/>
                <a:ea typeface="Microsoft YaHei" panose="020B0503020204020204" pitchFamily="34" charset="-122"/>
              </a:rPr>
              <a:t>為</a:t>
            </a:r>
            <a:r>
              <a:rPr lang="en-US" altLang="zh-TW" b="1" dirty="0">
                <a:solidFill>
                  <a:srgbClr val="456244"/>
                </a:solidFill>
                <a:latin typeface="Microsoft YaHei" panose="020B0503020204020204" pitchFamily="34" charset="-122"/>
                <a:ea typeface="Microsoft YaHei" panose="020B0503020204020204" pitchFamily="34" charset="-122"/>
              </a:rPr>
              <a:t>DCB</a:t>
            </a:r>
            <a:r>
              <a:rPr lang="zh-TW" altLang="en-US" b="1" dirty="0">
                <a:solidFill>
                  <a:srgbClr val="456244"/>
                </a:solidFill>
                <a:latin typeface="Microsoft YaHei" panose="020B0503020204020204" pitchFamily="34" charset="-122"/>
                <a:ea typeface="Microsoft YaHei" panose="020B0503020204020204" pitchFamily="34" charset="-122"/>
              </a:rPr>
              <a:t>設立之創新育成平台，聚焦生醫與數位健康領域新創團隊之培育。提供完善之營運空間、專用實驗室與儀器設備，並透過業師輔導、創新發表、產業鏈結與投資媒合等服務，協助團隊強化技術驗證、商業模式發展及募資準備。此外，</a:t>
            </a:r>
            <a:r>
              <a:rPr lang="en-US" altLang="zh-TW" b="1" dirty="0">
                <a:solidFill>
                  <a:srgbClr val="456244"/>
                </a:solidFill>
                <a:latin typeface="Microsoft YaHei" panose="020B0503020204020204" pitchFamily="34" charset="-122"/>
                <a:ea typeface="Microsoft YaHei" panose="020B0503020204020204" pitchFamily="34" charset="-122"/>
              </a:rPr>
              <a:t>NBIC</a:t>
            </a:r>
            <a:r>
              <a:rPr lang="zh-TW" altLang="en-US" b="1" dirty="0">
                <a:solidFill>
                  <a:srgbClr val="456244"/>
                </a:solidFill>
                <a:latin typeface="Microsoft YaHei" panose="020B0503020204020204" pitchFamily="34" charset="-122"/>
                <a:ea typeface="Microsoft YaHei" panose="020B0503020204020204" pitchFamily="34" charset="-122"/>
              </a:rPr>
              <a:t>自</a:t>
            </a:r>
            <a:r>
              <a:rPr lang="en-US" altLang="zh-TW" b="1" dirty="0">
                <a:solidFill>
                  <a:srgbClr val="456244"/>
                </a:solidFill>
                <a:latin typeface="Microsoft YaHei" panose="020B0503020204020204" pitchFamily="34" charset="-122"/>
                <a:ea typeface="Microsoft YaHei" panose="020B0503020204020204" pitchFamily="34" charset="-122"/>
              </a:rPr>
              <a:t>2018</a:t>
            </a:r>
            <a:r>
              <a:rPr lang="zh-TW" altLang="en-US" b="1" dirty="0">
                <a:solidFill>
                  <a:srgbClr val="456244"/>
                </a:solidFill>
                <a:latin typeface="Microsoft YaHei" panose="020B0503020204020204" pitchFamily="34" charset="-122"/>
                <a:ea typeface="Microsoft YaHei" panose="020B0503020204020204" pitchFamily="34" charset="-122"/>
              </a:rPr>
              <a:t>年起推動數位健康國際加速器計畫，與全球最大非營利加速器</a:t>
            </a:r>
            <a:r>
              <a:rPr lang="en-US" altLang="zh-TW" b="1" dirty="0" err="1">
                <a:solidFill>
                  <a:srgbClr val="456244"/>
                </a:solidFill>
                <a:latin typeface="Microsoft YaHei" panose="020B0503020204020204" pitchFamily="34" charset="-122"/>
                <a:ea typeface="Microsoft YaHei" panose="020B0503020204020204" pitchFamily="34" charset="-122"/>
              </a:rPr>
              <a:t>MassChallenge</a:t>
            </a:r>
            <a:r>
              <a:rPr lang="en-US" altLang="zh-TW" b="1" dirty="0">
                <a:solidFill>
                  <a:srgbClr val="456244"/>
                </a:solidFill>
                <a:latin typeface="Microsoft YaHei" panose="020B0503020204020204" pitchFamily="34" charset="-122"/>
                <a:ea typeface="Microsoft YaHei" panose="020B0503020204020204" pitchFamily="34" charset="-122"/>
              </a:rPr>
              <a:t> </a:t>
            </a:r>
            <a:r>
              <a:rPr lang="zh-TW" altLang="en-US" b="1" dirty="0">
                <a:solidFill>
                  <a:srgbClr val="456244"/>
                </a:solidFill>
                <a:latin typeface="Microsoft YaHei" panose="020B0503020204020204" pitchFamily="34" charset="-122"/>
                <a:ea typeface="Microsoft YaHei" panose="020B0503020204020204" pitchFamily="34" charset="-122"/>
              </a:rPr>
              <a:t>合作，提供團隊國際導師輔導、美東資源鏈結機會，協助拓展全球布局。</a:t>
            </a:r>
            <a:endParaRPr lang="en-US" altLang="zh-TW" b="1" dirty="0">
              <a:solidFill>
                <a:srgbClr val="456244"/>
              </a:solidFill>
              <a:latin typeface="Microsoft YaHei" panose="020B0503020204020204" pitchFamily="34" charset="-122"/>
              <a:ea typeface="Microsoft YaHei" panose="020B0503020204020204" pitchFamily="34" charset="-122"/>
            </a:endParaRPr>
          </a:p>
        </p:txBody>
      </p:sp>
      <p:sp>
        <p:nvSpPr>
          <p:cNvPr id="16" name="文字方塊 15">
            <a:extLst>
              <a:ext uri="{FF2B5EF4-FFF2-40B4-BE49-F238E27FC236}">
                <a16:creationId xmlns:a16="http://schemas.microsoft.com/office/drawing/2014/main" id="{5D40D4D6-A49D-7F58-AF51-04981B5367E2}"/>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433644CD-01D9-A476-2AA1-D092A26D22D5}"/>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2895AE3F-FA68-6C94-EE4D-4505D902E2A8}"/>
              </a:ext>
            </a:extLst>
          </p:cNvPr>
          <p:cNvSpPr/>
          <p:nvPr/>
        </p:nvSpPr>
        <p:spPr>
          <a:xfrm>
            <a:off x="819055" y="467618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生技醫藥</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795D0CA0-CF81-DA46-E7A6-FF264ABE02E5}"/>
              </a:ext>
            </a:extLst>
          </p:cNvPr>
          <p:cNvSpPr txBox="1"/>
          <p:nvPr/>
        </p:nvSpPr>
        <p:spPr>
          <a:xfrm>
            <a:off x="1496002" y="3643262"/>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24" name="Google Shape;60;p1">
            <a:extLst>
              <a:ext uri="{FF2B5EF4-FFF2-40B4-BE49-F238E27FC236}">
                <a16:creationId xmlns:a16="http://schemas.microsoft.com/office/drawing/2014/main" id="{61B173B6-AC5B-91A4-CA1A-D829BC2FB87F}"/>
              </a:ext>
            </a:extLst>
          </p:cNvPr>
          <p:cNvSpPr/>
          <p:nvPr/>
        </p:nvSpPr>
        <p:spPr>
          <a:xfrm>
            <a:off x="3299167" y="4676189"/>
            <a:ext cx="2165962"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數位健康</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5" name="Google Shape;60;p1">
            <a:extLst>
              <a:ext uri="{FF2B5EF4-FFF2-40B4-BE49-F238E27FC236}">
                <a16:creationId xmlns:a16="http://schemas.microsoft.com/office/drawing/2014/main" id="{471BCFE4-44BB-6637-5745-4B472E19CDF8}"/>
              </a:ext>
            </a:extLst>
          </p:cNvPr>
          <p:cNvSpPr/>
          <p:nvPr/>
        </p:nvSpPr>
        <p:spPr>
          <a:xfrm>
            <a:off x="5905006" y="467618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業師輔導</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4722BC14-3E7C-C601-6BE8-F270A33762CA}"/>
              </a:ext>
            </a:extLst>
          </p:cNvPr>
          <p:cNvCxnSpPr>
            <a:cxnSpLocks/>
          </p:cNvCxnSpPr>
          <p:nvPr/>
        </p:nvCxnSpPr>
        <p:spPr>
          <a:xfrm>
            <a:off x="4429219" y="4058760"/>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953C727A-18F2-24BB-CAB8-E4AA5E5746B5}"/>
              </a:ext>
            </a:extLst>
          </p:cNvPr>
          <p:cNvCxnSpPr>
            <a:cxnSpLocks/>
          </p:cNvCxnSpPr>
          <p:nvPr/>
        </p:nvCxnSpPr>
        <p:spPr>
          <a:xfrm>
            <a:off x="186141" y="4058760"/>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34" name="Google Shape;60;p1">
            <a:extLst>
              <a:ext uri="{FF2B5EF4-FFF2-40B4-BE49-F238E27FC236}">
                <a16:creationId xmlns:a16="http://schemas.microsoft.com/office/drawing/2014/main" id="{07318F26-9E39-00E8-DF69-D5A8697CCB91}"/>
              </a:ext>
            </a:extLst>
          </p:cNvPr>
          <p:cNvSpPr/>
          <p:nvPr/>
        </p:nvSpPr>
        <p:spPr>
          <a:xfrm>
            <a:off x="5280357" y="5710426"/>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產業鏈結</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pic>
        <p:nvPicPr>
          <p:cNvPr id="3074" name="Picture 2" descr="生物技術開發中心">
            <a:extLst>
              <a:ext uri="{FF2B5EF4-FFF2-40B4-BE49-F238E27FC236}">
                <a16:creationId xmlns:a16="http://schemas.microsoft.com/office/drawing/2014/main" id="{9273E5F4-C728-0693-C527-BA6CF97091BF}"/>
              </a:ext>
            </a:extLst>
          </p:cNvPr>
          <p:cNvPicPr>
            <a:picLocks noChangeAspect="1" noChangeArrowheads="1"/>
          </p:cNvPicPr>
          <p:nvPr/>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r="70784"/>
          <a:stretch>
            <a:fillRect/>
          </a:stretch>
        </p:blipFill>
        <p:spPr bwMode="auto">
          <a:xfrm>
            <a:off x="555167" y="1808818"/>
            <a:ext cx="2568010" cy="936197"/>
          </a:xfrm>
          <a:prstGeom prst="rect">
            <a:avLst/>
          </a:prstGeom>
          <a:noFill/>
          <a:extLst>
            <a:ext uri="{909E8E84-426E-40DD-AFC4-6F175D3DCCD1}">
              <a14:hiddenFill xmlns:a14="http://schemas.microsoft.com/office/drawing/2010/main">
                <a:solidFill>
                  <a:srgbClr val="FFFFFF"/>
                </a:solidFill>
              </a14:hiddenFill>
            </a:ext>
          </a:extLst>
        </p:spPr>
      </p:pic>
      <p:sp>
        <p:nvSpPr>
          <p:cNvPr id="2" name="Google Shape;60;p1">
            <a:extLst>
              <a:ext uri="{FF2B5EF4-FFF2-40B4-BE49-F238E27FC236}">
                <a16:creationId xmlns:a16="http://schemas.microsoft.com/office/drawing/2014/main" id="{543FB469-F1A9-1F5B-7F0A-58940C293FDE}"/>
              </a:ext>
            </a:extLst>
          </p:cNvPr>
          <p:cNvSpPr/>
          <p:nvPr/>
        </p:nvSpPr>
        <p:spPr>
          <a:xfrm>
            <a:off x="7836929" y="5723125"/>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投資媒合</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443689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FFDD7-CEC8-7D83-B122-F40508CE261A}"/>
            </a:ext>
          </a:extLst>
        </p:cNvPr>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71C542D0-3960-D432-0699-99BDEB35BAF2}"/>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DBCB6952-6B1A-974D-BB1B-F5FEBCB0FAF9}"/>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42B6900E-0EF9-6E72-A1EF-660DAFB52860}"/>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57C46ADD-C6AD-66AD-AC2C-67F90B16B8D6}"/>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813E4F61-0D3C-72B1-5B1E-14615B6798E2}"/>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31A4B388-CE8D-4360-9A8E-CC4369379F56}"/>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162A9C56-588A-7165-F6E1-3A4E81F02E2F}"/>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265F6A8D-07AA-A2AE-C0DF-1A02919B7509}"/>
              </a:ext>
            </a:extLst>
          </p:cNvPr>
          <p:cNvSpPr txBox="1"/>
          <p:nvPr/>
        </p:nvSpPr>
        <p:spPr>
          <a:xfrm>
            <a:off x="4034977" y="1250919"/>
            <a:ext cx="7366086" cy="2404248"/>
          </a:xfrm>
          <a:prstGeom prst="rect">
            <a:avLst/>
          </a:prstGeom>
          <a:noFill/>
        </p:spPr>
        <p:txBody>
          <a:bodyPr wrap="square">
            <a:spAutoFit/>
          </a:bodyPr>
          <a:lstStyle/>
          <a:p>
            <a:pPr>
              <a:lnSpc>
                <a:spcPts val="2600"/>
              </a:lnSpc>
            </a:pPr>
            <a:r>
              <a:rPr lang="zh-TW" altLang="en-US" sz="2000" b="1" dirty="0">
                <a:solidFill>
                  <a:srgbClr val="456244"/>
                </a:solidFill>
                <a:latin typeface="Microsoft YaHei" panose="020B0503020204020204" pitchFamily="34" charset="-122"/>
                <a:ea typeface="Microsoft YaHei" panose="020B0503020204020204" pitchFamily="34" charset="-122"/>
              </a:rPr>
              <a:t>台智雲 </a:t>
            </a:r>
            <a:r>
              <a:rPr lang="en-US" altLang="zh-TW" sz="2000" b="1" dirty="0">
                <a:solidFill>
                  <a:srgbClr val="456244"/>
                </a:solidFill>
                <a:latin typeface="Microsoft YaHei" panose="020B0503020204020204" pitchFamily="34" charset="-122"/>
                <a:ea typeface="Microsoft YaHei" panose="020B0503020204020204" pitchFamily="34" charset="-122"/>
              </a:rPr>
              <a:t>2021 </a:t>
            </a:r>
            <a:r>
              <a:rPr lang="zh-TW" altLang="en-US" sz="2000" b="1" dirty="0">
                <a:solidFill>
                  <a:srgbClr val="456244"/>
                </a:solidFill>
                <a:latin typeface="Microsoft YaHei" panose="020B0503020204020204" pitchFamily="34" charset="-122"/>
                <a:ea typeface="Microsoft YaHei" panose="020B0503020204020204" pitchFamily="34" charset="-122"/>
              </a:rPr>
              <a:t>年起先以「</a:t>
            </a:r>
            <a:r>
              <a:rPr lang="en-US" altLang="zh-TW" sz="2000" b="1" dirty="0">
                <a:solidFill>
                  <a:srgbClr val="456244"/>
                </a:solidFill>
                <a:latin typeface="Microsoft YaHei" panose="020B0503020204020204" pitchFamily="34" charset="-122"/>
                <a:ea typeface="Microsoft YaHei" panose="020B0503020204020204" pitchFamily="34" charset="-122"/>
              </a:rPr>
              <a:t>AI </a:t>
            </a:r>
            <a:r>
              <a:rPr lang="zh-TW" altLang="en-US" sz="2000" b="1" dirty="0">
                <a:solidFill>
                  <a:srgbClr val="456244"/>
                </a:solidFill>
                <a:latin typeface="Microsoft YaHei" panose="020B0503020204020204" pitchFamily="34" charset="-122"/>
                <a:ea typeface="Microsoft YaHei" panose="020B0503020204020204" pitchFamily="34" charset="-122"/>
              </a:rPr>
              <a:t>新創夥伴計畫」推動 </a:t>
            </a:r>
            <a:r>
              <a:rPr lang="en-US" altLang="zh-TW" sz="2000" b="1" dirty="0">
                <a:solidFill>
                  <a:srgbClr val="456244"/>
                </a:solidFill>
                <a:latin typeface="Microsoft YaHei" panose="020B0503020204020204" pitchFamily="34" charset="-122"/>
                <a:ea typeface="Microsoft YaHei" panose="020B0503020204020204" pitchFamily="34" charset="-122"/>
              </a:rPr>
              <a:t>AI </a:t>
            </a:r>
            <a:r>
              <a:rPr lang="zh-TW" altLang="en-US" sz="2000" b="1" dirty="0">
                <a:solidFill>
                  <a:srgbClr val="456244"/>
                </a:solidFill>
                <a:latin typeface="Microsoft YaHei" panose="020B0503020204020204" pitchFamily="34" charset="-122"/>
                <a:ea typeface="Microsoft YaHei" panose="020B0503020204020204" pitchFamily="34" charset="-122"/>
              </a:rPr>
              <a:t>產業生態圈（</a:t>
            </a:r>
            <a:r>
              <a:rPr lang="en-US" altLang="zh-TW" sz="2000" b="1" dirty="0">
                <a:solidFill>
                  <a:srgbClr val="456244"/>
                </a:solidFill>
                <a:latin typeface="Microsoft YaHei" panose="020B0503020204020204" pitchFamily="34" charset="-122"/>
                <a:ea typeface="Microsoft YaHei" panose="020B0503020204020204" pitchFamily="34" charset="-122"/>
              </a:rPr>
              <a:t>AI Ecosystem</a:t>
            </a:r>
            <a:r>
              <a:rPr lang="zh-TW" altLang="en-US" sz="2000" b="1" dirty="0">
                <a:solidFill>
                  <a:srgbClr val="456244"/>
                </a:solidFill>
                <a:latin typeface="Microsoft YaHei" panose="020B0503020204020204" pitchFamily="34" charset="-122"/>
                <a:ea typeface="Microsoft YaHei" panose="020B0503020204020204" pitchFamily="34" charset="-122"/>
              </a:rPr>
              <a:t>）的合作共生，旨在協助 </a:t>
            </a:r>
            <a:r>
              <a:rPr lang="en-US" altLang="zh-TW" sz="2000" b="1" dirty="0">
                <a:solidFill>
                  <a:srgbClr val="456244"/>
                </a:solidFill>
                <a:latin typeface="Microsoft YaHei" panose="020B0503020204020204" pitchFamily="34" charset="-122"/>
                <a:ea typeface="Microsoft YaHei" panose="020B0503020204020204" pitchFamily="34" charset="-122"/>
              </a:rPr>
              <a:t>AI </a:t>
            </a:r>
            <a:r>
              <a:rPr lang="zh-TW" altLang="en-US" sz="2000" b="1" dirty="0">
                <a:solidFill>
                  <a:srgbClr val="456244"/>
                </a:solidFill>
                <a:latin typeface="Microsoft YaHei" panose="020B0503020204020204" pitchFamily="34" charset="-122"/>
                <a:ea typeface="Microsoft YaHei" panose="020B0503020204020204" pitchFamily="34" charset="-122"/>
              </a:rPr>
              <a:t>新創夥伴的「智慧應用場域媒合和產品化銷售」，與第三方加速器、孵化器、育成中心等角色互補，提供台灣 </a:t>
            </a:r>
            <a:r>
              <a:rPr lang="en-US" altLang="zh-TW" sz="2000" b="1" dirty="0">
                <a:solidFill>
                  <a:srgbClr val="456244"/>
                </a:solidFill>
                <a:latin typeface="Microsoft YaHei" panose="020B0503020204020204" pitchFamily="34" charset="-122"/>
                <a:ea typeface="Microsoft YaHei" panose="020B0503020204020204" pitchFamily="34" charset="-122"/>
              </a:rPr>
              <a:t>AI </a:t>
            </a:r>
            <a:r>
              <a:rPr lang="zh-TW" altLang="en-US" sz="2000" b="1" dirty="0">
                <a:solidFill>
                  <a:srgbClr val="456244"/>
                </a:solidFill>
                <a:latin typeface="Microsoft YaHei" panose="020B0503020204020204" pitchFamily="34" charset="-122"/>
                <a:ea typeface="Microsoft YaHei" panose="020B0503020204020204" pitchFamily="34" charset="-122"/>
              </a:rPr>
              <a:t>新創夥伴完善的商業發展平台，一年內即取得超過 </a:t>
            </a:r>
            <a:r>
              <a:rPr lang="en-US" altLang="zh-TW" sz="2000" b="1" dirty="0">
                <a:solidFill>
                  <a:srgbClr val="456244"/>
                </a:solidFill>
                <a:latin typeface="Microsoft YaHei" panose="020B0503020204020204" pitchFamily="34" charset="-122"/>
                <a:ea typeface="Microsoft YaHei" panose="020B0503020204020204" pitchFamily="34" charset="-122"/>
              </a:rPr>
              <a:t>60 </a:t>
            </a:r>
            <a:r>
              <a:rPr lang="zh-TW" altLang="en-US" sz="2000" b="1" dirty="0">
                <a:solidFill>
                  <a:srgbClr val="456244"/>
                </a:solidFill>
                <a:latin typeface="Microsoft YaHei" panose="020B0503020204020204" pitchFamily="34" charset="-122"/>
                <a:ea typeface="Microsoft YaHei" panose="020B0503020204020204" pitchFamily="34" charset="-122"/>
              </a:rPr>
              <a:t>家</a:t>
            </a:r>
            <a:r>
              <a:rPr lang="en-US" altLang="zh-TW" sz="2000" b="1" dirty="0">
                <a:solidFill>
                  <a:srgbClr val="456244"/>
                </a:solidFill>
                <a:latin typeface="Microsoft YaHei" panose="020B0503020204020204" pitchFamily="34" charset="-122"/>
                <a:ea typeface="Microsoft YaHei" panose="020B0503020204020204" pitchFamily="34" charset="-122"/>
              </a:rPr>
              <a:t>AI</a:t>
            </a:r>
            <a:r>
              <a:rPr lang="zh-TW" altLang="en-US" sz="2000" b="1" dirty="0">
                <a:solidFill>
                  <a:srgbClr val="456244"/>
                </a:solidFill>
                <a:latin typeface="Microsoft YaHei" panose="020B0503020204020204" pitchFamily="34" charset="-122"/>
                <a:ea typeface="Microsoft YaHei" panose="020B0503020204020204" pitchFamily="34" charset="-122"/>
              </a:rPr>
              <a:t>新創夥伴簽約之卓越成效。</a:t>
            </a:r>
            <a:r>
              <a:rPr lang="en-US" altLang="zh-TW" sz="2000" b="1" dirty="0">
                <a:solidFill>
                  <a:srgbClr val="456244"/>
                </a:solidFill>
                <a:latin typeface="Microsoft YaHei" panose="020B0503020204020204" pitchFamily="34" charset="-122"/>
                <a:ea typeface="Microsoft YaHei" panose="020B0503020204020204" pitchFamily="34" charset="-122"/>
              </a:rPr>
              <a:t>2023 </a:t>
            </a:r>
            <a:r>
              <a:rPr lang="zh-TW" altLang="en-US" sz="2000" b="1" dirty="0">
                <a:solidFill>
                  <a:srgbClr val="456244"/>
                </a:solidFill>
                <a:latin typeface="Microsoft YaHei" panose="020B0503020204020204" pitchFamily="34" charset="-122"/>
                <a:ea typeface="Microsoft YaHei" panose="020B0503020204020204" pitchFamily="34" charset="-122"/>
              </a:rPr>
              <a:t>年在母公司華碩集團的支持下，台智雲 </a:t>
            </a:r>
            <a:r>
              <a:rPr lang="en-US" altLang="zh-TW" sz="2000" b="1" dirty="0">
                <a:solidFill>
                  <a:srgbClr val="456244"/>
                </a:solidFill>
                <a:latin typeface="Microsoft YaHei" panose="020B0503020204020204" pitchFamily="34" charset="-122"/>
                <a:ea typeface="Microsoft YaHei" panose="020B0503020204020204" pitchFamily="34" charset="-122"/>
              </a:rPr>
              <a:t>AI </a:t>
            </a:r>
            <a:r>
              <a:rPr lang="zh-TW" altLang="en-US" sz="2000" b="1" dirty="0">
                <a:solidFill>
                  <a:srgbClr val="456244"/>
                </a:solidFill>
                <a:latin typeface="Microsoft YaHei" panose="020B0503020204020204" pitchFamily="34" charset="-122"/>
                <a:ea typeface="Microsoft YaHei" panose="020B0503020204020204" pitchFamily="34" charset="-122"/>
              </a:rPr>
              <a:t>超算加速器計畫因應 </a:t>
            </a:r>
            <a:r>
              <a:rPr lang="en-US" altLang="zh-TW" sz="2000" b="1" dirty="0">
                <a:solidFill>
                  <a:srgbClr val="456244"/>
                </a:solidFill>
                <a:latin typeface="Microsoft YaHei" panose="020B0503020204020204" pitchFamily="34" charset="-122"/>
                <a:ea typeface="Microsoft YaHei" panose="020B0503020204020204" pitchFamily="34" charset="-122"/>
              </a:rPr>
              <a:t>AI </a:t>
            </a:r>
            <a:r>
              <a:rPr lang="zh-TW" altLang="en-US" sz="2000" b="1" dirty="0">
                <a:solidFill>
                  <a:srgbClr val="456244"/>
                </a:solidFill>
                <a:latin typeface="Microsoft YaHei" panose="020B0503020204020204" pitchFamily="34" charset="-122"/>
                <a:ea typeface="Microsoft YaHei" panose="020B0503020204020204" pitchFamily="34" charset="-122"/>
              </a:rPr>
              <a:t>產業數位發展政策而全面升級，正式成立營運！</a:t>
            </a:r>
            <a:endParaRPr lang="en-US" altLang="zh-TW" sz="2000" b="1" dirty="0">
              <a:solidFill>
                <a:srgbClr val="456244"/>
              </a:solidFill>
              <a:latin typeface="Microsoft YaHei" panose="020B0503020204020204" pitchFamily="34" charset="-122"/>
              <a:ea typeface="Microsoft YaHei" panose="020B0503020204020204" pitchFamily="34" charset="-122"/>
            </a:endParaRPr>
          </a:p>
        </p:txBody>
      </p:sp>
      <p:sp>
        <p:nvSpPr>
          <p:cNvPr id="16" name="文字方塊 15">
            <a:extLst>
              <a:ext uri="{FF2B5EF4-FFF2-40B4-BE49-F238E27FC236}">
                <a16:creationId xmlns:a16="http://schemas.microsoft.com/office/drawing/2014/main" id="{15484E90-C0D3-3729-3789-BB17415F6E6A}"/>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0A16348C-F3E0-68C2-4C57-82FEB8FA8091}"/>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D51F55B6-055F-01C8-ADCD-6ADF6915CE38}"/>
              </a:ext>
            </a:extLst>
          </p:cNvPr>
          <p:cNvSpPr/>
          <p:nvPr/>
        </p:nvSpPr>
        <p:spPr>
          <a:xfrm>
            <a:off x="1798498" y="467618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en-US" altLang="zh-TW" sz="3200" b="1" dirty="0">
                <a:solidFill>
                  <a:schemeClr val="bg1"/>
                </a:solidFill>
                <a:latin typeface="Microsoft YaHei" panose="020B0503020204020204" pitchFamily="34" charset="-122"/>
                <a:ea typeface="Microsoft YaHei" panose="020B0503020204020204" pitchFamily="34" charset="-122"/>
              </a:rPr>
              <a:t>AI</a:t>
            </a:r>
            <a:r>
              <a:rPr lang="zh-TW" altLang="en-US" sz="3200" b="1" dirty="0">
                <a:solidFill>
                  <a:schemeClr val="bg1"/>
                </a:solidFill>
                <a:latin typeface="Microsoft YaHei" panose="020B0503020204020204" pitchFamily="34" charset="-122"/>
                <a:ea typeface="Microsoft YaHei" panose="020B0503020204020204" pitchFamily="34" charset="-122"/>
              </a:rPr>
              <a:t>生態系</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F866027B-D3B3-4E5F-494E-CB36FCFB64C6}"/>
              </a:ext>
            </a:extLst>
          </p:cNvPr>
          <p:cNvSpPr txBox="1"/>
          <p:nvPr/>
        </p:nvSpPr>
        <p:spPr>
          <a:xfrm>
            <a:off x="1496002" y="3423806"/>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24" name="Google Shape;60;p1">
            <a:extLst>
              <a:ext uri="{FF2B5EF4-FFF2-40B4-BE49-F238E27FC236}">
                <a16:creationId xmlns:a16="http://schemas.microsoft.com/office/drawing/2014/main" id="{0987792C-B0CA-F3C8-E7AF-C11C3062C8B2}"/>
              </a:ext>
            </a:extLst>
          </p:cNvPr>
          <p:cNvSpPr/>
          <p:nvPr/>
        </p:nvSpPr>
        <p:spPr>
          <a:xfrm>
            <a:off x="4278610" y="4676189"/>
            <a:ext cx="2165962"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商業對接</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5" name="Google Shape;60;p1">
            <a:extLst>
              <a:ext uri="{FF2B5EF4-FFF2-40B4-BE49-F238E27FC236}">
                <a16:creationId xmlns:a16="http://schemas.microsoft.com/office/drawing/2014/main" id="{FB0E78F2-6761-6CBB-EA8F-AEEB617FDA7B}"/>
              </a:ext>
            </a:extLst>
          </p:cNvPr>
          <p:cNvSpPr/>
          <p:nvPr/>
        </p:nvSpPr>
        <p:spPr>
          <a:xfrm>
            <a:off x="6884449" y="467618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場域媒合</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566C1101-6C93-7ACA-02C0-703F6B9C8EA2}"/>
              </a:ext>
            </a:extLst>
          </p:cNvPr>
          <p:cNvCxnSpPr>
            <a:cxnSpLocks/>
          </p:cNvCxnSpPr>
          <p:nvPr/>
        </p:nvCxnSpPr>
        <p:spPr>
          <a:xfrm>
            <a:off x="4429219" y="3839304"/>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878DC08F-B1D3-5F29-BB70-D4E71BF72023}"/>
              </a:ext>
            </a:extLst>
          </p:cNvPr>
          <p:cNvCxnSpPr>
            <a:cxnSpLocks/>
          </p:cNvCxnSpPr>
          <p:nvPr/>
        </p:nvCxnSpPr>
        <p:spPr>
          <a:xfrm>
            <a:off x="186141" y="3839304"/>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4098" name="Picture 2" descr="台智雲Taiwan AI Cloud - YouTube">
            <a:extLst>
              <a:ext uri="{FF2B5EF4-FFF2-40B4-BE49-F238E27FC236}">
                <a16:creationId xmlns:a16="http://schemas.microsoft.com/office/drawing/2014/main" id="{F8C5B259-9715-44C7-8D3B-E168581CC22B}"/>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56763" y="883464"/>
            <a:ext cx="3123284" cy="3123284"/>
          </a:xfrm>
          <a:prstGeom prst="rect">
            <a:avLst/>
          </a:prstGeom>
          <a:noFill/>
          <a:extLst>
            <a:ext uri="{909E8E84-426E-40DD-AFC4-6F175D3DCCD1}">
              <a14:hiddenFill xmlns:a14="http://schemas.microsoft.com/office/drawing/2010/main">
                <a:solidFill>
                  <a:srgbClr val="FFFFFF"/>
                </a:solidFill>
              </a14:hiddenFill>
            </a:ext>
          </a:extLst>
        </p:spPr>
      </p:pic>
      <p:sp>
        <p:nvSpPr>
          <p:cNvPr id="3" name="Google Shape;60;p1">
            <a:extLst>
              <a:ext uri="{FF2B5EF4-FFF2-40B4-BE49-F238E27FC236}">
                <a16:creationId xmlns:a16="http://schemas.microsoft.com/office/drawing/2014/main" id="{9BD03D08-DA1F-0E23-8246-43049D55C854}"/>
              </a:ext>
            </a:extLst>
          </p:cNvPr>
          <p:cNvSpPr/>
          <p:nvPr/>
        </p:nvSpPr>
        <p:spPr>
          <a:xfrm>
            <a:off x="9364561" y="4676188"/>
            <a:ext cx="2165963"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產品化銷售</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5710480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8B8A24-B5A4-E56A-8C33-D2A6A36D9F4A}"/>
            </a:ext>
          </a:extLst>
        </p:cNvPr>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0E57E7D4-3645-5C94-E64B-41D1EE0A5119}"/>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A82CB67D-B7AC-E9B1-D941-E5AA1DADCC2E}"/>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9E5B6BE0-28CC-4DB1-75F1-690D47B5B9D8}"/>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801C5E27-A475-42AC-037E-B8B5F9C935E1}"/>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2C0DFE5D-38D7-AF22-38B6-3656EC0ED715}"/>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092FEA8B-CB8F-0B1D-E469-35F5FE3F01CC}"/>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CD796937-0AAB-2B51-91FD-8A2AF0D881A5}"/>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80B67042-F259-8037-10A4-CD095B5A8EF9}"/>
              </a:ext>
            </a:extLst>
          </p:cNvPr>
          <p:cNvSpPr txBox="1"/>
          <p:nvPr/>
        </p:nvSpPr>
        <p:spPr>
          <a:xfrm>
            <a:off x="4034977" y="1250919"/>
            <a:ext cx="7366086" cy="2558136"/>
          </a:xfrm>
          <a:prstGeom prst="rect">
            <a:avLst/>
          </a:prstGeom>
          <a:noFill/>
        </p:spPr>
        <p:txBody>
          <a:bodyPr wrap="square">
            <a:spAutoFit/>
          </a:bodyPr>
          <a:lstStyle/>
          <a:p>
            <a:pPr>
              <a:lnSpc>
                <a:spcPts val="2800"/>
              </a:lnSpc>
            </a:pPr>
            <a:r>
              <a:rPr lang="zh-TW" altLang="en-US" sz="2000" b="1" dirty="0">
                <a:solidFill>
                  <a:srgbClr val="456244"/>
                </a:solidFill>
                <a:latin typeface="Microsoft YaHei" panose="020B0503020204020204" pitchFamily="34" charset="-122"/>
                <a:ea typeface="Microsoft YaHei" panose="020B0503020204020204" pitchFamily="34" charset="-122"/>
              </a:rPr>
              <a:t>扶田資本（</a:t>
            </a:r>
            <a:r>
              <a:rPr lang="en-US" altLang="zh-TW" sz="2000" b="1" dirty="0">
                <a:solidFill>
                  <a:srgbClr val="456244"/>
                </a:solidFill>
                <a:latin typeface="Microsoft YaHei" panose="020B0503020204020204" pitchFamily="34" charset="-122"/>
                <a:ea typeface="Microsoft YaHei" panose="020B0503020204020204" pitchFamily="34" charset="-122"/>
              </a:rPr>
              <a:t>Foodland Ventures</a:t>
            </a:r>
            <a:r>
              <a:rPr lang="zh-TW" altLang="en-US" sz="2000" b="1" dirty="0">
                <a:solidFill>
                  <a:srgbClr val="456244"/>
                </a:solidFill>
                <a:latin typeface="Microsoft YaHei" panose="020B0503020204020204" pitchFamily="34" charset="-122"/>
                <a:ea typeface="Microsoft YaHei" panose="020B0503020204020204" pitchFamily="34" charset="-122"/>
              </a:rPr>
              <a:t>）是臺灣第一個餐飲科技創投基金與創業加速器，由餐飲科技連續創業家與飲食產業專家等創立，專注於扶持顛覆性科技新創團隊，包括雲端廚房、自動化機器、智慧供應鏈、硬體與軟體服務等專業領域，協助鏈結從產地到餐桌的餐飲產業供應鏈資源、國內外創業家與投資人網絡，及實體餐飲品牌測試沙盒，引領餐飲科技新創團隊走向國際舞台。</a:t>
            </a:r>
          </a:p>
          <a:p>
            <a:pPr>
              <a:lnSpc>
                <a:spcPts val="2600"/>
              </a:lnSpc>
            </a:pPr>
            <a:endParaRPr lang="en-US" altLang="zh-TW" sz="2000" b="1" dirty="0">
              <a:solidFill>
                <a:srgbClr val="456244"/>
              </a:solidFill>
              <a:latin typeface="Microsoft YaHei" panose="020B0503020204020204" pitchFamily="34" charset="-122"/>
              <a:ea typeface="Microsoft YaHei" panose="020B0503020204020204" pitchFamily="34" charset="-122"/>
            </a:endParaRPr>
          </a:p>
        </p:txBody>
      </p:sp>
      <p:sp>
        <p:nvSpPr>
          <p:cNvPr id="16" name="文字方塊 15">
            <a:extLst>
              <a:ext uri="{FF2B5EF4-FFF2-40B4-BE49-F238E27FC236}">
                <a16:creationId xmlns:a16="http://schemas.microsoft.com/office/drawing/2014/main" id="{1F09738A-ED62-D9F1-77AC-B8FB4834A072}"/>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246B24DA-9CC6-6457-7340-3ED80C045657}"/>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88BAFA41-E161-7320-1363-E7872C21E62F}"/>
              </a:ext>
            </a:extLst>
          </p:cNvPr>
          <p:cNvSpPr/>
          <p:nvPr/>
        </p:nvSpPr>
        <p:spPr>
          <a:xfrm>
            <a:off x="1798498" y="467618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餐飲科技</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178BBA8D-5BD2-0E34-B3B2-548F6DBCBA43}"/>
              </a:ext>
            </a:extLst>
          </p:cNvPr>
          <p:cNvSpPr txBox="1"/>
          <p:nvPr/>
        </p:nvSpPr>
        <p:spPr>
          <a:xfrm>
            <a:off x="1496002" y="3423806"/>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24" name="Google Shape;60;p1">
            <a:extLst>
              <a:ext uri="{FF2B5EF4-FFF2-40B4-BE49-F238E27FC236}">
                <a16:creationId xmlns:a16="http://schemas.microsoft.com/office/drawing/2014/main" id="{24F8AB84-940B-B9DD-44F0-62669FDAEA30}"/>
              </a:ext>
            </a:extLst>
          </p:cNvPr>
          <p:cNvSpPr/>
          <p:nvPr/>
        </p:nvSpPr>
        <p:spPr>
          <a:xfrm>
            <a:off x="4278610" y="4676189"/>
            <a:ext cx="2479874"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智慧供應鏈</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5" name="Google Shape;60;p1">
            <a:extLst>
              <a:ext uri="{FF2B5EF4-FFF2-40B4-BE49-F238E27FC236}">
                <a16:creationId xmlns:a16="http://schemas.microsoft.com/office/drawing/2014/main" id="{78278CD0-1887-D90D-0DA6-5592F1E223DA}"/>
              </a:ext>
            </a:extLst>
          </p:cNvPr>
          <p:cNvSpPr/>
          <p:nvPr/>
        </p:nvSpPr>
        <p:spPr>
          <a:xfrm>
            <a:off x="7242904" y="467618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國際鏈結</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2EB228C0-51D5-F624-F76D-D6AE87F5A0CF}"/>
              </a:ext>
            </a:extLst>
          </p:cNvPr>
          <p:cNvCxnSpPr>
            <a:cxnSpLocks/>
          </p:cNvCxnSpPr>
          <p:nvPr/>
        </p:nvCxnSpPr>
        <p:spPr>
          <a:xfrm>
            <a:off x="4429219" y="3839304"/>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1B3975BF-001D-7E94-80F2-C6ED637B7457}"/>
              </a:ext>
            </a:extLst>
          </p:cNvPr>
          <p:cNvCxnSpPr>
            <a:cxnSpLocks/>
          </p:cNvCxnSpPr>
          <p:nvPr/>
        </p:nvCxnSpPr>
        <p:spPr>
          <a:xfrm>
            <a:off x="186141" y="3839304"/>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5124" name="Picture 4" descr="TTA Techfest 加速器">
            <a:extLst>
              <a:ext uri="{FF2B5EF4-FFF2-40B4-BE49-F238E27FC236}">
                <a16:creationId xmlns:a16="http://schemas.microsoft.com/office/drawing/2014/main" id="{9FBB11FF-47D3-F6AE-A8AE-44A8DB58F9B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1274" y="1424018"/>
            <a:ext cx="3497578" cy="17487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437850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5E374C-0425-25B6-E653-06A42FB1CCBB}"/>
            </a:ext>
          </a:extLst>
        </p:cNvPr>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0D3FA93C-DE79-11FC-1005-D5E579809E91}"/>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BE9A19DA-E317-4248-33EA-827F7C7E3FA7}"/>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418E5643-A697-73E8-402F-27EB589B2BD4}"/>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01773D7F-17A9-DFF8-784E-5816B8E35B60}"/>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843804B5-EB21-40BB-6846-C37A261CB697}"/>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A8703DBA-3E86-6C75-433E-1C13E1138EF1}"/>
              </a:ext>
            </a:extLst>
          </p:cNvPr>
          <p:cNvPicPr>
            <a:picLocks noChangeAspect="1"/>
          </p:cNvPicPr>
          <p:nvPr/>
        </p:nvPicPr>
        <p:blipFill>
          <a:blip r:embed="rId3"/>
          <a:stretch>
            <a:fillRect/>
          </a:stretch>
        </p:blipFill>
        <p:spPr>
          <a:xfrm>
            <a:off x="5910631" y="339433"/>
            <a:ext cx="4488495" cy="6848032"/>
          </a:xfrm>
          <a:prstGeom prst="rect">
            <a:avLst/>
          </a:prstGeom>
        </p:spPr>
      </p:pic>
      <p:pic>
        <p:nvPicPr>
          <p:cNvPr id="20" name="圖片 19">
            <a:extLst>
              <a:ext uri="{FF2B5EF4-FFF2-40B4-BE49-F238E27FC236}">
                <a16:creationId xmlns:a16="http://schemas.microsoft.com/office/drawing/2014/main" id="{2B75E62B-D743-DE1F-CE7E-68A3C69292F5}"/>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3543E51A-EA16-2E66-4359-9886FA5375D5}"/>
              </a:ext>
            </a:extLst>
          </p:cNvPr>
          <p:cNvSpPr txBox="1"/>
          <p:nvPr/>
        </p:nvSpPr>
        <p:spPr>
          <a:xfrm>
            <a:off x="3838733" y="1180397"/>
            <a:ext cx="7657942" cy="3267048"/>
          </a:xfrm>
          <a:prstGeom prst="rect">
            <a:avLst/>
          </a:prstGeom>
          <a:noFill/>
        </p:spPr>
        <p:txBody>
          <a:bodyPr wrap="square">
            <a:spAutoFit/>
          </a:bodyPr>
          <a:lstStyle/>
          <a:p>
            <a:pPr algn="just">
              <a:lnSpc>
                <a:spcPts val="2500"/>
              </a:lnSpc>
            </a:pPr>
            <a:r>
              <a:rPr lang="en-US" altLang="zh-TW" sz="1600" b="1" dirty="0">
                <a:solidFill>
                  <a:srgbClr val="456244"/>
                </a:solidFill>
                <a:latin typeface="Microsoft YaHei" panose="020B0503020204020204" pitchFamily="34" charset="-122"/>
                <a:ea typeface="Microsoft YaHei" panose="020B0503020204020204" pitchFamily="34" charset="-122"/>
              </a:rPr>
              <a:t>Garage+ </a:t>
            </a:r>
            <a:r>
              <a:rPr lang="zh-TW" altLang="en-US" sz="1600" b="1" dirty="0">
                <a:solidFill>
                  <a:srgbClr val="456244"/>
                </a:solidFill>
                <a:latin typeface="Microsoft YaHei" panose="020B0503020204020204" pitchFamily="34" charset="-122"/>
                <a:ea typeface="Microsoft YaHei" panose="020B0503020204020204" pitchFamily="34" charset="-122"/>
              </a:rPr>
              <a:t>是由時代基金會成立的零股權新創加速器，致力支持具有利他精神、渴望對影響世界的深科技新創團隊。</a:t>
            </a:r>
            <a:r>
              <a:rPr lang="en-US" altLang="zh-TW" sz="1600" b="1" dirty="0">
                <a:solidFill>
                  <a:srgbClr val="456244"/>
                </a:solidFill>
                <a:latin typeface="Microsoft YaHei" panose="020B0503020204020204" pitchFamily="34" charset="-122"/>
                <a:ea typeface="Microsoft YaHei" panose="020B0503020204020204" pitchFamily="34" charset="-122"/>
              </a:rPr>
              <a:t>Garage+ </a:t>
            </a:r>
            <a:r>
              <a:rPr lang="zh-TW" altLang="en-US" sz="1600" b="1" dirty="0">
                <a:solidFill>
                  <a:srgbClr val="456244"/>
                </a:solidFill>
                <a:latin typeface="Microsoft YaHei" panose="020B0503020204020204" pitchFamily="34" charset="-122"/>
                <a:ea typeface="Microsoft YaHei" panose="020B0503020204020204" pitchFamily="34" charset="-122"/>
              </a:rPr>
              <a:t>不僅是育成機構，更建立了充滿活力的創新社群，由實戰經驗豐富的創業人、投資人與企業領袖，共同為早期新創公司提供全方位支持，包括業師輔導、策略指引及關鍵資源的連結。 </a:t>
            </a:r>
            <a:r>
              <a:rPr lang="en-US" altLang="zh-TW" sz="1600" b="1" dirty="0">
                <a:solidFill>
                  <a:srgbClr val="456244"/>
                </a:solidFill>
                <a:latin typeface="Microsoft YaHei" panose="020B0503020204020204" pitchFamily="34" charset="-122"/>
                <a:ea typeface="Microsoft YaHei" panose="020B0503020204020204" pitchFamily="34" charset="-122"/>
              </a:rPr>
              <a:t>Garage+ </a:t>
            </a:r>
            <a:r>
              <a:rPr lang="zh-TW" altLang="en-US" sz="1600" b="1" dirty="0">
                <a:solidFill>
                  <a:srgbClr val="456244"/>
                </a:solidFill>
                <a:latin typeface="Microsoft YaHei" panose="020B0503020204020204" pitchFamily="34" charset="-122"/>
                <a:ea typeface="Microsoft YaHei" panose="020B0503020204020204" pitchFamily="34" charset="-122"/>
              </a:rPr>
              <a:t>專注於協助科技新創公司克服技術與市場的挑戰，充分發揮台灣的世界級供應鏈優勢，扮演連結產業夥伴的橋樑，加速深科技創新的商品化與全球拓展。創新之於 </a:t>
            </a:r>
            <a:r>
              <a:rPr lang="en-US" altLang="zh-TW" sz="1600" b="1" dirty="0">
                <a:solidFill>
                  <a:srgbClr val="456244"/>
                </a:solidFill>
                <a:latin typeface="Microsoft YaHei" panose="020B0503020204020204" pitchFamily="34" charset="-122"/>
                <a:ea typeface="Microsoft YaHei" panose="020B0503020204020204" pitchFamily="34" charset="-122"/>
              </a:rPr>
              <a:t>Garage+</a:t>
            </a:r>
            <a:r>
              <a:rPr lang="zh-TW" altLang="en-US" sz="1600" b="1" dirty="0">
                <a:solidFill>
                  <a:srgbClr val="456244"/>
                </a:solidFill>
                <a:latin typeface="Microsoft YaHei" panose="020B0503020204020204" pitchFamily="34" charset="-122"/>
                <a:ea typeface="Microsoft YaHei" panose="020B0503020204020204" pitchFamily="34" charset="-122"/>
              </a:rPr>
              <a:t>，不只是實現夢想，更是支持創業者勇敢跨越障礙，而無需讓渡股權，成為許多使命導向的創業人，發揮全球影響力的重要起點。</a:t>
            </a:r>
            <a:r>
              <a:rPr lang="en-US" altLang="zh-TW" sz="1600" b="1" dirty="0">
                <a:solidFill>
                  <a:srgbClr val="456244"/>
                </a:solidFill>
                <a:latin typeface="Microsoft YaHei" panose="020B0503020204020204" pitchFamily="34" charset="-122"/>
                <a:ea typeface="Microsoft YaHei" panose="020B0503020204020204" pitchFamily="34" charset="-122"/>
              </a:rPr>
              <a:t>2014 </a:t>
            </a:r>
            <a:r>
              <a:rPr lang="zh-TW" altLang="en-US" sz="1600" b="1" dirty="0">
                <a:solidFill>
                  <a:srgbClr val="456244"/>
                </a:solidFill>
                <a:latin typeface="Microsoft YaHei" panose="020B0503020204020204" pitchFamily="34" charset="-122"/>
                <a:ea typeface="Microsoft YaHei" panose="020B0503020204020204" pitchFamily="34" charset="-122"/>
              </a:rPr>
              <a:t>年至今， </a:t>
            </a:r>
            <a:r>
              <a:rPr lang="en-US" altLang="zh-TW" sz="1600" b="1" dirty="0">
                <a:solidFill>
                  <a:srgbClr val="456244"/>
                </a:solidFill>
                <a:latin typeface="Microsoft YaHei" panose="020B0503020204020204" pitchFamily="34" charset="-122"/>
                <a:ea typeface="Microsoft YaHei" panose="020B0503020204020204" pitchFamily="34" charset="-122"/>
              </a:rPr>
              <a:t>674 </a:t>
            </a:r>
            <a:r>
              <a:rPr lang="zh-TW" altLang="en-US" sz="1600" b="1" dirty="0">
                <a:solidFill>
                  <a:srgbClr val="456244"/>
                </a:solidFill>
                <a:latin typeface="Microsoft YaHei" panose="020B0503020204020204" pitchFamily="34" charset="-122"/>
                <a:ea typeface="Microsoft YaHei" panose="020B0503020204020204" pitchFamily="34" charset="-122"/>
              </a:rPr>
              <a:t>家新創公司加入 </a:t>
            </a:r>
            <a:r>
              <a:rPr lang="en-US" altLang="zh-TW" sz="1600" b="1" dirty="0">
                <a:solidFill>
                  <a:srgbClr val="456244"/>
                </a:solidFill>
                <a:latin typeface="Microsoft YaHei" panose="020B0503020204020204" pitchFamily="34" charset="-122"/>
                <a:ea typeface="Microsoft YaHei" panose="020B0503020204020204" pitchFamily="34" charset="-122"/>
              </a:rPr>
              <a:t>Garage+</a:t>
            </a:r>
            <a:r>
              <a:rPr lang="zh-TW" altLang="en-US" sz="1600" b="1" dirty="0">
                <a:solidFill>
                  <a:srgbClr val="456244"/>
                </a:solidFill>
                <a:latin typeface="Microsoft YaHei" panose="020B0503020204020204" pitchFamily="34" charset="-122"/>
                <a:ea typeface="Microsoft YaHei" panose="020B0503020204020204" pitchFamily="34" charset="-122"/>
              </a:rPr>
              <a:t>，含 </a:t>
            </a:r>
            <a:r>
              <a:rPr lang="en-US" altLang="zh-TW" sz="1600" b="1" dirty="0">
                <a:solidFill>
                  <a:srgbClr val="456244"/>
                </a:solidFill>
                <a:latin typeface="Microsoft YaHei" panose="020B0503020204020204" pitchFamily="34" charset="-122"/>
                <a:ea typeface="Microsoft YaHei" panose="020B0503020204020204" pitchFamily="34" charset="-122"/>
              </a:rPr>
              <a:t>330 </a:t>
            </a:r>
            <a:r>
              <a:rPr lang="zh-TW" altLang="en-US" sz="1600" b="1" dirty="0">
                <a:solidFill>
                  <a:srgbClr val="456244"/>
                </a:solidFill>
                <a:latin typeface="Microsoft YaHei" panose="020B0503020204020204" pitchFamily="34" charset="-122"/>
                <a:ea typeface="Microsoft YaHei" panose="020B0503020204020204" pitchFamily="34" charset="-122"/>
              </a:rPr>
              <a:t>組海外團隊；產業領域以人工智慧、大數據、物聯網、智慧裝置、生醫、綠能科技為主。</a:t>
            </a:r>
            <a:endParaRPr lang="en-US" altLang="zh-TW" sz="1600" b="1" dirty="0">
              <a:solidFill>
                <a:srgbClr val="456244"/>
              </a:solidFill>
              <a:latin typeface="Microsoft YaHei" panose="020B0503020204020204" pitchFamily="34" charset="-122"/>
              <a:ea typeface="Microsoft YaHei" panose="020B0503020204020204" pitchFamily="34" charset="-122"/>
            </a:endParaRPr>
          </a:p>
        </p:txBody>
      </p:sp>
      <p:sp>
        <p:nvSpPr>
          <p:cNvPr id="16" name="文字方塊 15">
            <a:extLst>
              <a:ext uri="{FF2B5EF4-FFF2-40B4-BE49-F238E27FC236}">
                <a16:creationId xmlns:a16="http://schemas.microsoft.com/office/drawing/2014/main" id="{0740DD9D-7D64-D458-68A0-3DFF952382FA}"/>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CF4278E1-3229-8E73-4FFD-CB78597F8CF0}"/>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0F5F2914-43B6-97D4-77A8-226C0B510D40}"/>
              </a:ext>
            </a:extLst>
          </p:cNvPr>
          <p:cNvSpPr/>
          <p:nvPr/>
        </p:nvSpPr>
        <p:spPr>
          <a:xfrm>
            <a:off x="3849391" y="5185101"/>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深科技</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5F015C84-35FD-C269-DD5A-0A1F205678DA}"/>
              </a:ext>
            </a:extLst>
          </p:cNvPr>
          <p:cNvSpPr txBox="1"/>
          <p:nvPr/>
        </p:nvSpPr>
        <p:spPr>
          <a:xfrm>
            <a:off x="1496002" y="4362290"/>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24" name="Google Shape;60;p1">
            <a:extLst>
              <a:ext uri="{FF2B5EF4-FFF2-40B4-BE49-F238E27FC236}">
                <a16:creationId xmlns:a16="http://schemas.microsoft.com/office/drawing/2014/main" id="{61A92611-4BE1-31EE-0C7F-A07A653C008F}"/>
              </a:ext>
            </a:extLst>
          </p:cNvPr>
          <p:cNvSpPr/>
          <p:nvPr/>
        </p:nvSpPr>
        <p:spPr>
          <a:xfrm>
            <a:off x="6329503" y="5185101"/>
            <a:ext cx="2165962"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業師輔導</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5" name="Google Shape;60;p1">
            <a:extLst>
              <a:ext uri="{FF2B5EF4-FFF2-40B4-BE49-F238E27FC236}">
                <a16:creationId xmlns:a16="http://schemas.microsoft.com/office/drawing/2014/main" id="{98FE2C6A-DC6E-565A-AFD9-B87AF2AB3D44}"/>
              </a:ext>
            </a:extLst>
          </p:cNvPr>
          <p:cNvSpPr/>
          <p:nvPr/>
        </p:nvSpPr>
        <p:spPr>
          <a:xfrm>
            <a:off x="8935342" y="5185101"/>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國際鏈結</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8197E2FB-F496-104C-1AF5-040FFA1EC68B}"/>
              </a:ext>
            </a:extLst>
          </p:cNvPr>
          <p:cNvCxnSpPr>
            <a:cxnSpLocks/>
          </p:cNvCxnSpPr>
          <p:nvPr/>
        </p:nvCxnSpPr>
        <p:spPr>
          <a:xfrm>
            <a:off x="4429219" y="4777788"/>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1D55E565-9764-E962-58EA-FEF894DA1B95}"/>
              </a:ext>
            </a:extLst>
          </p:cNvPr>
          <p:cNvCxnSpPr>
            <a:cxnSpLocks/>
          </p:cNvCxnSpPr>
          <p:nvPr/>
        </p:nvCxnSpPr>
        <p:spPr>
          <a:xfrm>
            <a:off x="186141" y="4777788"/>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7170" name="Picture 2" descr="2023_mustsee">
            <a:extLst>
              <a:ext uri="{FF2B5EF4-FFF2-40B4-BE49-F238E27FC236}">
                <a16:creationId xmlns:a16="http://schemas.microsoft.com/office/drawing/2014/main" id="{2FCA6957-AA7C-ABF2-B821-6429C2F358C8}"/>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02766" y="1552906"/>
            <a:ext cx="3236743" cy="11535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671716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603FB5CE-66B1-495D-96FC-7928E4F80D6B}"/>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5601A2E7-0E55-468E-BEEA-2393C43981A4}"/>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D8EC5C19-ABFA-44F3-8254-E15DE92D1D99}"/>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1ADF1DF8-152F-4F84-88A0-BE74E88F8625}"/>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0B72E9A8-CF14-4FF7-9E15-64B48B2470DA}"/>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0E82C1B8-AEBD-4A06-B5A3-79A5B40E5377}"/>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819F6466-0B47-43DC-B5BA-F8AADE3C095A}"/>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AD88B799-0CD3-4D0F-93BA-D4DBDE029223}"/>
              </a:ext>
            </a:extLst>
          </p:cNvPr>
          <p:cNvSpPr txBox="1"/>
          <p:nvPr/>
        </p:nvSpPr>
        <p:spPr>
          <a:xfrm>
            <a:off x="3761325" y="1310260"/>
            <a:ext cx="7804328" cy="2121093"/>
          </a:xfrm>
          <a:prstGeom prst="rect">
            <a:avLst/>
          </a:prstGeom>
          <a:noFill/>
        </p:spPr>
        <p:txBody>
          <a:bodyPr wrap="square">
            <a:spAutoFit/>
          </a:bodyPr>
          <a:lstStyle/>
          <a:p>
            <a:pPr>
              <a:lnSpc>
                <a:spcPct val="150000"/>
              </a:lnSpc>
            </a:pPr>
            <a:r>
              <a:rPr lang="zh-TW" altLang="en-US" b="1" dirty="0">
                <a:solidFill>
                  <a:srgbClr val="456244"/>
                </a:solidFill>
                <a:latin typeface="Microsoft YaHei" panose="020B0503020204020204" pitchFamily="34" charset="-122"/>
                <a:ea typeface="Microsoft YaHei" panose="020B0503020204020204" pitchFamily="34" charset="-122"/>
              </a:rPr>
              <a:t>國立陽明交通大學產業加速器暨專利開發策略中心於</a:t>
            </a:r>
            <a:r>
              <a:rPr lang="en-US" altLang="zh-TW" b="1" dirty="0">
                <a:solidFill>
                  <a:srgbClr val="456244"/>
                </a:solidFill>
                <a:latin typeface="Microsoft YaHei" panose="020B0503020204020204" pitchFamily="34" charset="-122"/>
                <a:ea typeface="Microsoft YaHei" panose="020B0503020204020204" pitchFamily="34" charset="-122"/>
              </a:rPr>
              <a:t>2013</a:t>
            </a:r>
            <a:r>
              <a:rPr lang="zh-TW" altLang="en-US" b="1" dirty="0">
                <a:solidFill>
                  <a:srgbClr val="456244"/>
                </a:solidFill>
                <a:latin typeface="Microsoft YaHei" panose="020B0503020204020204" pitchFamily="34" charset="-122"/>
                <a:ea typeface="Microsoft YaHei" panose="020B0503020204020204" pitchFamily="34" charset="-122"/>
              </a:rPr>
              <a:t>年成立，為全國第一家由學界成立的育成加速器。</a:t>
            </a:r>
            <a:r>
              <a:rPr lang="en-US" altLang="zh-TW" b="1" dirty="0">
                <a:solidFill>
                  <a:srgbClr val="456244"/>
                </a:solidFill>
                <a:latin typeface="Microsoft YaHei" panose="020B0503020204020204" pitchFamily="34" charset="-122"/>
                <a:ea typeface="Microsoft YaHei" panose="020B0503020204020204" pitchFamily="34" charset="-122"/>
              </a:rPr>
              <a:t>IAPS </a:t>
            </a:r>
            <a:r>
              <a:rPr lang="zh-TW" altLang="en-US" b="1" dirty="0">
                <a:solidFill>
                  <a:srgbClr val="456244"/>
                </a:solidFill>
                <a:latin typeface="Microsoft YaHei" panose="020B0503020204020204" pitchFamily="34" charset="-122"/>
                <a:ea typeface="Microsoft YaHei" panose="020B0503020204020204" pitchFamily="34" charset="-122"/>
              </a:rPr>
              <a:t>首先以亞洲市場為主軸，成立亞太加速器網絡聯盟，廣邀亞洲的加速器夥伴參與，每年固定集會交流市場商機與合作機會。同時，透過政府計劃支持，率團參與多國會展，促成商業合作。時至今日，</a:t>
            </a:r>
            <a:r>
              <a:rPr lang="en-US" altLang="zh-TW" b="1" dirty="0">
                <a:solidFill>
                  <a:srgbClr val="456244"/>
                </a:solidFill>
                <a:latin typeface="Microsoft YaHei" panose="020B0503020204020204" pitchFamily="34" charset="-122"/>
                <a:ea typeface="Microsoft YaHei" panose="020B0503020204020204" pitchFamily="34" charset="-122"/>
              </a:rPr>
              <a:t>IAPS</a:t>
            </a:r>
            <a:r>
              <a:rPr lang="zh-TW" altLang="en-US" b="1" dirty="0">
                <a:solidFill>
                  <a:srgbClr val="456244"/>
                </a:solidFill>
                <a:latin typeface="Microsoft YaHei" panose="020B0503020204020204" pitchFamily="34" charset="-122"/>
                <a:ea typeface="Microsoft YaHei" panose="020B0503020204020204" pitchFamily="34" charset="-122"/>
              </a:rPr>
              <a:t>在全球已有多個深度合作的國際夥伴以及國際加速專案。</a:t>
            </a:r>
            <a:endParaRPr lang="en-US" altLang="zh-TW" b="1" dirty="0">
              <a:solidFill>
                <a:srgbClr val="456244"/>
              </a:solidFill>
              <a:latin typeface="Microsoft YaHei" panose="020B0503020204020204" pitchFamily="34" charset="-122"/>
              <a:ea typeface="Microsoft YaHei" panose="020B0503020204020204" pitchFamily="34" charset="-122"/>
            </a:endParaRPr>
          </a:p>
        </p:txBody>
      </p:sp>
      <p:sp>
        <p:nvSpPr>
          <p:cNvPr id="16" name="文字方塊 15">
            <a:extLst>
              <a:ext uri="{FF2B5EF4-FFF2-40B4-BE49-F238E27FC236}">
                <a16:creationId xmlns:a16="http://schemas.microsoft.com/office/drawing/2014/main" id="{AA1592E9-8A80-4EBE-B868-A20DDC3941E4}"/>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5EC138D0-DF4C-4830-B61B-0BFC947F9254}"/>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5E066F3E-34E4-42A6-A526-7C0208898BF0}"/>
              </a:ext>
            </a:extLst>
          </p:cNvPr>
          <p:cNvSpPr/>
          <p:nvPr/>
        </p:nvSpPr>
        <p:spPr>
          <a:xfrm>
            <a:off x="819055" y="467618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資金媒合</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FF64B067-8914-42C4-9770-4789A8D8E608}"/>
              </a:ext>
            </a:extLst>
          </p:cNvPr>
          <p:cNvSpPr txBox="1"/>
          <p:nvPr/>
        </p:nvSpPr>
        <p:spPr>
          <a:xfrm>
            <a:off x="1496002" y="3423806"/>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24" name="Google Shape;60;p1">
            <a:extLst>
              <a:ext uri="{FF2B5EF4-FFF2-40B4-BE49-F238E27FC236}">
                <a16:creationId xmlns:a16="http://schemas.microsoft.com/office/drawing/2014/main" id="{3CD46054-F56E-4D04-ADE9-8C91A518630C}"/>
              </a:ext>
            </a:extLst>
          </p:cNvPr>
          <p:cNvSpPr/>
          <p:nvPr/>
        </p:nvSpPr>
        <p:spPr>
          <a:xfrm>
            <a:off x="3299167" y="467618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跨國合作</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5" name="Google Shape;60;p1">
            <a:extLst>
              <a:ext uri="{FF2B5EF4-FFF2-40B4-BE49-F238E27FC236}">
                <a16:creationId xmlns:a16="http://schemas.microsoft.com/office/drawing/2014/main" id="{E9301CB5-4230-4077-837B-B1206DFCDF0E}"/>
              </a:ext>
            </a:extLst>
          </p:cNvPr>
          <p:cNvSpPr/>
          <p:nvPr/>
        </p:nvSpPr>
        <p:spPr>
          <a:xfrm>
            <a:off x="5779279" y="467618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業師輔導</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72D9D60C-ED53-4FFE-B6BF-32C45C532169}"/>
              </a:ext>
            </a:extLst>
          </p:cNvPr>
          <p:cNvCxnSpPr>
            <a:cxnSpLocks/>
          </p:cNvCxnSpPr>
          <p:nvPr/>
        </p:nvCxnSpPr>
        <p:spPr>
          <a:xfrm>
            <a:off x="4429219" y="3839304"/>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3BA3D6B2-15DD-4CF7-9E2D-F9FC320BF6A7}"/>
              </a:ext>
            </a:extLst>
          </p:cNvPr>
          <p:cNvCxnSpPr>
            <a:cxnSpLocks/>
          </p:cNvCxnSpPr>
          <p:nvPr/>
        </p:nvCxnSpPr>
        <p:spPr>
          <a:xfrm>
            <a:off x="186141" y="3839304"/>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34" name="Google Shape;60;p1">
            <a:extLst>
              <a:ext uri="{FF2B5EF4-FFF2-40B4-BE49-F238E27FC236}">
                <a16:creationId xmlns:a16="http://schemas.microsoft.com/office/drawing/2014/main" id="{1D1DF96B-A8FB-4123-B74D-6AED0AEB80A4}"/>
              </a:ext>
            </a:extLst>
          </p:cNvPr>
          <p:cNvSpPr/>
          <p:nvPr/>
        </p:nvSpPr>
        <p:spPr>
          <a:xfrm>
            <a:off x="8259392" y="4676189"/>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共享空間</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pic>
        <p:nvPicPr>
          <p:cNvPr id="3" name="圖片 2">
            <a:extLst>
              <a:ext uri="{FF2B5EF4-FFF2-40B4-BE49-F238E27FC236}">
                <a16:creationId xmlns:a16="http://schemas.microsoft.com/office/drawing/2014/main" id="{5C91347B-73EC-400B-9CF1-D8C09054915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2928" y="1829272"/>
            <a:ext cx="3015470" cy="942760"/>
          </a:xfrm>
          <a:prstGeom prst="rect">
            <a:avLst/>
          </a:prstGeom>
        </p:spPr>
      </p:pic>
    </p:spTree>
    <p:extLst>
      <p:ext uri="{BB962C8B-B14F-4D97-AF65-F5344CB8AC3E}">
        <p14:creationId xmlns:p14="http://schemas.microsoft.com/office/powerpoint/2010/main" val="5844778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B40D8-296C-B1B7-ED1A-F5693E009A19}"/>
            </a:ext>
          </a:extLst>
        </p:cNvPr>
        <p:cNvGrpSpPr/>
        <p:nvPr/>
      </p:nvGrpSpPr>
      <p:grpSpPr>
        <a:xfrm>
          <a:off x="0" y="0"/>
          <a:ext cx="0" cy="0"/>
          <a:chOff x="0" y="0"/>
          <a:chExt cx="0" cy="0"/>
        </a:xfrm>
      </p:grpSpPr>
      <p:pic>
        <p:nvPicPr>
          <p:cNvPr id="5" name="Google Shape;59;p1" descr="一張含有 文字, 螢幕擷取畫面, 字型, 地圖 的圖片  AI 產生的內容可能不正確。">
            <a:extLst>
              <a:ext uri="{FF2B5EF4-FFF2-40B4-BE49-F238E27FC236}">
                <a16:creationId xmlns:a16="http://schemas.microsoft.com/office/drawing/2014/main" id="{98F98FB3-A377-4C2B-4A9B-BC6FBF4B52EC}"/>
              </a:ext>
            </a:extLst>
          </p:cNvPr>
          <p:cNvPicPr preferRelativeResize="0"/>
          <p:nvPr/>
        </p:nvPicPr>
        <p:blipFill rotWithShape="1">
          <a:blip r:embed="rId2">
            <a:alphaModFix/>
          </a:blip>
          <a:srcRect/>
          <a:stretch/>
        </p:blipFill>
        <p:spPr>
          <a:xfrm>
            <a:off x="0" y="0"/>
            <a:ext cx="12192000" cy="6858000"/>
          </a:xfrm>
          <a:prstGeom prst="rect">
            <a:avLst/>
          </a:prstGeom>
          <a:noFill/>
          <a:ln>
            <a:noFill/>
          </a:ln>
        </p:spPr>
      </p:pic>
      <p:pic>
        <p:nvPicPr>
          <p:cNvPr id="11" name="圖片 10">
            <a:extLst>
              <a:ext uri="{FF2B5EF4-FFF2-40B4-BE49-F238E27FC236}">
                <a16:creationId xmlns:a16="http://schemas.microsoft.com/office/drawing/2014/main" id="{EDA0A66F-BE49-792F-1F50-55F68018D2E8}"/>
              </a:ext>
            </a:extLst>
          </p:cNvPr>
          <p:cNvPicPr>
            <a:picLocks noChangeAspect="1"/>
          </p:cNvPicPr>
          <p:nvPr/>
        </p:nvPicPr>
        <p:blipFill>
          <a:blip r:embed="rId3"/>
          <a:stretch>
            <a:fillRect/>
          </a:stretch>
        </p:blipFill>
        <p:spPr>
          <a:xfrm>
            <a:off x="37942" y="833120"/>
            <a:ext cx="6522451" cy="2082800"/>
          </a:xfrm>
          <a:prstGeom prst="rect">
            <a:avLst/>
          </a:prstGeom>
        </p:spPr>
      </p:pic>
      <p:pic>
        <p:nvPicPr>
          <p:cNvPr id="9" name="圖片 8">
            <a:extLst>
              <a:ext uri="{FF2B5EF4-FFF2-40B4-BE49-F238E27FC236}">
                <a16:creationId xmlns:a16="http://schemas.microsoft.com/office/drawing/2014/main" id="{90309227-1526-A7C1-4245-62C79C36FD4D}"/>
              </a:ext>
            </a:extLst>
          </p:cNvPr>
          <p:cNvPicPr>
            <a:picLocks noChangeAspect="1"/>
          </p:cNvPicPr>
          <p:nvPr/>
        </p:nvPicPr>
        <p:blipFill>
          <a:blip r:embed="rId4"/>
          <a:stretch>
            <a:fillRect/>
          </a:stretch>
        </p:blipFill>
        <p:spPr>
          <a:xfrm>
            <a:off x="312105" y="132678"/>
            <a:ext cx="3364047" cy="1037752"/>
          </a:xfrm>
          <a:prstGeom prst="rect">
            <a:avLst/>
          </a:prstGeom>
        </p:spPr>
      </p:pic>
      <p:pic>
        <p:nvPicPr>
          <p:cNvPr id="15" name="圖片 14">
            <a:extLst>
              <a:ext uri="{FF2B5EF4-FFF2-40B4-BE49-F238E27FC236}">
                <a16:creationId xmlns:a16="http://schemas.microsoft.com/office/drawing/2014/main" id="{0B407114-A2E8-7CD2-B1A9-8E32AB7FBA21}"/>
              </a:ext>
            </a:extLst>
          </p:cNvPr>
          <p:cNvPicPr>
            <a:picLocks noChangeAspect="1"/>
          </p:cNvPicPr>
          <p:nvPr/>
        </p:nvPicPr>
        <p:blipFill>
          <a:blip r:embed="rId3"/>
          <a:stretch>
            <a:fillRect/>
          </a:stretch>
        </p:blipFill>
        <p:spPr>
          <a:xfrm>
            <a:off x="186141" y="3337306"/>
            <a:ext cx="5592901" cy="2020019"/>
          </a:xfrm>
          <a:prstGeom prst="rect">
            <a:avLst/>
          </a:prstGeom>
        </p:spPr>
      </p:pic>
      <p:cxnSp>
        <p:nvCxnSpPr>
          <p:cNvPr id="18" name="直線接點 17">
            <a:extLst>
              <a:ext uri="{FF2B5EF4-FFF2-40B4-BE49-F238E27FC236}">
                <a16:creationId xmlns:a16="http://schemas.microsoft.com/office/drawing/2014/main" id="{3286728F-BA32-F9CB-C82E-65D0975D7754}"/>
              </a:ext>
            </a:extLst>
          </p:cNvPr>
          <p:cNvCxnSpPr>
            <a:cxnSpLocks/>
          </p:cNvCxnSpPr>
          <p:nvPr/>
        </p:nvCxnSpPr>
        <p:spPr>
          <a:xfrm>
            <a:off x="4034977" y="833121"/>
            <a:ext cx="2296750"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9" name="圖片 18">
            <a:extLst>
              <a:ext uri="{FF2B5EF4-FFF2-40B4-BE49-F238E27FC236}">
                <a16:creationId xmlns:a16="http://schemas.microsoft.com/office/drawing/2014/main" id="{03E5F2AD-009B-F9DE-3F5F-B9632A34B093}"/>
              </a:ext>
            </a:extLst>
          </p:cNvPr>
          <p:cNvPicPr>
            <a:picLocks noChangeAspect="1"/>
          </p:cNvPicPr>
          <p:nvPr/>
        </p:nvPicPr>
        <p:blipFill>
          <a:blip r:embed="rId3"/>
          <a:stretch>
            <a:fillRect/>
          </a:stretch>
        </p:blipFill>
        <p:spPr>
          <a:xfrm>
            <a:off x="5905007" y="9967"/>
            <a:ext cx="4488495" cy="6848032"/>
          </a:xfrm>
          <a:prstGeom prst="rect">
            <a:avLst/>
          </a:prstGeom>
        </p:spPr>
      </p:pic>
      <p:pic>
        <p:nvPicPr>
          <p:cNvPr id="20" name="圖片 19">
            <a:extLst>
              <a:ext uri="{FF2B5EF4-FFF2-40B4-BE49-F238E27FC236}">
                <a16:creationId xmlns:a16="http://schemas.microsoft.com/office/drawing/2014/main" id="{7A28863A-D0CF-5CE4-2C8B-CAB250033636}"/>
              </a:ext>
            </a:extLst>
          </p:cNvPr>
          <p:cNvPicPr>
            <a:picLocks noChangeAspect="1"/>
          </p:cNvPicPr>
          <p:nvPr/>
        </p:nvPicPr>
        <p:blipFill>
          <a:blip r:embed="rId3"/>
          <a:stretch>
            <a:fillRect/>
          </a:stretch>
        </p:blipFill>
        <p:spPr>
          <a:xfrm>
            <a:off x="6300475" y="132678"/>
            <a:ext cx="4488495" cy="3011155"/>
          </a:xfrm>
          <a:prstGeom prst="rect">
            <a:avLst/>
          </a:prstGeom>
        </p:spPr>
      </p:pic>
      <p:sp>
        <p:nvSpPr>
          <p:cNvPr id="21" name="文字方塊 20">
            <a:extLst>
              <a:ext uri="{FF2B5EF4-FFF2-40B4-BE49-F238E27FC236}">
                <a16:creationId xmlns:a16="http://schemas.microsoft.com/office/drawing/2014/main" id="{553C4C9E-47CD-AD06-3B32-26E92F51FDCC}"/>
              </a:ext>
            </a:extLst>
          </p:cNvPr>
          <p:cNvSpPr txBox="1"/>
          <p:nvPr/>
        </p:nvSpPr>
        <p:spPr>
          <a:xfrm>
            <a:off x="3761325" y="1310260"/>
            <a:ext cx="7804328" cy="3016916"/>
          </a:xfrm>
          <a:prstGeom prst="rect">
            <a:avLst/>
          </a:prstGeom>
          <a:noFill/>
        </p:spPr>
        <p:txBody>
          <a:bodyPr wrap="square">
            <a:spAutoFit/>
          </a:bodyPr>
          <a:lstStyle/>
          <a:p>
            <a:pPr algn="just">
              <a:lnSpc>
                <a:spcPts val="2300"/>
              </a:lnSpc>
            </a:pPr>
            <a:r>
              <a:rPr lang="zh-TW" altLang="en-US" sz="1600" b="1" dirty="0">
                <a:solidFill>
                  <a:srgbClr val="456244"/>
                </a:solidFill>
                <a:latin typeface="Microsoft YaHei" panose="020B0503020204020204" pitchFamily="34" charset="-122"/>
                <a:ea typeface="Microsoft YaHei" panose="020B0503020204020204" pitchFamily="34" charset="-122"/>
              </a:rPr>
              <a:t>資誠於</a:t>
            </a:r>
            <a:r>
              <a:rPr lang="en-US" altLang="zh-TW" sz="1600" b="1" dirty="0">
                <a:solidFill>
                  <a:srgbClr val="456244"/>
                </a:solidFill>
                <a:latin typeface="Microsoft YaHei" panose="020B0503020204020204" pitchFamily="34" charset="-122"/>
                <a:ea typeface="Microsoft YaHei" panose="020B0503020204020204" pitchFamily="34" charset="-122"/>
              </a:rPr>
              <a:t>2019</a:t>
            </a:r>
            <a:r>
              <a:rPr lang="zh-TW" altLang="en-US" sz="1600" b="1" dirty="0">
                <a:solidFill>
                  <a:srgbClr val="456244"/>
                </a:solidFill>
                <a:latin typeface="Microsoft YaHei" panose="020B0503020204020204" pitchFamily="34" charset="-122"/>
                <a:ea typeface="Microsoft YaHei" panose="020B0503020204020204" pitchFamily="34" charset="-122"/>
              </a:rPr>
              <a:t>年成立資誠創業成長加速器</a:t>
            </a:r>
            <a:r>
              <a:rPr lang="en-GB" altLang="zh-TW" sz="1600" b="1" dirty="0">
                <a:solidFill>
                  <a:srgbClr val="456244"/>
                </a:solidFill>
                <a:latin typeface="Microsoft YaHei" panose="020B0503020204020204" pitchFamily="34" charset="-122"/>
                <a:ea typeface="Microsoft YaHei" panose="020B0503020204020204" pitchFamily="34" charset="-122"/>
              </a:rPr>
              <a:t>Scale programme</a:t>
            </a:r>
            <a:r>
              <a:rPr lang="zh-TW" altLang="en-GB" sz="1600" b="1" dirty="0">
                <a:solidFill>
                  <a:srgbClr val="456244"/>
                </a:solidFill>
                <a:latin typeface="Microsoft YaHei" panose="020B0503020204020204" pitchFamily="34" charset="-122"/>
                <a:ea typeface="Microsoft YaHei" panose="020B0503020204020204" pitchFamily="34" charset="-122"/>
              </a:rPr>
              <a:t>，</a:t>
            </a:r>
            <a:r>
              <a:rPr lang="zh-TW" altLang="en-US" sz="1600" b="1" dirty="0">
                <a:solidFill>
                  <a:srgbClr val="456244"/>
                </a:solidFill>
                <a:latin typeface="Microsoft YaHei" panose="020B0503020204020204" pitchFamily="34" charset="-122"/>
                <a:ea typeface="Microsoft YaHei" panose="020B0503020204020204" pitchFamily="34" charset="-122"/>
              </a:rPr>
              <a:t>以客製化輔導協助新創企業規模成長並對接潛在投資人及業務合作夥伴，</a:t>
            </a:r>
            <a:r>
              <a:rPr lang="en-US" altLang="zh-TW" sz="1600" b="1" dirty="0">
                <a:solidFill>
                  <a:srgbClr val="456244"/>
                </a:solidFill>
                <a:latin typeface="Microsoft YaHei" panose="020B0503020204020204" pitchFamily="34" charset="-122"/>
                <a:ea typeface="Microsoft YaHei" panose="020B0503020204020204" pitchFamily="34" charset="-122"/>
              </a:rPr>
              <a:t>7</a:t>
            </a:r>
            <a:r>
              <a:rPr lang="zh-TW" altLang="en-US" sz="1600" b="1" dirty="0">
                <a:solidFill>
                  <a:srgbClr val="456244"/>
                </a:solidFill>
                <a:latin typeface="Microsoft YaHei" panose="020B0503020204020204" pitchFamily="34" charset="-122"/>
                <a:ea typeface="Microsoft YaHei" panose="020B0503020204020204" pitchFamily="34" charset="-122"/>
              </a:rPr>
              <a:t>年累計遴選近</a:t>
            </a:r>
            <a:r>
              <a:rPr lang="en-US" altLang="zh-TW" sz="1600" b="1" dirty="0">
                <a:solidFill>
                  <a:srgbClr val="456244"/>
                </a:solidFill>
                <a:latin typeface="Microsoft YaHei" panose="020B0503020204020204" pitchFamily="34" charset="-122"/>
                <a:ea typeface="Microsoft YaHei" panose="020B0503020204020204" pitchFamily="34" charset="-122"/>
              </a:rPr>
              <a:t>80</a:t>
            </a:r>
            <a:r>
              <a:rPr lang="zh-TW" altLang="en-US" sz="1600" b="1" dirty="0">
                <a:solidFill>
                  <a:srgbClr val="456244"/>
                </a:solidFill>
                <a:latin typeface="Microsoft YaHei" panose="020B0503020204020204" pitchFamily="34" charset="-122"/>
                <a:ea typeface="Microsoft YaHei" panose="020B0503020204020204" pitchFamily="34" charset="-122"/>
              </a:rPr>
              <a:t>家潛力新創企業並協助獲得投資總額超過</a:t>
            </a:r>
            <a:r>
              <a:rPr lang="en-US" altLang="zh-TW" sz="1600" b="1" dirty="0">
                <a:solidFill>
                  <a:srgbClr val="456244"/>
                </a:solidFill>
                <a:latin typeface="Microsoft YaHei" panose="020B0503020204020204" pitchFamily="34" charset="-122"/>
                <a:ea typeface="Microsoft YaHei" panose="020B0503020204020204" pitchFamily="34" charset="-122"/>
              </a:rPr>
              <a:t>10</a:t>
            </a:r>
            <a:r>
              <a:rPr lang="zh-TW" altLang="en-US" sz="1600" b="1" dirty="0">
                <a:solidFill>
                  <a:srgbClr val="456244"/>
                </a:solidFill>
                <a:latin typeface="Microsoft YaHei" panose="020B0503020204020204" pitchFamily="34" charset="-122"/>
                <a:ea typeface="Microsoft YaHei" panose="020B0503020204020204" pitchFamily="34" charset="-122"/>
              </a:rPr>
              <a:t>億元。加速器聚焦智慧應用、智慧製造、生技醫療、金融科技、智慧交通、淨零永續等</a:t>
            </a:r>
            <a:r>
              <a:rPr lang="en-US" altLang="zh-TW" sz="1600" b="1" dirty="0">
                <a:solidFill>
                  <a:srgbClr val="456244"/>
                </a:solidFill>
                <a:latin typeface="Microsoft YaHei" panose="020B0503020204020204" pitchFamily="34" charset="-122"/>
                <a:ea typeface="Microsoft YaHei" panose="020B0503020204020204" pitchFamily="34" charset="-122"/>
              </a:rPr>
              <a:t>6</a:t>
            </a:r>
            <a:r>
              <a:rPr lang="zh-TW" altLang="en-US" sz="1600" b="1" dirty="0">
                <a:solidFill>
                  <a:srgbClr val="456244"/>
                </a:solidFill>
                <a:latin typeface="Microsoft YaHei" panose="020B0503020204020204" pitchFamily="34" charset="-122"/>
                <a:ea typeface="Microsoft YaHei" panose="020B0503020204020204" pitchFamily="34" charset="-122"/>
              </a:rPr>
              <a:t>大領域，期望能透過資誠應用創新技術與科技化工具，加值專業財會、資誠於</a:t>
            </a:r>
            <a:r>
              <a:rPr lang="en-US" altLang="zh-TW" sz="1600" b="1" dirty="0">
                <a:solidFill>
                  <a:srgbClr val="456244"/>
                </a:solidFill>
                <a:latin typeface="Microsoft YaHei" panose="020B0503020204020204" pitchFamily="34" charset="-122"/>
                <a:ea typeface="Microsoft YaHei" panose="020B0503020204020204" pitchFamily="34" charset="-122"/>
              </a:rPr>
              <a:t>2019</a:t>
            </a:r>
            <a:r>
              <a:rPr lang="zh-TW" altLang="en-US" sz="1600" b="1" dirty="0">
                <a:solidFill>
                  <a:srgbClr val="456244"/>
                </a:solidFill>
                <a:latin typeface="Microsoft YaHei" panose="020B0503020204020204" pitchFamily="34" charset="-122"/>
                <a:ea typeface="Microsoft YaHei" panose="020B0503020204020204" pitchFamily="34" charset="-122"/>
              </a:rPr>
              <a:t>年成立資誠創業成長加速器</a:t>
            </a:r>
            <a:r>
              <a:rPr lang="en-GB" altLang="zh-TW" sz="1600" b="1" dirty="0">
                <a:solidFill>
                  <a:srgbClr val="456244"/>
                </a:solidFill>
                <a:latin typeface="Microsoft YaHei" panose="020B0503020204020204" pitchFamily="34" charset="-122"/>
                <a:ea typeface="Microsoft YaHei" panose="020B0503020204020204" pitchFamily="34" charset="-122"/>
              </a:rPr>
              <a:t>Scale programme</a:t>
            </a:r>
            <a:r>
              <a:rPr lang="zh-TW" altLang="en-GB" sz="1600" b="1" dirty="0">
                <a:solidFill>
                  <a:srgbClr val="456244"/>
                </a:solidFill>
                <a:latin typeface="Microsoft YaHei" panose="020B0503020204020204" pitchFamily="34" charset="-122"/>
                <a:ea typeface="Microsoft YaHei" panose="020B0503020204020204" pitchFamily="34" charset="-122"/>
              </a:rPr>
              <a:t>，</a:t>
            </a:r>
            <a:r>
              <a:rPr lang="zh-TW" altLang="en-US" sz="1600" b="1" dirty="0">
                <a:solidFill>
                  <a:srgbClr val="456244"/>
                </a:solidFill>
                <a:latin typeface="Microsoft YaHei" panose="020B0503020204020204" pitchFamily="34" charset="-122"/>
                <a:ea typeface="Microsoft YaHei" panose="020B0503020204020204" pitchFamily="34" charset="-122"/>
              </a:rPr>
              <a:t>以客製化輔導協助新創企業規模成長並對接潛在投資人及業務合作夥伴，</a:t>
            </a:r>
            <a:r>
              <a:rPr lang="en-US" altLang="zh-TW" sz="1600" b="1" dirty="0">
                <a:solidFill>
                  <a:srgbClr val="456244"/>
                </a:solidFill>
                <a:latin typeface="Microsoft YaHei" panose="020B0503020204020204" pitchFamily="34" charset="-122"/>
                <a:ea typeface="Microsoft YaHei" panose="020B0503020204020204" pitchFamily="34" charset="-122"/>
              </a:rPr>
              <a:t>7</a:t>
            </a:r>
            <a:r>
              <a:rPr lang="zh-TW" altLang="en-US" sz="1600" b="1" dirty="0">
                <a:solidFill>
                  <a:srgbClr val="456244"/>
                </a:solidFill>
                <a:latin typeface="Microsoft YaHei" panose="020B0503020204020204" pitchFamily="34" charset="-122"/>
                <a:ea typeface="Microsoft YaHei" panose="020B0503020204020204" pitchFamily="34" charset="-122"/>
              </a:rPr>
              <a:t>年累計遴選近</a:t>
            </a:r>
            <a:r>
              <a:rPr lang="en-US" altLang="zh-TW" sz="1600" b="1" dirty="0">
                <a:solidFill>
                  <a:srgbClr val="456244"/>
                </a:solidFill>
                <a:latin typeface="Microsoft YaHei" panose="020B0503020204020204" pitchFamily="34" charset="-122"/>
                <a:ea typeface="Microsoft YaHei" panose="020B0503020204020204" pitchFamily="34" charset="-122"/>
              </a:rPr>
              <a:t>80</a:t>
            </a:r>
            <a:r>
              <a:rPr lang="zh-TW" altLang="en-US" sz="1600" b="1" dirty="0">
                <a:solidFill>
                  <a:srgbClr val="456244"/>
                </a:solidFill>
                <a:latin typeface="Microsoft YaHei" panose="020B0503020204020204" pitchFamily="34" charset="-122"/>
                <a:ea typeface="Microsoft YaHei" panose="020B0503020204020204" pitchFamily="34" charset="-122"/>
              </a:rPr>
              <a:t>家潛力新創企業並協助獲得投資總額超過</a:t>
            </a:r>
            <a:r>
              <a:rPr lang="en-US" altLang="zh-TW" sz="1600" b="1" dirty="0">
                <a:solidFill>
                  <a:srgbClr val="456244"/>
                </a:solidFill>
                <a:latin typeface="Microsoft YaHei" panose="020B0503020204020204" pitchFamily="34" charset="-122"/>
                <a:ea typeface="Microsoft YaHei" panose="020B0503020204020204" pitchFamily="34" charset="-122"/>
              </a:rPr>
              <a:t>10</a:t>
            </a:r>
            <a:r>
              <a:rPr lang="zh-TW" altLang="en-US" sz="1600" b="1" dirty="0">
                <a:solidFill>
                  <a:srgbClr val="456244"/>
                </a:solidFill>
                <a:latin typeface="Microsoft YaHei" panose="020B0503020204020204" pitchFamily="34" charset="-122"/>
                <a:ea typeface="Microsoft YaHei" panose="020B0503020204020204" pitchFamily="34" charset="-122"/>
              </a:rPr>
              <a:t>億元。加速器聚焦智慧應用、智慧製造、生技醫療、金融科技、智慧交通、淨零永續等</a:t>
            </a:r>
            <a:r>
              <a:rPr lang="en-US" altLang="zh-TW" sz="1600" b="1" dirty="0">
                <a:solidFill>
                  <a:srgbClr val="456244"/>
                </a:solidFill>
                <a:latin typeface="Microsoft YaHei" panose="020B0503020204020204" pitchFamily="34" charset="-122"/>
                <a:ea typeface="Microsoft YaHei" panose="020B0503020204020204" pitchFamily="34" charset="-122"/>
              </a:rPr>
              <a:t>6</a:t>
            </a:r>
            <a:r>
              <a:rPr lang="zh-TW" altLang="en-US" sz="1600" b="1" dirty="0">
                <a:solidFill>
                  <a:srgbClr val="456244"/>
                </a:solidFill>
                <a:latin typeface="Microsoft YaHei" panose="020B0503020204020204" pitchFamily="34" charset="-122"/>
                <a:ea typeface="Microsoft YaHei" panose="020B0503020204020204" pitchFamily="34" charset="-122"/>
              </a:rPr>
              <a:t>大領域，期望能透過資誠應用創新技術與科技化工具，加值專業財會、經營管理顧問服務，協助企業發展創新轉型的商業化解決方案。經營管理顧問服務，協助企業發展創新轉型的商業化解決方案。</a:t>
            </a:r>
            <a:endParaRPr lang="en-US" altLang="zh-TW" sz="1600" b="1" dirty="0">
              <a:solidFill>
                <a:srgbClr val="456244"/>
              </a:solidFill>
              <a:latin typeface="Microsoft YaHei" panose="020B0503020204020204" pitchFamily="34" charset="-122"/>
              <a:ea typeface="Microsoft YaHei" panose="020B0503020204020204" pitchFamily="34" charset="-122"/>
            </a:endParaRPr>
          </a:p>
        </p:txBody>
      </p:sp>
      <p:sp>
        <p:nvSpPr>
          <p:cNvPr id="16" name="文字方塊 15">
            <a:extLst>
              <a:ext uri="{FF2B5EF4-FFF2-40B4-BE49-F238E27FC236}">
                <a16:creationId xmlns:a16="http://schemas.microsoft.com/office/drawing/2014/main" id="{B0D6F593-F168-5660-0CB0-994FF5459F9C}"/>
              </a:ext>
            </a:extLst>
          </p:cNvPr>
          <p:cNvSpPr txBox="1"/>
          <p:nvPr/>
        </p:nvSpPr>
        <p:spPr>
          <a:xfrm>
            <a:off x="5919055" y="339433"/>
            <a:ext cx="3364084" cy="830997"/>
          </a:xfrm>
          <a:prstGeom prst="rect">
            <a:avLst/>
          </a:prstGeom>
          <a:noFill/>
        </p:spPr>
        <p:txBody>
          <a:bodyPr wrap="square" rtlCol="0">
            <a:spAutoFit/>
          </a:bodyPr>
          <a:lstStyle/>
          <a:p>
            <a:pPr algn="ctr"/>
            <a:r>
              <a:rPr lang="zh-TW" altLang="en-US" sz="4800" b="1" dirty="0">
                <a:solidFill>
                  <a:srgbClr val="6EAA69"/>
                </a:solidFill>
                <a:latin typeface="Microsoft YaHei" panose="020B0503020204020204" pitchFamily="34" charset="-122"/>
                <a:ea typeface="Microsoft YaHei" panose="020B0503020204020204" pitchFamily="34" charset="-122"/>
              </a:rPr>
              <a:t>加速器介紹</a:t>
            </a:r>
            <a:endParaRPr lang="en-US" altLang="zh-TW" sz="4800" b="1" dirty="0">
              <a:solidFill>
                <a:srgbClr val="6EAA69"/>
              </a:solidFill>
              <a:latin typeface="Microsoft YaHei" panose="020B0503020204020204" pitchFamily="34" charset="-122"/>
              <a:ea typeface="Microsoft YaHei" panose="020B0503020204020204" pitchFamily="34" charset="-122"/>
            </a:endParaRPr>
          </a:p>
        </p:txBody>
      </p:sp>
      <p:cxnSp>
        <p:nvCxnSpPr>
          <p:cNvPr id="23" name="直線接點 22">
            <a:extLst>
              <a:ext uri="{FF2B5EF4-FFF2-40B4-BE49-F238E27FC236}">
                <a16:creationId xmlns:a16="http://schemas.microsoft.com/office/drawing/2014/main" id="{869D61B6-BD4A-F7ED-A1A9-3C958490467D}"/>
              </a:ext>
            </a:extLst>
          </p:cNvPr>
          <p:cNvCxnSpPr>
            <a:cxnSpLocks/>
          </p:cNvCxnSpPr>
          <p:nvPr/>
        </p:nvCxnSpPr>
        <p:spPr>
          <a:xfrm>
            <a:off x="9460084" y="820422"/>
            <a:ext cx="1940979" cy="12699"/>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sp>
        <p:nvSpPr>
          <p:cNvPr id="28" name="Google Shape;60;p1">
            <a:extLst>
              <a:ext uri="{FF2B5EF4-FFF2-40B4-BE49-F238E27FC236}">
                <a16:creationId xmlns:a16="http://schemas.microsoft.com/office/drawing/2014/main" id="{7B8B9C46-96BD-A24A-BAF6-C9D32C9E1D37}"/>
              </a:ext>
            </a:extLst>
          </p:cNvPr>
          <p:cNvSpPr/>
          <p:nvPr/>
        </p:nvSpPr>
        <p:spPr>
          <a:xfrm>
            <a:off x="3988742" y="5432093"/>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資金媒合</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30" name="文字方塊 29">
            <a:extLst>
              <a:ext uri="{FF2B5EF4-FFF2-40B4-BE49-F238E27FC236}">
                <a16:creationId xmlns:a16="http://schemas.microsoft.com/office/drawing/2014/main" id="{802165B6-921B-7F26-3CBA-EEA3F94DE487}"/>
              </a:ext>
            </a:extLst>
          </p:cNvPr>
          <p:cNvSpPr txBox="1"/>
          <p:nvPr/>
        </p:nvSpPr>
        <p:spPr>
          <a:xfrm>
            <a:off x="1496002" y="4350398"/>
            <a:ext cx="2913003" cy="830997"/>
          </a:xfrm>
          <a:prstGeom prst="rect">
            <a:avLst/>
          </a:prstGeom>
          <a:noFill/>
        </p:spPr>
        <p:txBody>
          <a:bodyPr wrap="square">
            <a:spAutoFit/>
          </a:bodyPr>
          <a:lstStyle/>
          <a:p>
            <a:r>
              <a:rPr lang="zh-TW" altLang="en-US" sz="4800" b="1" dirty="0">
                <a:solidFill>
                  <a:srgbClr val="6EAA69"/>
                </a:solidFill>
                <a:latin typeface="Microsoft YaHei" panose="020B0503020204020204" pitchFamily="34" charset="-122"/>
                <a:ea typeface="Microsoft YaHei" panose="020B0503020204020204" pitchFamily="34" charset="-122"/>
              </a:rPr>
              <a:t>專注領域</a:t>
            </a:r>
            <a:endParaRPr lang="zh-TW" altLang="en-US" sz="4800" dirty="0">
              <a:latin typeface="Microsoft YaHei" panose="020B0503020204020204" pitchFamily="34" charset="-122"/>
              <a:ea typeface="Microsoft YaHei" panose="020B0503020204020204" pitchFamily="34" charset="-122"/>
            </a:endParaRPr>
          </a:p>
        </p:txBody>
      </p:sp>
      <p:sp>
        <p:nvSpPr>
          <p:cNvPr id="24" name="Google Shape;60;p1">
            <a:extLst>
              <a:ext uri="{FF2B5EF4-FFF2-40B4-BE49-F238E27FC236}">
                <a16:creationId xmlns:a16="http://schemas.microsoft.com/office/drawing/2014/main" id="{E1431030-C1CD-E324-A414-67CD145EE1FF}"/>
              </a:ext>
            </a:extLst>
          </p:cNvPr>
          <p:cNvSpPr/>
          <p:nvPr/>
        </p:nvSpPr>
        <p:spPr>
          <a:xfrm>
            <a:off x="6468854" y="5432093"/>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跨國合作</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sp>
        <p:nvSpPr>
          <p:cNvPr id="25" name="Google Shape;60;p1">
            <a:extLst>
              <a:ext uri="{FF2B5EF4-FFF2-40B4-BE49-F238E27FC236}">
                <a16:creationId xmlns:a16="http://schemas.microsoft.com/office/drawing/2014/main" id="{FBFB5A8A-1EB3-D95F-3C63-A9735487CBC1}"/>
              </a:ext>
            </a:extLst>
          </p:cNvPr>
          <p:cNvSpPr/>
          <p:nvPr/>
        </p:nvSpPr>
        <p:spPr>
          <a:xfrm>
            <a:off x="8948966" y="5432093"/>
            <a:ext cx="2040235" cy="628905"/>
          </a:xfrm>
          <a:prstGeom prst="roundRect">
            <a:avLst/>
          </a:prstGeom>
          <a:solidFill>
            <a:srgbClr val="567550"/>
          </a:solidFill>
          <a:ln>
            <a:noFill/>
          </a:ln>
        </p:spPr>
        <p:txBody>
          <a:bodyPr spcFirstLastPara="1" wrap="square" lIns="0" tIns="0" rIns="0" bIns="0" anchor="t" anchorCtr="0">
            <a:noAutofit/>
          </a:bodyPr>
          <a:lstStyle/>
          <a:p>
            <a:pPr algn="ctr"/>
            <a:r>
              <a:rPr lang="zh-TW" altLang="en-US" sz="3200" b="1" dirty="0">
                <a:solidFill>
                  <a:schemeClr val="bg1"/>
                </a:solidFill>
                <a:latin typeface="Microsoft YaHei" panose="020B0503020204020204" pitchFamily="34" charset="-122"/>
                <a:ea typeface="Microsoft YaHei" panose="020B0503020204020204" pitchFamily="34" charset="-122"/>
              </a:rPr>
              <a:t>企業導師</a:t>
            </a:r>
            <a:endParaRPr lang="en-US" altLang="zh-TW" sz="3200" b="1" dirty="0">
              <a:solidFill>
                <a:schemeClr val="bg1"/>
              </a:solidFill>
              <a:latin typeface="Microsoft YaHei" panose="020B0503020204020204" pitchFamily="34" charset="-122"/>
              <a:ea typeface="Microsoft YaHei" panose="020B0503020204020204" pitchFamily="34" charset="-122"/>
            </a:endParaRPr>
          </a:p>
        </p:txBody>
      </p:sp>
      <p:cxnSp>
        <p:nvCxnSpPr>
          <p:cNvPr id="29" name="直線接點 28">
            <a:extLst>
              <a:ext uri="{FF2B5EF4-FFF2-40B4-BE49-F238E27FC236}">
                <a16:creationId xmlns:a16="http://schemas.microsoft.com/office/drawing/2014/main" id="{9366EE1B-3CAB-2390-6FDF-A785599F16E7}"/>
              </a:ext>
            </a:extLst>
          </p:cNvPr>
          <p:cNvCxnSpPr>
            <a:cxnSpLocks/>
          </p:cNvCxnSpPr>
          <p:nvPr/>
        </p:nvCxnSpPr>
        <p:spPr>
          <a:xfrm>
            <a:off x="4429219" y="4765896"/>
            <a:ext cx="6971844"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cxnSp>
        <p:nvCxnSpPr>
          <p:cNvPr id="36" name="直線接點 35">
            <a:extLst>
              <a:ext uri="{FF2B5EF4-FFF2-40B4-BE49-F238E27FC236}">
                <a16:creationId xmlns:a16="http://schemas.microsoft.com/office/drawing/2014/main" id="{D8BD4EA8-43FD-D1CE-40BA-59D763B80AF3}"/>
              </a:ext>
            </a:extLst>
          </p:cNvPr>
          <p:cNvCxnSpPr>
            <a:cxnSpLocks/>
          </p:cNvCxnSpPr>
          <p:nvPr/>
        </p:nvCxnSpPr>
        <p:spPr>
          <a:xfrm>
            <a:off x="186141" y="4765896"/>
            <a:ext cx="1044712" cy="0"/>
          </a:xfrm>
          <a:prstGeom prst="line">
            <a:avLst/>
          </a:prstGeom>
          <a:ln w="19050">
            <a:solidFill>
              <a:srgbClr val="6CAB66"/>
            </a:solidFill>
          </a:ln>
        </p:spPr>
        <p:style>
          <a:lnRef idx="1">
            <a:schemeClr val="accent1"/>
          </a:lnRef>
          <a:fillRef idx="0">
            <a:schemeClr val="accent1"/>
          </a:fillRef>
          <a:effectRef idx="0">
            <a:schemeClr val="accent1"/>
          </a:effectRef>
          <a:fontRef idx="minor">
            <a:schemeClr val="tx1"/>
          </a:fontRef>
        </p:style>
      </p:cxnSp>
      <p:pic>
        <p:nvPicPr>
          <p:cNvPr id="1026" name="Picture 2" descr="創育機構-臺北市】資誠企業管理顧問股份有限公司(資誠創業成長加速器)">
            <a:extLst>
              <a:ext uri="{FF2B5EF4-FFF2-40B4-BE49-F238E27FC236}">
                <a16:creationId xmlns:a16="http://schemas.microsoft.com/office/drawing/2014/main" id="{6E00F639-7E20-AB8C-BAB3-DBAA43D29C6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0097" y="1471594"/>
            <a:ext cx="3188246" cy="14704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831671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328</TotalTime>
  <Words>2681</Words>
  <Application>Microsoft Office PowerPoint</Application>
  <PresentationFormat>寬螢幕</PresentationFormat>
  <Paragraphs>166</Paragraphs>
  <Slides>22</Slides>
  <Notes>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22</vt:i4>
      </vt:variant>
    </vt:vector>
  </HeadingPairs>
  <TitlesOfParts>
    <vt:vector size="27" baseType="lpstr">
      <vt:lpstr>Microsoft YaHei</vt:lpstr>
      <vt:lpstr>Arial</vt:lpstr>
      <vt:lpstr>Calibri</vt:lpstr>
      <vt:lpstr>Calibri Light</vt:lpstr>
      <vt:lpstr>Office 佈景主題</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阡淇 黃</dc:creator>
  <cp:lastModifiedBy>user</cp:lastModifiedBy>
  <cp:revision>28</cp:revision>
  <dcterms:created xsi:type="dcterms:W3CDTF">2026-02-24T12:46:47Z</dcterms:created>
  <dcterms:modified xsi:type="dcterms:W3CDTF">2026-02-25T09:46:48Z</dcterms:modified>
</cp:coreProperties>
</file>