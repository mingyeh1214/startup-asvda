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7" r:id="rId3"/>
    <p:sldId id="276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7803F-128F-4B12-A4F9-AC121BFC5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4F6683-85B5-4721-8E19-61549F59C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D66B8-FD42-42D7-AE7C-67E45130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9C9BF4-BFB3-4A92-AF5A-B33D10E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495373-2D8A-460F-87C4-E6E15DBB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26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F287FC-AE6E-446A-B3AD-244CC3A9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075D7-87C8-42FF-98A4-B7AB02D94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95A103-A93D-420E-BFB4-70E58BB1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8F4FD4-9DFA-4722-99A6-16823743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9C6951-73DA-45CB-A579-6D9B7354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47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EED99-F69B-40CA-AFB0-908CE2C8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8D1FA2-D267-4E30-B240-0B0161F31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6F9147-81EF-49A6-883B-3F50D018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02B94C-2BD5-4B51-8CAB-9F17CAAD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24FC0C-C64D-4233-9B1A-4247D055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03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35039-D306-47D4-B15A-118889E2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3F3E20-28FD-4442-A260-FB26F8B9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05A690-BBD9-403F-A844-471A3DA6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79B192-2D84-465C-8E96-D39F2A4F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4C51C1-C1F9-4F62-A976-A19F8364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615442-248C-46A7-A9C6-6AD5F504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23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068D34-256C-4358-B5CA-DB2BDD8D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6CBC43-EF71-48E4-82D2-C495E5113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86FCE6-5557-46DC-B3F2-DBBC90FDA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3BF6DAE-A57A-4762-B62A-8D7169C0F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11D599A-A7BE-49B9-89F8-1A10C3212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CFD769F-2061-4E91-ABE2-EE36B5B9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D445D42-4CE1-4266-BF19-C837916B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5E5F3B-41AB-4C6B-93DE-3571BD17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600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738C3-82EE-4EAE-BF83-4D990B79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700B74E-2370-4EDE-8C18-039A36E4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7733870-00E7-49B5-B3BB-4D7F9768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B36164-247B-4E1E-B048-1BD5388E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67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CB967F-DFD7-47AC-A176-026FEDBD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ECA51AE-F5DD-4B00-BA1C-FFBC41DA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0EE9B9-DB5D-49BA-A978-8D4DEDDA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34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E98AB-260E-4877-9E8E-AC30CEAF9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AAADF-B9AE-430A-B487-E7E31913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B1101A0-5CB8-4545-8BAD-30A994782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72BD4D-EC80-411F-B9FC-93CCE45F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D9C9B8-4F9F-467B-956F-75492B45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1A6890-357B-4297-9780-E0CA0119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05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F76625-76E7-4ED1-A6F8-7F817EE4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4DD753E-8E46-4C02-93BA-0F928CFD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7F2D26-BAE7-48F0-8255-0B9C98219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471B9A-6BA2-4C07-860F-B861B5AA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6512F4-67C4-45DA-85E5-A74306D0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0B7F3D-693A-48AC-85D3-CCB87C1F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56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E986B-C530-4D25-8453-4E651176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FB2D61-6BDF-4EB0-A18E-AD4673E9D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7215B-1446-4AEA-9044-A8C5120F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737552-39E2-4382-9D6E-1F3435F4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8164EB-1447-406E-B9BA-BDD6D834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79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C702135-15E6-47FC-92EA-424D9EE21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B35D5B-E51B-433A-B581-2ED3DAB98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3E7AB-2730-466F-BA87-7B351591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D2C950-54BF-441A-98EB-2574A4BB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D1260B-83EC-489F-A7B8-B49B4B62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04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B8A6850-FB31-40DE-9F65-F930A1BF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1ACE54-ADE0-49DF-B082-F0BFD9D7D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E71422-0B2E-489B-B00B-A7ABA7AC5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7502E-3246-49D5-A6B8-438D302A8A0F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0868A1-95FB-4491-8506-6BE48C3D1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CB5CB6-7FE0-49AF-A663-34EDCC2FA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FF143-1C41-4A93-B140-C406D1C921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57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9;p1" descr="一張含有 文字, 螢幕擷取畫面, 字型, 地圖 的圖片  AI 產生的內容可能不正確。">
            <a:extLst>
              <a:ext uri="{FF2B5EF4-FFF2-40B4-BE49-F238E27FC236}">
                <a16:creationId xmlns:a16="http://schemas.microsoft.com/office/drawing/2014/main" id="{7A71274E-4AAA-46BF-9C20-EA8700C210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B48FAF1-E5CD-4552-81EE-10A34271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33121"/>
            <a:ext cx="6522451" cy="20828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5E510FC-F7B0-4DCC-92F3-5E3679CA4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05" y="132678"/>
            <a:ext cx="3364047" cy="103775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92FE66-E43C-42C2-B8A8-17C2C417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1" y="3337306"/>
            <a:ext cx="5592901" cy="202001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7FEB548-948B-4046-BD1C-C0FA0F69EA12}"/>
              </a:ext>
            </a:extLst>
          </p:cNvPr>
          <p:cNvCxnSpPr>
            <a:cxnSpLocks/>
          </p:cNvCxnSpPr>
          <p:nvPr/>
        </p:nvCxnSpPr>
        <p:spPr>
          <a:xfrm>
            <a:off x="4034977" y="833121"/>
            <a:ext cx="2296750" cy="0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E1E07C07-28B9-41CE-B938-C148CF22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07" y="9967"/>
            <a:ext cx="4488495" cy="68480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B19368F-D7E6-4DC0-996C-3BE13D65E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75" y="132678"/>
            <a:ext cx="4488495" cy="301115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91995B9-69FF-47CA-B8DD-3FB8DFF8AAF0}"/>
              </a:ext>
            </a:extLst>
          </p:cNvPr>
          <p:cNvSpPr txBox="1"/>
          <p:nvPr/>
        </p:nvSpPr>
        <p:spPr>
          <a:xfrm>
            <a:off x="5891526" y="299333"/>
            <a:ext cx="3668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dirty="0">
                <a:solidFill>
                  <a:srgbClr val="6EAA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BP</a:t>
            </a:r>
            <a:r>
              <a:rPr lang="zh-TW" altLang="en-US" sz="4800" b="1" dirty="0">
                <a:solidFill>
                  <a:srgbClr val="6EAA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內容規範</a:t>
            </a:r>
            <a:endParaRPr lang="en-US" altLang="zh-TW" sz="4800" b="1" dirty="0">
              <a:solidFill>
                <a:srgbClr val="6EAA6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F872BF4-5271-408E-A8BA-A0DD84A4FF13}"/>
              </a:ext>
            </a:extLst>
          </p:cNvPr>
          <p:cNvCxnSpPr>
            <a:cxnSpLocks/>
          </p:cNvCxnSpPr>
          <p:nvPr/>
        </p:nvCxnSpPr>
        <p:spPr>
          <a:xfrm>
            <a:off x="9460084" y="820422"/>
            <a:ext cx="1940979" cy="12699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16868110-F581-4D45-A9A1-2D3CB0016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15" y="2553704"/>
            <a:ext cx="4488495" cy="3011155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2A2C3FAC-48DA-472B-96B7-8D57C77FFB34}"/>
              </a:ext>
            </a:extLst>
          </p:cNvPr>
          <p:cNvSpPr txBox="1"/>
          <p:nvPr/>
        </p:nvSpPr>
        <p:spPr>
          <a:xfrm>
            <a:off x="464893" y="1276891"/>
            <a:ext cx="10936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spc="-35" dirty="0">
                <a:solidFill>
                  <a:schemeClr val="accent3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微軟正黑體"/>
              </a:rPr>
              <a:t>目的：</a:t>
            </a:r>
            <a:r>
              <a:rPr lang="zh-TW" altLang="en-US" sz="2000" b="1" dirty="0">
                <a:solidFill>
                  <a:schemeClr val="accent3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用清楚的邏輯和數據，說明做得成、做得大、讓資源方願意投入，可用於尋求資金、補助、合作機會、市場機會及團隊成員。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633887-434A-4386-A6C2-540B9DA95208}"/>
              </a:ext>
            </a:extLst>
          </p:cNvPr>
          <p:cNvSpPr/>
          <p:nvPr/>
        </p:nvSpPr>
        <p:spPr>
          <a:xfrm>
            <a:off x="354068" y="2073201"/>
            <a:ext cx="943311" cy="16580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C525988-0A1D-4F0D-A17A-5285118FE796}"/>
              </a:ext>
            </a:extLst>
          </p:cNvPr>
          <p:cNvSpPr txBox="1"/>
          <p:nvPr/>
        </p:nvSpPr>
        <p:spPr>
          <a:xfrm>
            <a:off x="400872" y="2146078"/>
            <a:ext cx="7286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760" marR="0" lvl="0" indent="0" defTabSz="914400" eaLnBrk="1" fontAlgn="auto" latinLnBrk="0" hangingPunct="1">
              <a:lnSpc>
                <a:spcPct val="100000"/>
              </a:lnSpc>
              <a:spcBef>
                <a:spcPts val="17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spc="-35" dirty="0">
                <a:solidFill>
                  <a:srgbClr val="2E4E2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微軟正黑體"/>
              </a:rPr>
              <a:t>撰寫說明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微軟正黑體"/>
            </a:endParaRPr>
          </a:p>
        </p:txBody>
      </p:sp>
      <p:sp>
        <p:nvSpPr>
          <p:cNvPr id="28" name="Google Shape;181;p6">
            <a:extLst>
              <a:ext uri="{FF2B5EF4-FFF2-40B4-BE49-F238E27FC236}">
                <a16:creationId xmlns:a16="http://schemas.microsoft.com/office/drawing/2014/main" id="{D6396C05-A2B9-4208-9148-578DB8F945A7}"/>
              </a:ext>
            </a:extLst>
          </p:cNvPr>
          <p:cNvSpPr txBox="1"/>
          <p:nvPr/>
        </p:nvSpPr>
        <p:spPr>
          <a:xfrm>
            <a:off x="1937111" y="2030908"/>
            <a:ext cx="9463951" cy="1736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格式：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包含</a:t>
            </a:r>
            <a:r>
              <a:rPr lang="zh-TW" alt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「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文件檔</a:t>
            </a:r>
            <a:r>
              <a:rPr lang="zh-TW" alt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」 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與</a:t>
            </a:r>
            <a:r>
              <a:rPr 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「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簡報檔</a:t>
            </a:r>
            <a:r>
              <a:rPr 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」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。</a:t>
            </a:r>
            <a:endParaRPr lang="en-US" altLang="zh-TW" sz="1600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頁數：</a:t>
            </a:r>
            <a:r>
              <a:rPr lang="zh-TW" altLang="zh-TW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「</a:t>
            </a: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簡報檔</a:t>
            </a:r>
            <a:r>
              <a:rPr lang="zh-TW" altLang="zh-TW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」</a:t>
            </a: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不限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，</a:t>
            </a:r>
            <a:r>
              <a:rPr lang="zh-TW" alt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 「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文件檔</a:t>
            </a:r>
            <a:r>
              <a:rPr lang="zh-TW" alt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」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內文上限</a:t>
            </a:r>
            <a:r>
              <a:rPr lang="en-US" alt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25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頁，附件不限頁數，可含實績佐證資料，包含得獎事蹟、專利證書、合約或合作備忘錄等。</a:t>
            </a:r>
            <a:endParaRPr lang="en-US" altLang="zh-TW" sz="1600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對象</a:t>
            </a:r>
            <a:r>
              <a:rPr lang="zh-TW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：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以</a:t>
            </a:r>
            <a:r>
              <a:rPr lang="zh-TW" altLang="zh-TW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「</a:t>
            </a: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資源方</a:t>
            </a:r>
            <a:r>
              <a:rPr lang="zh-TW" altLang="zh-TW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」</a:t>
            </a:r>
            <a:r>
              <a:rPr lang="zh-TW" altLang="en-US" sz="1600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，如投資人為商業計劃書閱讀對象進行撰寫。</a:t>
            </a:r>
            <a:endParaRPr lang="en-US" altLang="zh-TW" sz="1600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描述方式：清楚、簡單，以邏輯和數據說明。</a:t>
            </a:r>
            <a:endParaRPr sz="16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</p:txBody>
      </p:sp>
      <p:sp>
        <p:nvSpPr>
          <p:cNvPr id="29" name="圓角矩形 31">
            <a:extLst>
              <a:ext uri="{FF2B5EF4-FFF2-40B4-BE49-F238E27FC236}">
                <a16:creationId xmlns:a16="http://schemas.microsoft.com/office/drawing/2014/main" id="{C5E77243-A9B5-4625-ABAF-B46794B0339A}"/>
              </a:ext>
            </a:extLst>
          </p:cNvPr>
          <p:cNvSpPr/>
          <p:nvPr/>
        </p:nvSpPr>
        <p:spPr>
          <a:xfrm>
            <a:off x="1537153" y="2025273"/>
            <a:ext cx="8270815" cy="2181298"/>
          </a:xfrm>
          <a:prstGeom prst="roundRect">
            <a:avLst>
              <a:gd name="adj" fmla="val 7146"/>
            </a:avLst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C4B250-0FBA-4247-A3C0-EB6784328108}"/>
              </a:ext>
            </a:extLst>
          </p:cNvPr>
          <p:cNvSpPr/>
          <p:nvPr/>
        </p:nvSpPr>
        <p:spPr>
          <a:xfrm>
            <a:off x="354068" y="3923024"/>
            <a:ext cx="943311" cy="18556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B776A74-045E-4331-BFC1-4135B13BBE70}"/>
              </a:ext>
            </a:extLst>
          </p:cNvPr>
          <p:cNvSpPr txBox="1"/>
          <p:nvPr/>
        </p:nvSpPr>
        <p:spPr>
          <a:xfrm>
            <a:off x="350934" y="4072408"/>
            <a:ext cx="7286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760" marR="0" lvl="0" indent="0" defTabSz="914400" eaLnBrk="1" fontAlgn="auto" latinLnBrk="0" hangingPunct="1">
              <a:lnSpc>
                <a:spcPct val="100000"/>
              </a:lnSpc>
              <a:spcBef>
                <a:spcPts val="17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spc="-35" dirty="0">
                <a:solidFill>
                  <a:srgbClr val="2E4E2B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微軟正黑體"/>
              </a:rPr>
              <a:t>內容建議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微軟正黑體"/>
            </a:endParaRPr>
          </a:p>
        </p:txBody>
      </p:sp>
      <p:sp>
        <p:nvSpPr>
          <p:cNvPr id="32" name="圓角矩形 14">
            <a:extLst>
              <a:ext uri="{FF2B5EF4-FFF2-40B4-BE49-F238E27FC236}">
                <a16:creationId xmlns:a16="http://schemas.microsoft.com/office/drawing/2014/main" id="{5CCA5107-0C66-4BD9-8785-701FE74535A3}"/>
              </a:ext>
            </a:extLst>
          </p:cNvPr>
          <p:cNvSpPr/>
          <p:nvPr/>
        </p:nvSpPr>
        <p:spPr>
          <a:xfrm>
            <a:off x="1798498" y="3923025"/>
            <a:ext cx="8135435" cy="1855685"/>
          </a:xfrm>
          <a:prstGeom prst="roundRect">
            <a:avLst>
              <a:gd name="adj" fmla="val 714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Google Shape;139;p3">
            <a:extLst>
              <a:ext uri="{FF2B5EF4-FFF2-40B4-BE49-F238E27FC236}">
                <a16:creationId xmlns:a16="http://schemas.microsoft.com/office/drawing/2014/main" id="{3854FD1A-8707-4CD4-84AF-77B24CD0066F}"/>
              </a:ext>
            </a:extLst>
          </p:cNvPr>
          <p:cNvSpPr txBox="1"/>
          <p:nvPr/>
        </p:nvSpPr>
        <p:spPr>
          <a:xfrm>
            <a:off x="2051864" y="4103566"/>
            <a:ext cx="3081087" cy="198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執行摘要 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問題與產品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市場與成長潛力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商業模式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" name="Google Shape;139;p3">
            <a:extLst>
              <a:ext uri="{FF2B5EF4-FFF2-40B4-BE49-F238E27FC236}">
                <a16:creationId xmlns:a16="http://schemas.microsoft.com/office/drawing/2014/main" id="{5847280D-3983-4540-B8E6-FEF707A81D84}"/>
              </a:ext>
            </a:extLst>
          </p:cNvPr>
          <p:cNvSpPr txBox="1"/>
          <p:nvPr/>
        </p:nvSpPr>
        <p:spPr>
          <a:xfrm>
            <a:off x="4592594" y="4071794"/>
            <a:ext cx="3289213" cy="198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競爭分析 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市場拓展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r>
              <a:rPr lang="zh-TW" altLang="en-US" sz="1600" b="1" dirty="0">
                <a:solidFill>
                  <a:srgbClr val="244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財務規劃與資金用途</a:t>
            </a: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endParaRPr lang="en-US" altLang="zh-TW" sz="1600" b="1" dirty="0">
              <a:solidFill>
                <a:srgbClr val="244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" name="Google Shape;139;p3">
            <a:extLst>
              <a:ext uri="{FF2B5EF4-FFF2-40B4-BE49-F238E27FC236}">
                <a16:creationId xmlns:a16="http://schemas.microsoft.com/office/drawing/2014/main" id="{32E38035-E909-46FB-8D8C-5249322BC01A}"/>
              </a:ext>
            </a:extLst>
          </p:cNvPr>
          <p:cNvSpPr txBox="1"/>
          <p:nvPr/>
        </p:nvSpPr>
        <p:spPr>
          <a:xfrm>
            <a:off x="7503586" y="4071794"/>
            <a:ext cx="21939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9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風險與因應</a:t>
            </a:r>
            <a:endParaRPr lang="en-US" altLang="zh-TW" sz="16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9"/>
            </a:pPr>
            <a:r>
              <a:rPr lang="zh-TW" altLang="en-US" sz="16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 附件 </a:t>
            </a:r>
            <a:endParaRPr lang="en-US" altLang="zh-TW" sz="16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381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51816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 startAt="5"/>
            </a:pPr>
            <a:endParaRPr lang="en-US" altLang="zh-TW" sz="16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66864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9;p1" descr="一張含有 文字, 螢幕擷取畫面, 字型, 地圖 的圖片  AI 產生的內容可能不正確。">
            <a:extLst>
              <a:ext uri="{FF2B5EF4-FFF2-40B4-BE49-F238E27FC236}">
                <a16:creationId xmlns:a16="http://schemas.microsoft.com/office/drawing/2014/main" id="{7A71274E-4AAA-46BF-9C20-EA8700C210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B48FAF1-E5CD-4552-81EE-10A34271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33121"/>
            <a:ext cx="6522451" cy="20828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5E510FC-F7B0-4DCC-92F3-5E3679CA4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06" y="132678"/>
            <a:ext cx="1924373" cy="59363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92FE66-E43C-42C2-B8A8-17C2C417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1" y="3337306"/>
            <a:ext cx="5592901" cy="202001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7FEB548-948B-4046-BD1C-C0FA0F69EA12}"/>
              </a:ext>
            </a:extLst>
          </p:cNvPr>
          <p:cNvCxnSpPr>
            <a:cxnSpLocks/>
          </p:cNvCxnSpPr>
          <p:nvPr/>
        </p:nvCxnSpPr>
        <p:spPr>
          <a:xfrm>
            <a:off x="4034977" y="501527"/>
            <a:ext cx="2296750" cy="0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E1E07C07-28B9-41CE-B938-C148CF22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07" y="9967"/>
            <a:ext cx="4488495" cy="68480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B19368F-D7E6-4DC0-996C-3BE13D65E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75" y="132678"/>
            <a:ext cx="4488495" cy="301115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91995B9-69FF-47CA-B8DD-3FB8DFF8AAF0}"/>
              </a:ext>
            </a:extLst>
          </p:cNvPr>
          <p:cNvSpPr txBox="1"/>
          <p:nvPr/>
        </p:nvSpPr>
        <p:spPr>
          <a:xfrm>
            <a:off x="5891526" y="98368"/>
            <a:ext cx="3668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6EAA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BP</a:t>
            </a:r>
            <a:r>
              <a:rPr lang="zh-TW" altLang="en-US" sz="3600" b="1" dirty="0">
                <a:solidFill>
                  <a:srgbClr val="6EAA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內容建議</a:t>
            </a:r>
            <a:endParaRPr lang="en-US" altLang="zh-TW" sz="3600" b="1" dirty="0">
              <a:solidFill>
                <a:srgbClr val="6EAA6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F872BF4-5271-408E-A8BA-A0DD84A4FF13}"/>
              </a:ext>
            </a:extLst>
          </p:cNvPr>
          <p:cNvCxnSpPr>
            <a:cxnSpLocks/>
          </p:cNvCxnSpPr>
          <p:nvPr/>
        </p:nvCxnSpPr>
        <p:spPr>
          <a:xfrm>
            <a:off x="9460084" y="488828"/>
            <a:ext cx="1940979" cy="12699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16868110-F581-4D45-A9A1-2D3CB0016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15" y="2553704"/>
            <a:ext cx="4488495" cy="3011155"/>
          </a:xfrm>
          <a:prstGeom prst="rect">
            <a:avLst/>
          </a:prstGeom>
        </p:spPr>
      </p:pic>
      <p:sp>
        <p:nvSpPr>
          <p:cNvPr id="29" name="圓角矩形 31">
            <a:extLst>
              <a:ext uri="{FF2B5EF4-FFF2-40B4-BE49-F238E27FC236}">
                <a16:creationId xmlns:a16="http://schemas.microsoft.com/office/drawing/2014/main" id="{C5E77243-A9B5-4625-ABAF-B46794B0339A}"/>
              </a:ext>
            </a:extLst>
          </p:cNvPr>
          <p:cNvSpPr/>
          <p:nvPr/>
        </p:nvSpPr>
        <p:spPr>
          <a:xfrm>
            <a:off x="1537153" y="2025273"/>
            <a:ext cx="8270815" cy="2181298"/>
          </a:xfrm>
          <a:prstGeom prst="roundRect">
            <a:avLst>
              <a:gd name="adj" fmla="val 7146"/>
            </a:avLst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3" name="內容版面配置區 4">
            <a:extLst>
              <a:ext uri="{FF2B5EF4-FFF2-40B4-BE49-F238E27FC236}">
                <a16:creationId xmlns:a16="http://schemas.microsoft.com/office/drawing/2014/main" id="{06B1282B-EC27-469A-B131-02517856760D}"/>
              </a:ext>
            </a:extLst>
          </p:cNvPr>
          <p:cNvGraphicFramePr>
            <a:graphicFrameLocks/>
          </p:cNvGraphicFramePr>
          <p:nvPr/>
        </p:nvGraphicFramePr>
        <p:xfrm>
          <a:off x="186142" y="813824"/>
          <a:ext cx="11819719" cy="600456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999282">
                  <a:extLst>
                    <a:ext uri="{9D8B030D-6E8A-4147-A177-3AD203B41FA5}">
                      <a16:colId xmlns:a16="http://schemas.microsoft.com/office/drawing/2014/main" val="630608630"/>
                    </a:ext>
                  </a:extLst>
                </a:gridCol>
                <a:gridCol w="2728605">
                  <a:extLst>
                    <a:ext uri="{9D8B030D-6E8A-4147-A177-3AD203B41FA5}">
                      <a16:colId xmlns:a16="http://schemas.microsoft.com/office/drawing/2014/main" val="2459496105"/>
                    </a:ext>
                  </a:extLst>
                </a:gridCol>
                <a:gridCol w="2363944">
                  <a:extLst>
                    <a:ext uri="{9D8B030D-6E8A-4147-A177-3AD203B41FA5}">
                      <a16:colId xmlns:a16="http://schemas.microsoft.com/office/drawing/2014/main" val="2288711529"/>
                    </a:ext>
                  </a:extLst>
                </a:gridCol>
                <a:gridCol w="2363944">
                  <a:extLst>
                    <a:ext uri="{9D8B030D-6E8A-4147-A177-3AD203B41FA5}">
                      <a16:colId xmlns:a16="http://schemas.microsoft.com/office/drawing/2014/main" val="2586023373"/>
                    </a:ext>
                  </a:extLst>
                </a:gridCol>
                <a:gridCol w="2363944">
                  <a:extLst>
                    <a:ext uri="{9D8B030D-6E8A-4147-A177-3AD203B41FA5}">
                      <a16:colId xmlns:a16="http://schemas.microsoft.com/office/drawing/2014/main" val="2118432122"/>
                    </a:ext>
                  </a:extLst>
                </a:gridCol>
              </a:tblGrid>
              <a:tr h="289605">
                <a:tc>
                  <a:txBody>
                    <a:bodyPr/>
                    <a:lstStyle/>
                    <a:p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內容說明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前瞻科技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生活消費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綠色永續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141177"/>
                  </a:ext>
                </a:extLst>
              </a:tr>
              <a:tr h="81089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執行摘要 </a:t>
                      </a:r>
                      <a:endParaRPr lang="en-US" altLang="zh-TW" sz="1400" b="1" dirty="0">
                        <a:solidFill>
                          <a:srgbClr val="24406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Microsoft JhengHei"/>
                        <a:sym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解決什麼問題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市場規模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商業模式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團隊優勢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資金需求與用途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核心技術與應用場景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技術創新性與差異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市場規模與全球潛力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商業化進度與募資需求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解決的消費痛點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產品特色與市場定位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目標客群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初步市場驗證成果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解決的環境或永續問題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預期減碳或效益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商業模式與社會價值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政策契合度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17547"/>
                  </a:ext>
                </a:extLst>
              </a:tr>
              <a:tr h="666091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問題與產品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客戶痛點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現有方案不足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產品或服務說明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技術特色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創新性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可行性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驗證狀況</a:t>
                      </a:r>
                      <a:endParaRPr lang="en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技術應用痛點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技術原理與架構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技術成熟度（</a:t>
                      </a: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TRL</a:t>
                      </a:r>
                      <a:r>
                        <a:rPr lang="zh-TW" altLang="en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專利或</a:t>
                      </a: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IP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布局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消費者使用情境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客戶痛點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產品體驗與差異化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試賣或市場回饋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環境問題具體描述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現行解決方案不足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技術或模式如何改善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04514"/>
                  </a:ext>
                </a:extLst>
              </a:tr>
              <a:tr h="521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市場與成長潛力</a:t>
                      </a:r>
                      <a:endParaRPr lang="en-US" altLang="zh-TW" sz="1400" b="1" dirty="0">
                        <a:solidFill>
                          <a:srgbClr val="24406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Microsoft JhengHei"/>
                        <a:sym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用戶數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收入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月成長率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留存率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TAM/SAM/SOM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市場趨勢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國際市場潛力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全球市場規模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國際競品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海外布局策略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TAM / SAM / SOM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目標客群規模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市場滲透策略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政策趨勢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ESG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需求成長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產業轉型機會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691774"/>
                  </a:ext>
                </a:extLst>
              </a:tr>
              <a:tr h="666091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商業模式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收費機制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成本結構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毛利率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永續價值或社會影響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未來變現路徑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商業模式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技術授權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 </a:t>
                      </a: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SaaS/ OEM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模式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收費結構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研發成本比例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單位經濟模型（</a:t>
                      </a: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CAC / LTV</a:t>
                      </a:r>
                      <a:r>
                        <a:rPr lang="zh-TW" altLang="en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毛利率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通路與品牌策略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收費方式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投資回收期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碳權或補助機制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綠色金融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925352"/>
                  </a:ext>
                </a:extLst>
              </a:tr>
              <a:tr h="376486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競爭分析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競品比較圖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競爭優勢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進入門檻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技術門檻比較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國際競品差異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商業門檻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市場定位比較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價格與品牌差異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技術差異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政策適配優勢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13275"/>
                  </a:ext>
                </a:extLst>
              </a:tr>
              <a:tr h="521288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市場拓展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GTM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策略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通路策略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海外佈局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成長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KPI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過去成果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合作夥伴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近期規劃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商業化路徑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POC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與量產規劃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國際市場進入策略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通路拓展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展店或跨境電商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政策市場切入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B2B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合作模式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643879"/>
                  </a:ext>
                </a:extLst>
              </a:tr>
              <a:tr h="666091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團隊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核心成員背景及相關經驗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技術創辦人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 </a:t>
                      </a:r>
                      <a:r>
                        <a:rPr lang="en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full-time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是否能快速迭代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核心成員經歷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核心能力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團隊分工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過去實績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核心成員經歷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核心能力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團隊分工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過去實績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核心成員經歷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核心能力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團隊分工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過去實績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240339"/>
                  </a:ext>
                </a:extLst>
              </a:tr>
              <a:tr h="521288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財務規劃與資金用途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三年收入預測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成本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毛利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資金用途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研發里程碑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技術商轉預算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資金用途及</a:t>
                      </a:r>
                      <a:r>
                        <a:rPr lang="en-US" altLang="zh-TW" sz="1000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BurnRate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行銷成本比例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現金流管理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資金用途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永續效益量化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投資回收期</a:t>
                      </a:r>
                      <a:endParaRPr lang="en-US" altLang="zh-TW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資金用途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86528"/>
                  </a:ext>
                </a:extLst>
              </a:tr>
              <a:tr h="3764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風險與因應</a:t>
                      </a:r>
                      <a:endParaRPr lang="en-US" altLang="zh-TW" sz="1400" b="1" dirty="0">
                        <a:solidFill>
                          <a:srgbClr val="24406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Microsoft JhengHei"/>
                        <a:sym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技術風險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商轉延遲風險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市場競爭風險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成本上升風險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政策變動風險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成本回收風險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788758"/>
                  </a:ext>
                </a:extLst>
              </a:tr>
              <a:tr h="289605"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24406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Microsoft JhengHei"/>
                        </a:rPr>
                        <a:t>附件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專利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合約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合作意向書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客戶證明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技術文件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得獎證明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專業證書</a:t>
                      </a:r>
                      <a:r>
                        <a:rPr lang="en-US" altLang="zh-TW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許可證明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81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3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9;p1" descr="一張含有 文字, 螢幕擷取畫面, 字型, 地圖 的圖片  AI 產生的內容可能不正確。">
            <a:extLst>
              <a:ext uri="{FF2B5EF4-FFF2-40B4-BE49-F238E27FC236}">
                <a16:creationId xmlns:a16="http://schemas.microsoft.com/office/drawing/2014/main" id="{7A71274E-4AAA-46BF-9C20-EA8700C210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B48FAF1-E5CD-4552-81EE-10A342718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33121"/>
            <a:ext cx="6522451" cy="20828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5E510FC-F7B0-4DCC-92F3-5E3679CA4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05" y="132678"/>
            <a:ext cx="3364047" cy="103775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92FE66-E43C-42C2-B8A8-17C2C417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1" y="3337306"/>
            <a:ext cx="5592901" cy="202001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7FEB548-948B-4046-BD1C-C0FA0F69EA12}"/>
              </a:ext>
            </a:extLst>
          </p:cNvPr>
          <p:cNvCxnSpPr>
            <a:cxnSpLocks/>
          </p:cNvCxnSpPr>
          <p:nvPr/>
        </p:nvCxnSpPr>
        <p:spPr>
          <a:xfrm>
            <a:off x="4034977" y="833121"/>
            <a:ext cx="1511205" cy="0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E1E07C07-28B9-41CE-B938-C148CF22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07" y="9967"/>
            <a:ext cx="4488495" cy="68480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B19368F-D7E6-4DC0-996C-3BE13D65E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75" y="132678"/>
            <a:ext cx="4488495" cy="301115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91995B9-69FF-47CA-B8DD-3FB8DFF8AAF0}"/>
              </a:ext>
            </a:extLst>
          </p:cNvPr>
          <p:cNvSpPr txBox="1"/>
          <p:nvPr/>
        </p:nvSpPr>
        <p:spPr>
          <a:xfrm>
            <a:off x="5546182" y="299333"/>
            <a:ext cx="4013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rgbClr val="6EAA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複賽注意事項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F872BF4-5271-408E-A8BA-A0DD84A4FF13}"/>
              </a:ext>
            </a:extLst>
          </p:cNvPr>
          <p:cNvCxnSpPr>
            <a:cxnSpLocks/>
          </p:cNvCxnSpPr>
          <p:nvPr/>
        </p:nvCxnSpPr>
        <p:spPr>
          <a:xfrm>
            <a:off x="9460084" y="820422"/>
            <a:ext cx="1940979" cy="12699"/>
          </a:xfrm>
          <a:prstGeom prst="line">
            <a:avLst/>
          </a:prstGeom>
          <a:ln w="19050">
            <a:solidFill>
              <a:srgbClr val="6CAB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16868110-F581-4D45-A9A1-2D3CB0016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15" y="2553704"/>
            <a:ext cx="4488495" cy="3011155"/>
          </a:xfrm>
          <a:prstGeom prst="rect">
            <a:avLst/>
          </a:prstGeom>
        </p:spPr>
      </p:pic>
      <p:sp>
        <p:nvSpPr>
          <p:cNvPr id="29" name="圓角矩形 31">
            <a:extLst>
              <a:ext uri="{FF2B5EF4-FFF2-40B4-BE49-F238E27FC236}">
                <a16:creationId xmlns:a16="http://schemas.microsoft.com/office/drawing/2014/main" id="{C5E77243-A9B5-4625-ABAF-B46794B0339A}"/>
              </a:ext>
            </a:extLst>
          </p:cNvPr>
          <p:cNvSpPr/>
          <p:nvPr/>
        </p:nvSpPr>
        <p:spPr>
          <a:xfrm>
            <a:off x="1537153" y="2025273"/>
            <a:ext cx="8270815" cy="2181298"/>
          </a:xfrm>
          <a:prstGeom prst="roundRect">
            <a:avLst>
              <a:gd name="adj" fmla="val 7146"/>
            </a:avLst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7" name="Google Shape;181;p6">
            <a:extLst>
              <a:ext uri="{FF2B5EF4-FFF2-40B4-BE49-F238E27FC236}">
                <a16:creationId xmlns:a16="http://schemas.microsoft.com/office/drawing/2014/main" id="{23FA5FB2-6E08-438B-8097-DB802C89CAA8}"/>
              </a:ext>
            </a:extLst>
          </p:cNvPr>
          <p:cNvSpPr txBox="1"/>
          <p:nvPr/>
        </p:nvSpPr>
        <p:spPr>
          <a:xfrm>
            <a:off x="845482" y="1558365"/>
            <a:ext cx="8603139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商業計畫書及簡報繳交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開放上傳時間：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3/15(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日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)</a:t>
            </a: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截止上傳時間：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3/31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二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)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 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12:00PM </a:t>
            </a:r>
          </a:p>
          <a:p>
            <a:pPr lvl="1">
              <a:lnSpc>
                <a:spcPct val="140321"/>
              </a:lnSpc>
            </a:pP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457200" lvl="0" indent="-457200" algn="l" rtl="0">
              <a:lnSpc>
                <a:spcPct val="140321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複賽進行方式：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時間：簡報時間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5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分鐘，統問統答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5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分鐘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評委：創投、產業界、公協會等專家人士共</a:t>
            </a:r>
            <a:r>
              <a:rPr lang="en-US" altLang="zh-TW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5</a:t>
            </a: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位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簡報內容頁數：不限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r>
              <a:rPr lang="zh-TW" altLang="en-US" sz="2000" b="1" dirty="0">
                <a:solidFill>
                  <a:srgbClr val="244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  <a:sym typeface="Microsoft JhengHei"/>
              </a:rPr>
              <a:t>簡報人：須為團隊代表人或企業負責人</a:t>
            </a: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  <a:p>
            <a:pPr marL="914400" lvl="1" indent="-457200">
              <a:lnSpc>
                <a:spcPct val="140321"/>
              </a:lnSpc>
              <a:buFont typeface="+mj-lt"/>
              <a:buAutoNum type="arabicParenR"/>
            </a:pPr>
            <a:endParaRPr lang="en-US" altLang="zh-TW" sz="2000" b="1" dirty="0">
              <a:solidFill>
                <a:srgbClr val="244060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  <a:sym typeface="Microsoft JhengHei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C94023F-9CCF-4555-9C8C-FDBDAF28CF30}"/>
              </a:ext>
            </a:extLst>
          </p:cNvPr>
          <p:cNvSpPr txBox="1"/>
          <p:nvPr/>
        </p:nvSpPr>
        <p:spPr>
          <a:xfrm>
            <a:off x="8007897" y="3429000"/>
            <a:ext cx="331420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en-US" altLang="zh-TW" b="1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BootCamp</a:t>
            </a:r>
            <a:r>
              <a:rPr lang="en-US" altLang="zh-TW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聯絡窗口</a:t>
            </a:r>
            <a:r>
              <a:rPr lang="en-US" altLang="zh-TW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</a:p>
          <a:p>
            <a:r>
              <a:rPr lang="zh-TW" altLang="en-US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新軌道股份有限公司 許晉嘉</a:t>
            </a:r>
          </a:p>
          <a:p>
            <a: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johnny@orbitx.asia</a:t>
            </a:r>
          </a:p>
          <a:p>
            <a: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0905-262-812</a:t>
            </a:r>
            <a:b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新創總會 黃阡淇</a:t>
            </a:r>
            <a:endParaRPr lang="en-US" altLang="zh-TW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358@careernet.org.tw</a:t>
            </a:r>
          </a:p>
          <a:p>
            <a:r>
              <a:rPr lang="en-US" altLang="zh-TW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(02)2332-8558 #358</a:t>
            </a:r>
          </a:p>
        </p:txBody>
      </p:sp>
    </p:spTree>
    <p:extLst>
      <p:ext uri="{BB962C8B-B14F-4D97-AF65-F5344CB8AC3E}">
        <p14:creationId xmlns:p14="http://schemas.microsoft.com/office/powerpoint/2010/main" val="320152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</TotalTime>
  <Words>744</Words>
  <Application>Microsoft Office PowerPoint</Application>
  <PresentationFormat>寬螢幕</PresentationFormat>
  <Paragraphs>160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Microsoft JhengHei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55</cp:revision>
  <dcterms:created xsi:type="dcterms:W3CDTF">2026-02-22T15:41:27Z</dcterms:created>
  <dcterms:modified xsi:type="dcterms:W3CDTF">2026-02-25T09:52:27Z</dcterms:modified>
</cp:coreProperties>
</file>