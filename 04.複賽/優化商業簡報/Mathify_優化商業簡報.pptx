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營收 (NT$ 百萬)</c:v>
                </c:pt>
              </c:strCache>
            </c:strRef>
          </c:tx>
          <c:spPr>
            <a:solidFill>
              <a:srgbClr val="2C5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4.57</c:v>
                </c:pt>
                <c:pt idx="1">
                  <c:v>14.26</c:v>
                </c:pt>
                <c:pt idx="2">
                  <c:v>34.84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費用 (NT$ 百萬)</c:v>
                </c:pt>
              </c:strCache>
            </c:strRef>
          </c:tx>
          <c:spPr>
            <a:solidFill>
              <a:srgbClr val="AAB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3.8</c:v>
                </c:pt>
                <c:pt idx="1">
                  <c:v>8.5</c:v>
                </c:pt>
                <c:pt idx="2">
                  <c:v>16.2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NT$ (百萬)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資金分配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E8A"/>
              </a:solidFill>
              <a:effectLst/>
            </c:spPr>
          </c:dPt>
          <c:dPt>
            <c:idx val="1"/>
            <c:bubble3D val="0"/>
            <c:spPr>
              <a:solidFill>
                <a:srgbClr val="E8913A"/>
              </a:solidFill>
              <a:effectLst/>
            </c:spPr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bubble3D val="0"/>
            <c:spPr>
              <a:solidFill>
                <a:srgbClr val="AAB7B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產品開發 40%</c:v>
                </c:pt>
                <c:pt idx="1">
                  <c:v>行銷推廣 30%</c:v>
                </c:pt>
                <c:pt idx="2">
                  <c:v>人事費用 20%</c:v>
                </c:pt>
                <c:pt idx="3">
                  <c:v>營運備用 10%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01" y="0"/>
            <a:ext cx="9042499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3501" y="1298674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MATH EDUCATION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3501" y="1609725"/>
            <a:ext cx="766886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MATHIFY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3501" y="2400300"/>
            <a:ext cx="76688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讓每個孩子都有專屬的 AI 數學家教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3501" y="31242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3501" y="3416201"/>
            <a:ext cx="76688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2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創業綻放 — 創業大聯盟競賽 | 複賽簡報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3501" y="3692426"/>
            <a:ext cx="76688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mathify.io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810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603200"/>
            <a:ext cx="81871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台灣數學教育的三大斷層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451" y="1323826"/>
            <a:ext cx="2506266" cy="3248323"/>
          </a:xfrm>
          <a:prstGeom prst="roundRect">
            <a:avLst>
              <a:gd name="adj" fmla="val 4054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051" y="1552426"/>
            <a:ext cx="209004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38051" y="2127052"/>
            <a:ext cx="20900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理解斷層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8051" y="2457152"/>
            <a:ext cx="209004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 年會考數學科，有 42% 考生未達基礎等級（C 等級），數學是所有科目中 C 等級比例最高的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9618" y="1323826"/>
            <a:ext cx="2506266" cy="3248323"/>
          </a:xfrm>
          <a:prstGeom prst="roundRect">
            <a:avLst>
              <a:gd name="adj" fmla="val 4054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98218" y="1552426"/>
            <a:ext cx="209004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2.8x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98218" y="2127052"/>
            <a:ext cx="20900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城鄉斷層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98218" y="2457152"/>
            <a:ext cx="209004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偏鄉國中數學 C 等級比例為都市的 2.8 倍，弱勢家庭無力負擔補習費（每月 NT$5,000-15,000）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9784" y="1323826"/>
            <a:ext cx="2506266" cy="3248323"/>
          </a:xfrm>
          <a:prstGeom prst="roundRect">
            <a:avLst>
              <a:gd name="adj" fmla="val 4054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8384" y="1552426"/>
            <a:ext cx="209004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58384" y="2127052"/>
            <a:ext cx="20900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個別化斷層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8384" y="2457152"/>
            <a:ext cx="209004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的國中生認為數學課「聽不懂但不敢問」，傳統一對多教學無法滿足個別化需求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451" y="4699099"/>
            <a:ext cx="8187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資料來源：教育部 113 年國中教育會考統計、國家教育研究院調查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048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514350"/>
            <a:ext cx="81871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Mathify — AI 數學家教平台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1079450"/>
            <a:ext cx="3886349" cy="6286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264" y="1079450"/>
            <a:ext cx="0" cy="628650"/>
          </a:xfrm>
          <a:prstGeom prst="line">
            <a:avLst/>
          </a:prstGeom>
          <a:noFill/>
          <a:ln w="47625">
            <a:solidFill>
              <a:srgbClr val="2C5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476" y="1193750"/>
            <a:ext cx="36046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數學 LLM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9476" y="1431875"/>
            <a:ext cx="36046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專為 K-12 數學微調，解題準確率 &gt; 95%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451" y="1809601"/>
            <a:ext cx="3886349" cy="6286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264" y="1809601"/>
            <a:ext cx="0" cy="628650"/>
          </a:xfrm>
          <a:prstGeom prst="line">
            <a:avLst/>
          </a:prstGeom>
          <a:noFill/>
          <a:ln w="47625">
            <a:solidFill>
              <a:srgbClr val="E89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476" y="1923901"/>
            <a:ext cx="36046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TikZ + Desmos 視覺化引擎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476" y="2162026"/>
            <a:ext cx="36046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自動生成幾何圖形、函數圖表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9451" y="2539752"/>
            <a:ext cx="3886349" cy="6286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264" y="2539752"/>
            <a:ext cx="0" cy="628650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476" y="2654052"/>
            <a:ext cx="36046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課綱完整對齊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476" y="2892177"/>
            <a:ext cx="36046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康軒 / 南一 / 翰林三版本對應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9451" y="3269903"/>
            <a:ext cx="3886349" cy="6286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264" y="3269903"/>
            <a:ext cx="0" cy="628650"/>
          </a:xfrm>
          <a:prstGeom prst="line">
            <a:avLst/>
          </a:prstGeom>
          <a:noFill/>
          <a:ln w="47625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476" y="3384203"/>
            <a:ext cx="36046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蘇格拉底式引導教學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476" y="3622328"/>
            <a:ext cx="36046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不給答案，逐步引導自主思考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78301" y="1562100"/>
            <a:ext cx="3429000" cy="2920901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88"/>
                </a:solidFill>
              </a:rPr>
              <a:t>[ 產品 Demo 截圖 ]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請替換為實際產品畫面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810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COMPETITIVE EDGE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603200"/>
            <a:ext cx="81871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創新性與競爭優勢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81451" y="1366242"/>
            <a:ext cx="3454598" cy="1051322"/>
          </a:xfrm>
          <a:prstGeom prst="roundRect">
            <a:avLst>
              <a:gd name="adj" fmla="val 7248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59152" y="1543943"/>
            <a:ext cx="31611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核心護城河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59152" y="1848743"/>
            <a:ext cx="316118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數學模型 — 通用 AI 難以複製的垂直領域深度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81451" y="2544514"/>
            <a:ext cx="3454598" cy="1022747"/>
          </a:xfrm>
          <a:prstGeom prst="roundRect">
            <a:avLst>
              <a:gd name="adj" fmla="val 7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59152" y="2722215"/>
            <a:ext cx="31611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ChatGPT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59152" y="2998440"/>
            <a:ext cx="316118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課綱對齊、視覺化教學、蘇格拉底引導 — ChatGPT 都不具備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81451" y="3694212"/>
            <a:ext cx="3454598" cy="1051322"/>
          </a:xfrm>
          <a:prstGeom prst="roundRect">
            <a:avLst>
              <a:gd name="adj" fmla="val 72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59152" y="3871913"/>
            <a:ext cx="31611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均一教育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59152" y="4176712"/>
            <a:ext cx="316118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原生 vs 影片為主，真正個人化而非固定學習路徑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451" y="1404938"/>
          <a:ext cx="3936950" cy="3301901"/>
        </p:xfrm>
        <a:graphic>
          <a:graphicData uri="http://schemas.openxmlformats.org/drawingml/2006/table">
            <a:tbl>
              <a:tblPr/>
              <a:tblGrid>
                <a:gridCol w="866129"/>
                <a:gridCol w="1535411"/>
                <a:gridCol w="1535411"/>
              </a:tblGrid>
              <a:tr h="660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低個人化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高個人化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1320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原生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ChatGPT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(通用 AI)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Mathify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(專業 AI)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3A"/>
                    </a:solidFill>
                  </a:tcPr>
                </a:tc>
              </a:tr>
              <a:tr h="1320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傳統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教學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均一教育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(影片式)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真人家教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(高成本)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810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INDUSTRY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603200"/>
            <a:ext cx="81871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行業現況與市場趨勢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451" y="1273076"/>
            <a:ext cx="3860899" cy="1330077"/>
          </a:xfrm>
          <a:prstGeom prst="roundRect">
            <a:avLst>
              <a:gd name="adj" fmla="val 7639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8056" y="1476226"/>
            <a:ext cx="352369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$154.7 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8056" y="2031802"/>
            <a:ext cx="35236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 全球 AI 家教市場（USD）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8056" y="2247602"/>
            <a:ext cx="35236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18.9% | Mordor Intelligence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2755553"/>
            <a:ext cx="3860899" cy="1330077"/>
          </a:xfrm>
          <a:prstGeom prst="roundRect">
            <a:avLst>
              <a:gd name="adj" fmla="val 7639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8056" y="2958703"/>
            <a:ext cx="352369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$176.6 億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8056" y="3514279"/>
            <a:ext cx="35236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 台灣線上教育市場（TWD）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8056" y="3730079"/>
            <a:ext cx="35236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11.85% | IMARC Group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5150" y="1273076"/>
            <a:ext cx="3860899" cy="584002"/>
          </a:xfrm>
          <a:prstGeom prst="roundRect">
            <a:avLst>
              <a:gd name="adj" fmla="val 1739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52851" y="1450777"/>
            <a:ext cx="357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三大驅動力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5150" y="2009477"/>
            <a:ext cx="3860899" cy="81587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98963" y="2009477"/>
            <a:ext cx="0" cy="815876"/>
          </a:xfrm>
          <a:prstGeom prst="line">
            <a:avLst/>
          </a:prstGeom>
          <a:noFill/>
          <a:ln w="47625">
            <a:solidFill>
              <a:srgbClr val="E891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0476" y="2136428"/>
            <a:ext cx="35270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技術成熟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00476" y="2374553"/>
            <a:ext cx="35270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能力飛躍式成長，教育 AI 從「關鍵字匹配」進入「理解式教學」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5150" y="2977753"/>
            <a:ext cx="3860899" cy="65395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98963" y="2977753"/>
            <a:ext cx="0" cy="653951"/>
          </a:xfrm>
          <a:prstGeom prst="line">
            <a:avLst/>
          </a:prstGeom>
          <a:noFill/>
          <a:ln w="47625">
            <a:solidFill>
              <a:srgbClr val="2C5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0476" y="3104704"/>
            <a:ext cx="35270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政策支持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00476" y="3342829"/>
            <a:ext cx="35270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教育部「班班有網路、生生用平板」政策，數位基礎設施到位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5150" y="3784104"/>
            <a:ext cx="3860899" cy="81587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98963" y="3784104"/>
            <a:ext cx="0" cy="815876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0476" y="3911054"/>
            <a:ext cx="35270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家長意願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00476" y="4149179"/>
            <a:ext cx="35270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後疫情時代家長對線上學習接受度大幅提升，台灣補教市場年產值超過 NT$1,800 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048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MARKET SIZE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514350"/>
            <a:ext cx="81871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市場規模 TAM / SAM / SOM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451" y="1625650"/>
            <a:ext cx="2793950" cy="2793950"/>
          </a:xfrm>
          <a:prstGeom prst="roundRect">
            <a:avLst>
              <a:gd name="adj" fmla="val 32728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84152" y="2038350"/>
            <a:ext cx="1968401" cy="1968401"/>
          </a:xfrm>
          <a:prstGeom prst="roundRect">
            <a:avLst>
              <a:gd name="adj" fmla="val 46454"/>
            </a:avLst>
          </a:prstGeom>
          <a:solidFill>
            <a:srgbClr val="2C5E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28552" y="2482751"/>
            <a:ext cx="1079450" cy="1079450"/>
          </a:xfrm>
          <a:prstGeom prst="roundRect">
            <a:avLst>
              <a:gd name="adj" fmla="val 84710"/>
            </a:avLst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76472" y="2828776"/>
            <a:ext cx="3836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30629" y="3054102"/>
            <a:ext cx="4751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 萬人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05264" y="1367284"/>
            <a:ext cx="0" cy="1018877"/>
          </a:xfrm>
          <a:prstGeom prst="line">
            <a:avLst/>
          </a:prstGeom>
          <a:noFill/>
          <a:ln w="47625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1476" y="1468785"/>
            <a:ext cx="316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— 全球 AI 家教市場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81476" y="1735485"/>
            <a:ext cx="316421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US$154.7 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81476" y="2132261"/>
            <a:ext cx="3164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 年預估 | CAGR 18.9%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05264" y="2513112"/>
            <a:ext cx="0" cy="1018877"/>
          </a:xfrm>
          <a:prstGeom prst="line">
            <a:avLst/>
          </a:prstGeom>
          <a:noFill/>
          <a:ln w="47625">
            <a:solidFill>
              <a:srgbClr val="2C5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1476" y="2614613"/>
            <a:ext cx="316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— 台灣國中數學市場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81476" y="2881313"/>
            <a:ext cx="316421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200" b="1" dirty="0">
                <a:solidFill>
                  <a:srgbClr val="2C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64.8 萬學生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81476" y="3278088"/>
            <a:ext cx="3164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每年 3 屆 × 216,000 名國中生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05264" y="3658939"/>
            <a:ext cx="0" cy="1018877"/>
          </a:xfrm>
          <a:prstGeom prst="line">
            <a:avLst/>
          </a:prstGeom>
          <a:noFill/>
          <a:ln w="47625">
            <a:solidFill>
              <a:srgbClr val="E891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1476" y="3760440"/>
            <a:ext cx="316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— 第一年目標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81476" y="4027140"/>
            <a:ext cx="316421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 萬（6%）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81476" y="4423916"/>
            <a:ext cx="3164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聚焦大台北 + 六都國中生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810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EXPANSION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603200"/>
            <a:ext cx="81871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市場拓展與國際化路徑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451" y="1735038"/>
            <a:ext cx="2573834" cy="2743200"/>
          </a:xfrm>
          <a:prstGeom prst="roundRect">
            <a:avLst>
              <a:gd name="adj" fmla="val 3947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6885" y="2524125"/>
            <a:ext cx="21589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6885" y="2838450"/>
            <a:ext cx="21589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台灣國中數學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6885" y="3139976"/>
            <a:ext cx="2158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1-2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6885" y="3333601"/>
            <a:ext cx="21589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64.8 萬學生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6885" y="3546277"/>
            <a:ext cx="2158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+ B2B2C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83285" y="3030438"/>
            <a:ext cx="152400" cy="0"/>
          </a:xfrm>
          <a:prstGeom prst="line">
            <a:avLst/>
          </a:prstGeom>
          <a:noFill/>
          <a:ln w="152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3285" y="3182838"/>
            <a:ext cx="152400" cy="0"/>
          </a:xfrm>
          <a:prstGeom prst="line">
            <a:avLst/>
          </a:prstGeom>
          <a:noFill/>
          <a:ln w="152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59485" y="2954238"/>
            <a:ext cx="0" cy="304800"/>
          </a:xfrm>
          <a:prstGeom prst="line">
            <a:avLst/>
          </a:prstGeom>
          <a:noFill/>
          <a:ln w="1524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5685" y="1735038"/>
            <a:ext cx="2573982" cy="2743200"/>
          </a:xfrm>
          <a:prstGeom prst="rect">
            <a:avLst/>
          </a:prstGeom>
          <a:solidFill>
            <a:srgbClr val="2C5E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43117" y="2514600"/>
            <a:ext cx="21591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43117" y="2828925"/>
            <a:ext cx="21591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全台 K-12 數理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43117" y="3130451"/>
            <a:ext cx="21591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2-3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43117" y="3324076"/>
            <a:ext cx="21591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擴展至高中 + 物理化學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43117" y="3536752"/>
            <a:ext cx="21591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學校合作方案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09667" y="3030438"/>
            <a:ext cx="152400" cy="0"/>
          </a:xfrm>
          <a:prstGeom prst="line">
            <a:avLst/>
          </a:prstGeom>
          <a:noFill/>
          <a:ln w="152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9667" y="3182838"/>
            <a:ext cx="152400" cy="0"/>
          </a:xfrm>
          <a:prstGeom prst="line">
            <a:avLst/>
          </a:prstGeom>
          <a:noFill/>
          <a:ln w="152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5867" y="2954238"/>
            <a:ext cx="0" cy="304800"/>
          </a:xfrm>
          <a:prstGeom prst="line">
            <a:avLst/>
          </a:prstGeom>
          <a:noFill/>
          <a:ln w="152400">
            <a:solidFill>
              <a:srgbClr val="2C5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067" y="1735038"/>
            <a:ext cx="2573982" cy="27432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69499" y="2514600"/>
            <a:ext cx="21591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9499" y="2828925"/>
            <a:ext cx="21591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東南亞市場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9499" y="3130451"/>
            <a:ext cx="21591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FF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9499" y="3324076"/>
            <a:ext cx="21591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越南、馬來西亞華語圈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9499" y="3536752"/>
            <a:ext cx="21591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多語系平台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810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| 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603200"/>
            <a:ext cx="81871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商業模式與定價策略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451" y="1247626"/>
            <a:ext cx="1741736" cy="1904405"/>
          </a:xfrm>
          <a:prstGeom prst="roundRect">
            <a:avLst>
              <a:gd name="adj" fmla="val 58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451" y="1266676"/>
            <a:ext cx="1741736" cy="0"/>
          </a:xfrm>
          <a:prstGeom prst="line">
            <a:avLst/>
          </a:prstGeom>
          <a:noFill/>
          <a:ln w="38100">
            <a:solidFill>
              <a:srgbClr val="888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3289" y="1463427"/>
            <a:ext cx="14140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3289" y="1749177"/>
            <a:ext cx="14140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3289" y="2149227"/>
            <a:ext cx="14140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3289" y="2412653"/>
            <a:ext cx="14140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3 題免費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3289" y="2599879"/>
            <a:ext cx="14140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 AI 解題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3289" y="2787104"/>
            <a:ext cx="14140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社群功能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2034" y="3278981"/>
            <a:ext cx="17765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獲客引擎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54337" y="1247626"/>
            <a:ext cx="1741884" cy="1904405"/>
          </a:xfrm>
          <a:prstGeom prst="roundRect">
            <a:avLst>
              <a:gd name="adj" fmla="val 5833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54337" y="1266676"/>
            <a:ext cx="1741884" cy="0"/>
          </a:xfrm>
          <a:prstGeom prst="line">
            <a:avLst/>
          </a:prstGeom>
          <a:noFill/>
          <a:ln w="38100">
            <a:solidFill>
              <a:srgbClr val="2C5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8173" y="1463427"/>
            <a:ext cx="14142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18173" y="1749177"/>
            <a:ext cx="141421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NT$490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18173" y="2149227"/>
            <a:ext cx="14142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18173" y="2412653"/>
            <a:ext cx="14142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無限 AI 對話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18173" y="2599879"/>
            <a:ext cx="14142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個人化學習計畫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18173" y="2787104"/>
            <a:ext cx="14142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進度追蹤報告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36918" y="3278981"/>
            <a:ext cx="17767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主力營收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99372" y="1247626"/>
            <a:ext cx="1741884" cy="1904405"/>
          </a:xfrm>
          <a:prstGeom prst="roundRect">
            <a:avLst>
              <a:gd name="adj" fmla="val 5833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499372" y="1266676"/>
            <a:ext cx="1741884" cy="0"/>
          </a:xfrm>
          <a:prstGeom prst="line">
            <a:avLst/>
          </a:prstGeom>
          <a:noFill/>
          <a:ln w="38100">
            <a:solidFill>
              <a:srgbClr val="E891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208" y="1463427"/>
            <a:ext cx="14142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208" y="1749177"/>
            <a:ext cx="141421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NT$690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63208" y="2149227"/>
            <a:ext cx="14142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208" y="2412653"/>
            <a:ext cx="14142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 Standard 功能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208" y="2599879"/>
            <a:ext cx="14142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真人教師線上輔導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208" y="2787104"/>
            <a:ext cx="14142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家長 Dashboard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1953" y="3278981"/>
            <a:ext cx="17767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 ARPU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45907" y="2140148"/>
            <a:ext cx="2090142" cy="974378"/>
          </a:xfrm>
          <a:prstGeom prst="roundRect">
            <a:avLst>
              <a:gd name="adj" fmla="val 782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72858" y="2267099"/>
            <a:ext cx="18729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單位經濟學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2858" y="2508349"/>
            <a:ext cx="1872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&lt; NT$4,000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2858" y="2676525"/>
            <a:ext cx="1872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CLTV ~ NT$12,000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2858" y="2844701"/>
            <a:ext cx="1872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CLTV/CAC = 3:1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45907" y="3216027"/>
            <a:ext cx="2090142" cy="844302"/>
          </a:xfrm>
          <a:prstGeom prst="roundRect">
            <a:avLst>
              <a:gd name="adj" fmla="val 902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672858" y="3342977"/>
            <a:ext cx="18729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B2B2C 方案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2858" y="3584228"/>
            <a:ext cx="18729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學校授權方案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72858" y="3771454"/>
            <a:ext cx="18729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每校 NT$60K/年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810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| GO-TO-MARKET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603200"/>
            <a:ext cx="81871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市場進入策略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451" y="1273076"/>
            <a:ext cx="3886349" cy="865287"/>
          </a:xfrm>
          <a:prstGeom prst="roundRect">
            <a:avLst>
              <a:gd name="adj" fmla="val 11742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152" y="1450777"/>
            <a:ext cx="36015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社群 + 內容行銷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7152" y="1765102"/>
            <a:ext cx="360156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/ TikTok 數學解題短影片，家長社群 KOL 合作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2265313"/>
            <a:ext cx="3886349" cy="865287"/>
          </a:xfrm>
          <a:prstGeom prst="roundRect">
            <a:avLst>
              <a:gd name="adj" fmla="val 11742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7152" y="2443014"/>
            <a:ext cx="36015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教師推薦計畫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7152" y="2757339"/>
            <a:ext cx="360156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數學教師免費使用 + 推薦獎勵，借助師生信任關係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451" y="3257550"/>
            <a:ext cx="3886349" cy="865287"/>
          </a:xfrm>
          <a:prstGeom prst="roundRect">
            <a:avLst>
              <a:gd name="adj" fmla="val 1174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7152" y="3435251"/>
            <a:ext cx="36015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學校合作 B2B2C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7152" y="3749576"/>
            <a:ext cx="360156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 3-5 所種子學校合作試用，以成果數據推動口碑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9701" y="1273076"/>
            <a:ext cx="3886349" cy="1060847"/>
          </a:xfrm>
          <a:prstGeom prst="roundRect">
            <a:avLst>
              <a:gd name="adj" fmla="val 957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27402" y="1450777"/>
            <a:ext cx="36015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段考季集中投放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27402" y="1765102"/>
            <a:ext cx="360156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鎖定段考前 2 週為黃金獲客期，精準投放 Google / Meta 廣告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9701" y="2460873"/>
            <a:ext cx="3886349" cy="1060847"/>
          </a:xfrm>
          <a:prstGeom prst="roundRect">
            <a:avLst>
              <a:gd name="adj" fmla="val 957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7402" y="2638574"/>
            <a:ext cx="36015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成長飛輪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27402" y="2952899"/>
            <a:ext cx="360156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免費用戶 → 成績進步 → 口碑推薦 → 更多免費用戶 → 付費轉換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49701" y="3648670"/>
            <a:ext cx="3886349" cy="1209377"/>
          </a:xfrm>
          <a:prstGeom prst="roundRect">
            <a:avLst>
              <a:gd name="adj" fmla="val 8401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27402" y="3826371"/>
            <a:ext cx="36015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目標轉換率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27402" y="4067621"/>
            <a:ext cx="36015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6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→ Paid: 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927402" y="4489847"/>
            <a:ext cx="36015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月流失率目標: &lt; 5%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810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| TRACTION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603200"/>
            <a:ext cx="81871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早期驗證與里程碑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451" y="1273076"/>
            <a:ext cx="2472333" cy="1365052"/>
          </a:xfrm>
          <a:prstGeom prst="roundRect">
            <a:avLst>
              <a:gd name="adj" fmla="val 7443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1941" y="1476226"/>
            <a:ext cx="21073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1941" y="2019151"/>
            <a:ext cx="21073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AI 解題引擎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1941" y="2244477"/>
            <a:ext cx="2107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已完成開發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2790527"/>
            <a:ext cx="2472333" cy="1365052"/>
          </a:xfrm>
          <a:prstGeom prst="roundRect">
            <a:avLst>
              <a:gd name="adj" fmla="val 7443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1941" y="2993678"/>
            <a:ext cx="21073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91941" y="3536603"/>
            <a:ext cx="21073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國中數學解題準確率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1941" y="3761929"/>
            <a:ext cx="2107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內部測試結果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6584" y="1273076"/>
            <a:ext cx="2472333" cy="1365052"/>
          </a:xfrm>
          <a:prstGeom prst="roundRect">
            <a:avLst>
              <a:gd name="adj" fmla="val 744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69074" y="1476226"/>
            <a:ext cx="21073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569074" y="2019151"/>
            <a:ext cx="21073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用戶訪談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9074" y="2244477"/>
            <a:ext cx="2107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國中生 + 家長需求驗證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6584" y="2790527"/>
            <a:ext cx="2472333" cy="1441252"/>
          </a:xfrm>
          <a:prstGeom prst="roundRect">
            <a:avLst>
              <a:gd name="adj" fmla="val 704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69074" y="2993678"/>
            <a:ext cx="210735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569074" y="3612803"/>
            <a:ext cx="21073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種子學校合作意向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9074" y="3838129"/>
            <a:ext cx="2107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新北市國中洽談中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63717" y="1273076"/>
            <a:ext cx="2472333" cy="1431727"/>
          </a:xfrm>
          <a:prstGeom prst="roundRect">
            <a:avLst>
              <a:gd name="adj" fmla="val 7096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46207" y="1476226"/>
            <a:ext cx="21073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已獲成就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46207" y="1815852"/>
            <a:ext cx="2107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創業綻放初賽通過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46207" y="2044452"/>
            <a:ext cx="2107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MVP 產品原型完成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46207" y="2273052"/>
            <a:ext cx="2107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商業模式驗證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63717" y="2857202"/>
            <a:ext cx="2472333" cy="1431727"/>
          </a:xfrm>
          <a:prstGeom prst="roundRect">
            <a:avLst>
              <a:gd name="adj" fmla="val 709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46207" y="3060353"/>
            <a:ext cx="21073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46207" y="3399979"/>
            <a:ext cx="2107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公測 (Q2 2026)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46207" y="3628579"/>
            <a:ext cx="2107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首批 500 用戶獲取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46207" y="3857179"/>
            <a:ext cx="2107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種子學校正式簽約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048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|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514350"/>
            <a:ext cx="81871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1130201"/>
            <a:ext cx="4089499" cy="2567732"/>
          </a:xfrm>
          <a:prstGeom prst="roundRect">
            <a:avLst>
              <a:gd name="adj" fmla="val 3957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73201" y="133335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41867" y="1538139"/>
            <a:ext cx="2245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5770" y="2222302"/>
            <a:ext cx="37568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Bennie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5770" y="2479477"/>
            <a:ext cx="37568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CTO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602" y="2733377"/>
            <a:ext cx="3683198" cy="7614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全端工程師，精通 AI/ML</a:t>
            </a:r>
            <a:endParaRPr lang="en-US" sz="1000" dirty="0"/>
          </a:p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教育科技產品開發經驗</a:t>
            </a:r>
            <a:endParaRPr lang="en-US" sz="1000" dirty="0"/>
          </a:p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Fine-tuning 技術專長</a:t>
            </a:r>
            <a:endParaRPr lang="en-US" sz="1000" dirty="0"/>
          </a:p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產品設計 + 工程開發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52851" y="1130201"/>
            <a:ext cx="3683198" cy="1180654"/>
          </a:xfrm>
          <a:prstGeom prst="roundRect">
            <a:avLst>
              <a:gd name="adj" fmla="val 86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05251" y="1282601"/>
            <a:ext cx="3445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團隊優勢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05251" y="1587401"/>
            <a:ext cx="3378398" cy="57105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技術與商業的雙重視角</a:t>
            </a:r>
            <a:endParaRPr lang="en-US" sz="1000" dirty="0"/>
          </a:p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快速迭代的精實創業方法論</a:t>
            </a:r>
            <a:endParaRPr lang="en-US" sz="1000" dirty="0"/>
          </a:p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對教育領域的深刻理解與熱情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52851" y="2437805"/>
            <a:ext cx="3683198" cy="1180654"/>
          </a:xfrm>
          <a:prstGeom prst="roundRect">
            <a:avLst>
              <a:gd name="adj" fmla="val 8605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05251" y="2590205"/>
            <a:ext cx="3445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招募計畫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05251" y="2895005"/>
            <a:ext cx="3378398" cy="57105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2026: 行銷 / 社群經理</a:t>
            </a:r>
            <a:endParaRPr lang="en-US" sz="1000" dirty="0"/>
          </a:p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2026: 前端工程師</a:t>
            </a:r>
            <a:endParaRPr lang="en-US" sz="1000" dirty="0"/>
          </a:p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2026: 教育內容專員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52851" y="3745409"/>
            <a:ext cx="3683198" cy="666601"/>
          </a:xfrm>
          <a:prstGeom prst="roundRect">
            <a:avLst>
              <a:gd name="adj" fmla="val 1524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79802" y="3872359"/>
            <a:ext cx="34978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顧問網絡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9802" y="4123134"/>
            <a:ext cx="34978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規劃延攬教育界 / AI 領域業師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810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| FINANCIALS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603200"/>
            <a:ext cx="81871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三年財務預測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81451" y="1357461"/>
            <a:ext cx="1083766" cy="736550"/>
          </a:xfrm>
          <a:prstGeom prst="roundRect">
            <a:avLst>
              <a:gd name="adj" fmla="val 10346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26062" y="1509861"/>
            <a:ext cx="7945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26062" y="1703487"/>
            <a:ext cx="7945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66718" y="1357461"/>
            <a:ext cx="1083915" cy="736550"/>
          </a:xfrm>
          <a:prstGeom prst="roundRect">
            <a:avLst>
              <a:gd name="adj" fmla="val 10346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11327" y="1509861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11327" y="1703487"/>
            <a:ext cx="7946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$14.3M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52134" y="1357461"/>
            <a:ext cx="1083915" cy="736550"/>
          </a:xfrm>
          <a:prstGeom prst="roundRect">
            <a:avLst>
              <a:gd name="adj" fmla="val 10346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96743" y="1509861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96743" y="1703487"/>
            <a:ext cx="7946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$34.8M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81451" y="2220962"/>
            <a:ext cx="3454598" cy="1104602"/>
          </a:xfrm>
          <a:prstGeom prst="roundRect">
            <a:avLst>
              <a:gd name="adj" fmla="val 689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33851" y="2373362"/>
            <a:ext cx="32127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 SaaS 指標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33851" y="2649587"/>
            <a:ext cx="3212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MRR: NT$2.9M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33851" y="2817763"/>
            <a:ext cx="3212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ARR: NT$34.8M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33851" y="2985939"/>
            <a:ext cx="32127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月流失率: &lt; 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81451" y="3452515"/>
            <a:ext cx="3454598" cy="1136600"/>
          </a:xfrm>
          <a:prstGeom prst="roundRect">
            <a:avLst>
              <a:gd name="adj" fmla="val 6704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33851" y="3604915"/>
            <a:ext cx="32127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盈虧平衡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33851" y="3881140"/>
            <a:ext cx="32127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18 個月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33851" y="4274790"/>
            <a:ext cx="32127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淨利率 &gt; 50%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9451" y="4800600"/>
            <a:ext cx="81871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單位: NT$ (新台幣) | M = 百萬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09451" y="1449288"/>
          <a:ext cx="4063901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048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| FUNDING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514350"/>
            <a:ext cx="81871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資金運用與里程碑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81451" y="1362521"/>
            <a:ext cx="3454598" cy="920651"/>
          </a:xfrm>
          <a:prstGeom prst="roundRect">
            <a:avLst>
              <a:gd name="adj" fmla="val 8277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76395" y="1489472"/>
            <a:ext cx="32647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申請支持金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76395" y="1718072"/>
            <a:ext cx="326471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26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NT$300 萬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00501" y="2384673"/>
            <a:ext cx="0" cy="492026"/>
          </a:xfrm>
          <a:prstGeom prst="line">
            <a:avLst/>
          </a:prstGeom>
          <a:noFill/>
          <a:ln w="38100">
            <a:solidFill>
              <a:srgbClr val="2C5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6502" y="2460873"/>
            <a:ext cx="322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產品開發 40% — NT$120 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6502" y="2648099"/>
            <a:ext cx="322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模型優化 + 平台功能完善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00501" y="2978200"/>
            <a:ext cx="0" cy="492026"/>
          </a:xfrm>
          <a:prstGeom prst="line">
            <a:avLst/>
          </a:prstGeom>
          <a:noFill/>
          <a:ln w="38100">
            <a:solidFill>
              <a:srgbClr val="E89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6502" y="3054400"/>
            <a:ext cx="322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行銷推廣 30% — NT$90 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6502" y="3241625"/>
            <a:ext cx="322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數位行銷 + KOL + 學校合作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00501" y="3571726"/>
            <a:ext cx="0" cy="49202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6502" y="3647926"/>
            <a:ext cx="322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人事費用 20% — NT$60 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6502" y="3835152"/>
            <a:ext cx="322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核心團隊擴編（行銷 + 工程）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00501" y="4165253"/>
            <a:ext cx="0" cy="492026"/>
          </a:xfrm>
          <a:prstGeom prst="line">
            <a:avLst/>
          </a:prstGeom>
          <a:noFill/>
          <a:ln w="38100">
            <a:solidFill>
              <a:srgbClr val="888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6502" y="4241453"/>
            <a:ext cx="322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營運備用 10% — NT$30 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6502" y="4428679"/>
            <a:ext cx="322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雲端費用 + 法務 + 雜支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1117550" y="1676400"/>
          <a:ext cx="3301901" cy="266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8100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| RISK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451" y="603200"/>
            <a:ext cx="81871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風險分析與應對策略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451" y="1273076"/>
            <a:ext cx="3937099" cy="980777"/>
          </a:xfrm>
          <a:prstGeom prst="roundRect">
            <a:avLst>
              <a:gd name="adj" fmla="val 10359"/>
            </a:avLst>
          </a:prstGeom>
          <a:solidFill>
            <a:srgbClr val="FDEC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264" y="1273076"/>
            <a:ext cx="0" cy="980777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4777" y="1450777"/>
            <a:ext cx="3604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大型平台競爭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4777" y="1701552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均一也發展 AI 教育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4777" y="1914227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C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深耕本土課綱，做大平台不願做的垂直深度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950" y="1273076"/>
            <a:ext cx="3937099" cy="980777"/>
          </a:xfrm>
          <a:prstGeom prst="roundRect">
            <a:avLst>
              <a:gd name="adj" fmla="val 10359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22763" y="1273076"/>
            <a:ext cx="0" cy="980777"/>
          </a:xfrm>
          <a:prstGeom prst="line">
            <a:avLst/>
          </a:prstGeom>
          <a:noFill/>
          <a:ln w="47625">
            <a:solidFill>
              <a:srgbClr val="E89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4276" y="1450777"/>
            <a:ext cx="3604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少子化趨勢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24276" y="1701552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學生人數逐年減少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24276" y="1914227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C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提高 ARPU + 跨科目 + 國際化對沖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9451" y="2380804"/>
            <a:ext cx="3937099" cy="980777"/>
          </a:xfrm>
          <a:prstGeom prst="roundRect">
            <a:avLst>
              <a:gd name="adj" fmla="val 1035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3264" y="2380804"/>
            <a:ext cx="0" cy="980777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777" y="2558504"/>
            <a:ext cx="3604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準確性風險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4777" y="2809280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模型可能產生錯誤解答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4777" y="3021955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C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持續 Fine-tuning + 教師審核機制 + 用戶回報系統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950" y="2380804"/>
            <a:ext cx="3937099" cy="980777"/>
          </a:xfrm>
          <a:prstGeom prst="roundRect">
            <a:avLst>
              <a:gd name="adj" fmla="val 10359"/>
            </a:avLst>
          </a:prstGeom>
          <a:solidFill>
            <a:srgbClr val="D5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22763" y="2380804"/>
            <a:ext cx="0" cy="980777"/>
          </a:xfrm>
          <a:prstGeom prst="line">
            <a:avLst/>
          </a:prstGeom>
          <a:noFill/>
          <a:ln w="47625">
            <a:solidFill>
              <a:srgbClr val="2C5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4276" y="2558504"/>
            <a:ext cx="3604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用戶獲取成本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24276" y="2809280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教育市場決策鏈長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24276" y="3021955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C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Freemium 降低門檻 + 教師推薦降低 CAC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9451" y="3488531"/>
            <a:ext cx="8026598" cy="495300"/>
          </a:xfrm>
          <a:prstGeom prst="roundRect">
            <a:avLst>
              <a:gd name="adj" fmla="val 2051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61851" y="3650456"/>
            <a:ext cx="5355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90067" y="3640931"/>
            <a:ext cx="49775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 B2C 成長不如預期，將全力轉向 B2B 學校授權模式，以穩定合約收入為基礎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01" y="0"/>
            <a:ext cx="9042499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3501" y="565547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3501" y="902047"/>
            <a:ext cx="7668869" cy="105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60"/>
              </a:lnSpc>
              <a:spcAft>
                <a:spcPts val="14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AI 成為每個孩子的</a:t>
            </a:r>
            <a:endParaRPr lang="en-US" sz="3200" dirty="0"/>
          </a:p>
          <a:p>
            <a:pPr algn="l" indent="0" marL="0">
              <a:lnSpc>
                <a:spcPts val="4160"/>
              </a:lnSpc>
              <a:spcAft>
                <a:spcPts val="14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數學學習夥伴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3501" y="2136428"/>
            <a:ext cx="762000" cy="3810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3501" y="2428429"/>
            <a:ext cx="766886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我們正在申請 NT$300 萬支持金</a:t>
            </a:r>
            <a:endParaRPr lang="en-US" sz="1500" dirty="0"/>
          </a:p>
          <a:p>
            <a:pPr algn="l" indent="0" marL="0">
              <a:lnSpc>
                <a:spcPts val="225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18 個月達成 3.9 萬用戶與盈虧平衡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3501" y="3304729"/>
            <a:ext cx="1642765" cy="453926"/>
          </a:xfrm>
          <a:prstGeom prst="roundRect">
            <a:avLst>
              <a:gd name="adj" fmla="val 16787"/>
            </a:avLst>
          </a:prstGeom>
          <a:solidFill>
            <a:srgbClr val="E89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66651" y="3431679"/>
            <a:ext cx="12611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NT$300 萬 支持金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60166" y="3304729"/>
            <a:ext cx="1532632" cy="453926"/>
          </a:xfrm>
          <a:prstGeom prst="roundRect">
            <a:avLst>
              <a:gd name="adj" fmla="val 16787"/>
            </a:avLst>
          </a:prstGeom>
          <a:solidFill>
            <a:srgbClr val="2C5E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63317" y="3431679"/>
            <a:ext cx="11488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個月盈虧平衡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6699" y="3304729"/>
            <a:ext cx="1753344" cy="453926"/>
          </a:xfrm>
          <a:prstGeom prst="roundRect">
            <a:avLst>
              <a:gd name="adj" fmla="val 1678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49850" y="3431679"/>
            <a:ext cx="13739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營收 $34.8M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3501" y="4063454"/>
            <a:ext cx="76688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mathify.io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501" y="4377779"/>
            <a:ext cx="76688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6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感謝聆聽，期待您的提問與指教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Mathify - AI 數學家教平台 | 複賽簡報</dc:title>
  <dc:subject>PptxGenJS Presentation</dc:subject>
  <dc:creator>Mathify Team</dc:creator>
  <cp:lastModifiedBy>Mathify Team</cp:lastModifiedBy>
  <cp:revision>1</cp:revision>
  <dcterms:created xsi:type="dcterms:W3CDTF">2026-02-24T07:10:15Z</dcterms:created>
  <dcterms:modified xsi:type="dcterms:W3CDTF">2026-02-24T07:10:15Z</dcterms:modified>
</cp:coreProperties>
</file>